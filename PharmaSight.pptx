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B8A"/>
          </a:solidFill>
          <a:ln w="12700">
            <a:solidFill>
              <a:srgbClr val="0D9B8A"/>
            </a:solidFill>
            <a:prstDash val="solid"/>
          </a:ln>
        </p:spPr>
      </p:sp>
      <p:sp>
        <p:nvSpPr>
          <p:cNvPr id="3" name="Shape 1"/>
          <p:cNvSpPr/>
          <p:nvPr/>
        </p:nvSpPr>
        <p:spPr>
          <a:xfrm>
            <a:off x="7132320" y="-548640"/>
            <a:ext cx="2743200" cy="2743200"/>
          </a:xfrm>
          <a:prstGeom prst="ellipse">
            <a:avLst/>
          </a:prstGeom>
          <a:solidFill>
            <a:srgbClr val="2E86DE">
              <a:alpha val="12000"/>
            </a:srgbClr>
          </a:solidFill>
          <a:ln w="12700">
            <a:solidFill>
              <a:srgbClr val="2E86DE"/>
            </a:solidFill>
            <a:prstDash val="solid"/>
          </a:ln>
        </p:spPr>
      </p:sp>
      <p:sp>
        <p:nvSpPr>
          <p:cNvPr id="4" name="Shape 2"/>
          <p:cNvSpPr/>
          <p:nvPr/>
        </p:nvSpPr>
        <p:spPr>
          <a:xfrm>
            <a:off x="7772400" y="274320"/>
            <a:ext cx="1463040" cy="1463040"/>
          </a:xfrm>
          <a:prstGeom prst="ellipse">
            <a:avLst/>
          </a:prstGeom>
          <a:solidFill>
            <a:srgbClr val="0D9B8A">
              <a:alpha val="18000"/>
            </a:srgbClr>
          </a:solidFill>
          <a:ln w="12700">
            <a:solidFill>
              <a:srgbClr val="0D9B8A"/>
            </a:solidFill>
            <a:prstDash val="solid"/>
          </a:ln>
        </p:spPr>
      </p:sp>
      <p:sp>
        <p:nvSpPr>
          <p:cNvPr id="5" name="Shape 3"/>
          <p:cNvSpPr/>
          <p:nvPr/>
        </p:nvSpPr>
        <p:spPr>
          <a:xfrm>
            <a:off x="7498080" y="3657600"/>
            <a:ext cx="2011680" cy="2011680"/>
          </a:xfrm>
          <a:prstGeom prst="ellipse">
            <a:avLst/>
          </a:prstGeom>
          <a:solidFill>
            <a:srgbClr val="7B52AB">
              <a:alpha val="12000"/>
            </a:srgbClr>
          </a:solidFill>
          <a:ln w="12700">
            <a:solidFill>
              <a:srgbClr val="7B52AB"/>
            </a:solidFill>
            <a:prstDash val="solid"/>
          </a:ln>
        </p:spPr>
      </p:sp>
      <p:pic>
        <p:nvPicPr>
          <p:cNvPr id="6" name="Image 0" descr="preencoded.png">    </p:cNvPr>
          <p:cNvPicPr>
            <a:picLocks noChangeAspect="1"/>
          </p:cNvPicPr>
          <p:nvPr/>
        </p:nvPicPr>
        <p:blipFill>
          <a:blip r:embed="rId1"/>
          <a:stretch>
            <a:fillRect/>
          </a:stretch>
        </p:blipFill>
        <p:spPr>
          <a:xfrm>
            <a:off x="201168" y="228600"/>
            <a:ext cx="411480" cy="411480"/>
          </a:xfrm>
          <a:prstGeom prst="rect">
            <a:avLst/>
          </a:prstGeom>
        </p:spPr>
      </p:pic>
      <p:pic>
        <p:nvPicPr>
          <p:cNvPr id="7" name="Image 1" descr="preencoded.png">    </p:cNvPr>
          <p:cNvPicPr>
            <a:picLocks noChangeAspect="1"/>
          </p:cNvPicPr>
          <p:nvPr/>
        </p:nvPicPr>
        <p:blipFill>
          <a:blip r:embed="rId2"/>
          <a:stretch>
            <a:fillRect/>
          </a:stretch>
        </p:blipFill>
        <p:spPr>
          <a:xfrm>
            <a:off x="777240" y="228600"/>
            <a:ext cx="411480" cy="411480"/>
          </a:xfrm>
          <a:prstGeom prst="rect">
            <a:avLst/>
          </a:prstGeom>
        </p:spPr>
      </p:pic>
      <p:sp>
        <p:nvSpPr>
          <p:cNvPr id="8" name="Shape 4"/>
          <p:cNvSpPr/>
          <p:nvPr/>
        </p:nvSpPr>
        <p:spPr>
          <a:xfrm>
            <a:off x="137160" y="1005840"/>
            <a:ext cx="2377440" cy="274320"/>
          </a:xfrm>
          <a:prstGeom prst="rect">
            <a:avLst/>
          </a:prstGeom>
          <a:solidFill>
            <a:srgbClr val="0D9B8A"/>
          </a:solidFill>
          <a:ln w="12700">
            <a:solidFill>
              <a:srgbClr val="0D9B8A"/>
            </a:solidFill>
            <a:prstDash val="solid"/>
          </a:ln>
        </p:spPr>
      </p:sp>
      <p:sp>
        <p:nvSpPr>
          <p:cNvPr id="9" name="Text 5"/>
          <p:cNvSpPr/>
          <p:nvPr/>
        </p:nvSpPr>
        <p:spPr>
          <a:xfrm>
            <a:off x="137160" y="1005840"/>
            <a:ext cx="2377440" cy="274320"/>
          </a:xfrm>
          <a:prstGeom prst="rect">
            <a:avLst/>
          </a:prstGeom>
          <a:noFill/>
          <a:ln/>
        </p:spPr>
        <p:txBody>
          <a:bodyPr wrap="square" lIns="0" tIns="0" rIns="0" bIns="0" rtlCol="0" anchor="ctr"/>
          <a:lstStyle/>
          <a:p>
            <a:pPr algn="ctr" indent="0" marL="0">
              <a:buNone/>
            </a:pPr>
            <a:r>
              <a:rPr lang="en-US" sz="850" b="1" dirty="0">
                <a:solidFill>
                  <a:srgbClr val="0A1628"/>
                </a:solidFill>
              </a:rPr>
              <a:t>FINAL YEAR PROJECT — AIML</a:t>
            </a:r>
            <a:endParaRPr lang="en-US" sz="850" dirty="0"/>
          </a:p>
        </p:txBody>
      </p:sp>
      <p:sp>
        <p:nvSpPr>
          <p:cNvPr id="10" name="Text 6"/>
          <p:cNvSpPr/>
          <p:nvPr/>
        </p:nvSpPr>
        <p:spPr>
          <a:xfrm>
            <a:off x="137160" y="1417320"/>
            <a:ext cx="8686800" cy="1143000"/>
          </a:xfrm>
          <a:prstGeom prst="rect">
            <a:avLst/>
          </a:prstGeom>
          <a:noFill/>
          <a:ln/>
        </p:spPr>
        <p:txBody>
          <a:bodyPr wrap="square" lIns="0" tIns="0" rIns="0" bIns="0" rtlCol="0" anchor="ctr"/>
          <a:lstStyle/>
          <a:p>
            <a:pPr indent="0" marL="0">
              <a:buNone/>
            </a:pPr>
            <a:r>
              <a:rPr lang="en-US" sz="6200" b="1" dirty="0">
                <a:solidFill>
                  <a:srgbClr val="FFFFFF"/>
                </a:solidFill>
                <a:latin typeface="Arial" pitchFamily="34" charset="0"/>
                <a:ea typeface="Arial" pitchFamily="34" charset="-122"/>
                <a:cs typeface="Arial" pitchFamily="34" charset="-120"/>
              </a:rPr>
              <a:t>PharmaSight</a:t>
            </a:r>
            <a:endParaRPr lang="en-US" sz="6200" dirty="0"/>
          </a:p>
        </p:txBody>
      </p:sp>
      <p:sp>
        <p:nvSpPr>
          <p:cNvPr id="11" name="Text 7"/>
          <p:cNvSpPr/>
          <p:nvPr/>
        </p:nvSpPr>
        <p:spPr>
          <a:xfrm>
            <a:off x="137160" y="2542032"/>
            <a:ext cx="8229600" cy="475488"/>
          </a:xfrm>
          <a:prstGeom prst="rect">
            <a:avLst/>
          </a:prstGeom>
          <a:noFill/>
          <a:ln/>
        </p:spPr>
        <p:txBody>
          <a:bodyPr wrap="square" rtlCol="0" anchor="ctr"/>
          <a:lstStyle/>
          <a:p>
            <a:pPr indent="0" marL="0">
              <a:buNone/>
            </a:pPr>
            <a:r>
              <a:rPr lang="en-US" sz="1900" dirty="0">
                <a:solidFill>
                  <a:srgbClr val="C8D6E5"/>
                </a:solidFill>
                <a:latin typeface="Arial" pitchFamily="34" charset="0"/>
                <a:ea typeface="Arial" pitchFamily="34" charset="-122"/>
                <a:cs typeface="Arial" pitchFamily="34" charset="-120"/>
              </a:rPr>
              <a:t>AI-Powered </a:t>
            </a:r>
            <a:pPr indent="0" marL="0">
              <a:buNone/>
            </a:pPr>
            <a:r>
              <a:rPr lang="en-US" sz="1900" b="1" dirty="0">
                <a:solidFill>
                  <a:srgbClr val="C8D6E5"/>
                </a:solidFill>
                <a:latin typeface="Arial" pitchFamily="34" charset="0"/>
                <a:ea typeface="Arial" pitchFamily="34" charset="-122"/>
                <a:cs typeface="Arial" pitchFamily="34" charset="-120"/>
              </a:rPr>
              <a:t>Drug Shortage Prediction</a:t>
            </a:r>
            <a:pPr indent="0" marL="0">
              <a:buNone/>
            </a:pPr>
            <a:r>
              <a:rPr lang="en-US" sz="1900" dirty="0">
                <a:solidFill>
                  <a:srgbClr val="C8D6E5"/>
                </a:solidFill>
                <a:latin typeface="Arial" pitchFamily="34" charset="0"/>
                <a:ea typeface="Arial" pitchFamily="34" charset="-122"/>
                <a:cs typeface="Arial" pitchFamily="34" charset="-120"/>
              </a:rPr>
              <a:t> for Hospital Pharmacy Supply Chains</a:t>
            </a:r>
            <a:endParaRPr lang="en-US" sz="1900" dirty="0"/>
          </a:p>
        </p:txBody>
      </p:sp>
      <p:sp>
        <p:nvSpPr>
          <p:cNvPr id="12" name="Text 8"/>
          <p:cNvSpPr/>
          <p:nvPr/>
        </p:nvSpPr>
        <p:spPr>
          <a:xfrm>
            <a:off x="137160" y="3035808"/>
            <a:ext cx="7772400" cy="329184"/>
          </a:xfrm>
          <a:prstGeom prst="rect">
            <a:avLst/>
          </a:prstGeom>
          <a:noFill/>
          <a:ln/>
        </p:spPr>
        <p:txBody>
          <a:bodyPr wrap="square" rtlCol="0" anchor="ctr"/>
          <a:lstStyle/>
          <a:p>
            <a:pPr indent="0" marL="0">
              <a:buNone/>
            </a:pPr>
            <a:r>
              <a:rPr lang="en-US" sz="1250" i="1" dirty="0">
                <a:solidFill>
                  <a:srgbClr val="8899AA"/>
                </a:solidFill>
                <a:latin typeface="Arial" pitchFamily="34" charset="0"/>
                <a:ea typeface="Arial" pitchFamily="34" charset="-122"/>
                <a:cs typeface="Arial" pitchFamily="34" charset="-120"/>
              </a:rPr>
              <a:t>Temporal Deep Learning · Supplier Risk Graphs · 45-Day Probabilistic Forecasting</a:t>
            </a:r>
            <a:endParaRPr lang="en-US" sz="1250" dirty="0"/>
          </a:p>
        </p:txBody>
      </p:sp>
      <p:sp>
        <p:nvSpPr>
          <p:cNvPr id="13" name="Shape 9"/>
          <p:cNvSpPr/>
          <p:nvPr/>
        </p:nvSpPr>
        <p:spPr>
          <a:xfrm>
            <a:off x="137160" y="3493008"/>
            <a:ext cx="3840480" cy="27432"/>
          </a:xfrm>
          <a:prstGeom prst="rect">
            <a:avLst/>
          </a:prstGeom>
          <a:solidFill>
            <a:srgbClr val="0D9B8A"/>
          </a:solidFill>
          <a:ln w="12700">
            <a:solidFill>
              <a:srgbClr val="0D9B8A"/>
            </a:solidFill>
            <a:prstDash val="solid"/>
          </a:ln>
        </p:spPr>
      </p:sp>
      <p:sp>
        <p:nvSpPr>
          <p:cNvPr id="14" name="Text 10"/>
          <p:cNvSpPr/>
          <p:nvPr/>
        </p:nvSpPr>
        <p:spPr>
          <a:xfrm>
            <a:off x="137160" y="3657600"/>
            <a:ext cx="2011680" cy="475488"/>
          </a:xfrm>
          <a:prstGeom prst="rect">
            <a:avLst/>
          </a:prstGeom>
          <a:noFill/>
          <a:ln/>
        </p:spPr>
        <p:txBody>
          <a:bodyPr wrap="square" lIns="0" tIns="0" rIns="0" bIns="0" rtlCol="0" anchor="ctr"/>
          <a:lstStyle/>
          <a:p>
            <a:pPr indent="0" marL="0">
              <a:buNone/>
            </a:pPr>
            <a:r>
              <a:rPr lang="en-US" sz="2600" b="1" dirty="0">
                <a:solidFill>
                  <a:srgbClr val="0D9B8A"/>
                </a:solidFill>
              </a:rPr>
              <a:t>45</a:t>
            </a:r>
            <a:endParaRPr lang="en-US" sz="2600" dirty="0"/>
          </a:p>
        </p:txBody>
      </p:sp>
      <p:sp>
        <p:nvSpPr>
          <p:cNvPr id="15" name="Text 11"/>
          <p:cNvSpPr/>
          <p:nvPr/>
        </p:nvSpPr>
        <p:spPr>
          <a:xfrm>
            <a:off x="137160" y="4133088"/>
            <a:ext cx="2011680" cy="292608"/>
          </a:xfrm>
          <a:prstGeom prst="rect">
            <a:avLst/>
          </a:prstGeom>
          <a:noFill/>
          <a:ln/>
        </p:spPr>
        <p:txBody>
          <a:bodyPr wrap="square" lIns="0" tIns="0" rIns="0" bIns="0" rtlCol="0" anchor="ctr"/>
          <a:lstStyle/>
          <a:p>
            <a:pPr indent="0" marL="0">
              <a:buNone/>
            </a:pPr>
            <a:r>
              <a:rPr lang="en-US" sz="1000" dirty="0">
                <a:solidFill>
                  <a:srgbClr val="8899AA"/>
                </a:solidFill>
              </a:rPr>
              <a:t>Day ahead forecast</a:t>
            </a:r>
            <a:endParaRPr lang="en-US" sz="1000" dirty="0"/>
          </a:p>
        </p:txBody>
      </p:sp>
      <p:sp>
        <p:nvSpPr>
          <p:cNvPr id="16" name="Text 12"/>
          <p:cNvSpPr/>
          <p:nvPr/>
        </p:nvSpPr>
        <p:spPr>
          <a:xfrm>
            <a:off x="2221992" y="3657600"/>
            <a:ext cx="2011680" cy="475488"/>
          </a:xfrm>
          <a:prstGeom prst="rect">
            <a:avLst/>
          </a:prstGeom>
          <a:noFill/>
          <a:ln/>
        </p:spPr>
        <p:txBody>
          <a:bodyPr wrap="square" lIns="0" tIns="0" rIns="0" bIns="0" rtlCol="0" anchor="ctr"/>
          <a:lstStyle/>
          <a:p>
            <a:pPr indent="0" marL="0">
              <a:buNone/>
            </a:pPr>
            <a:r>
              <a:rPr lang="en-US" sz="2600" b="1" dirty="0">
                <a:solidFill>
                  <a:srgbClr val="0D9B8A"/>
                </a:solidFill>
              </a:rPr>
              <a:t>3</a:t>
            </a:r>
            <a:endParaRPr lang="en-US" sz="2600" dirty="0"/>
          </a:p>
        </p:txBody>
      </p:sp>
      <p:sp>
        <p:nvSpPr>
          <p:cNvPr id="17" name="Text 13"/>
          <p:cNvSpPr/>
          <p:nvPr/>
        </p:nvSpPr>
        <p:spPr>
          <a:xfrm>
            <a:off x="2221992" y="4133088"/>
            <a:ext cx="2011680" cy="292608"/>
          </a:xfrm>
          <a:prstGeom prst="rect">
            <a:avLst/>
          </a:prstGeom>
          <a:noFill/>
          <a:ln/>
        </p:spPr>
        <p:txBody>
          <a:bodyPr wrap="square" lIns="0" tIns="0" rIns="0" bIns="0" rtlCol="0" anchor="ctr"/>
          <a:lstStyle/>
          <a:p>
            <a:pPr indent="0" marL="0">
              <a:buNone/>
            </a:pPr>
            <a:r>
              <a:rPr lang="en-US" sz="1000" dirty="0">
                <a:solidFill>
                  <a:srgbClr val="8899AA"/>
                </a:solidFill>
              </a:rPr>
              <a:t>Novel contributions</a:t>
            </a:r>
            <a:endParaRPr lang="en-US" sz="1000" dirty="0"/>
          </a:p>
        </p:txBody>
      </p:sp>
      <p:sp>
        <p:nvSpPr>
          <p:cNvPr id="18" name="Text 14"/>
          <p:cNvSpPr/>
          <p:nvPr/>
        </p:nvSpPr>
        <p:spPr>
          <a:xfrm>
            <a:off x="4306824" y="3657600"/>
            <a:ext cx="2011680" cy="475488"/>
          </a:xfrm>
          <a:prstGeom prst="rect">
            <a:avLst/>
          </a:prstGeom>
          <a:noFill/>
          <a:ln/>
        </p:spPr>
        <p:txBody>
          <a:bodyPr wrap="square" lIns="0" tIns="0" rIns="0" bIns="0" rtlCol="0" anchor="ctr"/>
          <a:lstStyle/>
          <a:p>
            <a:pPr indent="0" marL="0">
              <a:buNone/>
            </a:pPr>
            <a:r>
              <a:rPr lang="en-US" sz="2600" b="1" dirty="0">
                <a:solidFill>
                  <a:srgbClr val="0D9B8A"/>
                </a:solidFill>
              </a:rPr>
              <a:t>6</a:t>
            </a:r>
            <a:endParaRPr lang="en-US" sz="2600" dirty="0"/>
          </a:p>
        </p:txBody>
      </p:sp>
      <p:sp>
        <p:nvSpPr>
          <p:cNvPr id="19" name="Text 15"/>
          <p:cNvSpPr/>
          <p:nvPr/>
        </p:nvSpPr>
        <p:spPr>
          <a:xfrm>
            <a:off x="4306824" y="4133088"/>
            <a:ext cx="2011680" cy="292608"/>
          </a:xfrm>
          <a:prstGeom prst="rect">
            <a:avLst/>
          </a:prstGeom>
          <a:noFill/>
          <a:ln/>
        </p:spPr>
        <p:txBody>
          <a:bodyPr wrap="square" lIns="0" tIns="0" rIns="0" bIns="0" rtlCol="0" anchor="ctr"/>
          <a:lstStyle/>
          <a:p>
            <a:pPr indent="0" marL="0">
              <a:buNone/>
            </a:pPr>
            <a:r>
              <a:rPr lang="en-US" sz="1000" dirty="0">
                <a:solidFill>
                  <a:srgbClr val="8899AA"/>
                </a:solidFill>
              </a:rPr>
              <a:t>Month timeline</a:t>
            </a:r>
            <a:endParaRPr lang="en-US" sz="1000" dirty="0"/>
          </a:p>
        </p:txBody>
      </p:sp>
      <p:sp>
        <p:nvSpPr>
          <p:cNvPr id="20" name="Text 16"/>
          <p:cNvSpPr/>
          <p:nvPr/>
        </p:nvSpPr>
        <p:spPr>
          <a:xfrm>
            <a:off x="6391656" y="3657600"/>
            <a:ext cx="2011680" cy="475488"/>
          </a:xfrm>
          <a:prstGeom prst="rect">
            <a:avLst/>
          </a:prstGeom>
          <a:noFill/>
          <a:ln/>
        </p:spPr>
        <p:txBody>
          <a:bodyPr wrap="square" lIns="0" tIns="0" rIns="0" bIns="0" rtlCol="0" anchor="ctr"/>
          <a:lstStyle/>
          <a:p>
            <a:pPr indent="0" marL="0">
              <a:buNone/>
            </a:pPr>
            <a:r>
              <a:rPr lang="en-US" sz="2600" b="1" dirty="0">
                <a:solidFill>
                  <a:srgbClr val="0D9B8A"/>
                </a:solidFill>
              </a:rPr>
              <a:t>&gt;82%</a:t>
            </a:r>
            <a:endParaRPr lang="en-US" sz="2600" dirty="0"/>
          </a:p>
        </p:txBody>
      </p:sp>
      <p:sp>
        <p:nvSpPr>
          <p:cNvPr id="21" name="Text 17"/>
          <p:cNvSpPr/>
          <p:nvPr/>
        </p:nvSpPr>
        <p:spPr>
          <a:xfrm>
            <a:off x="6391656" y="4133088"/>
            <a:ext cx="2011680" cy="292608"/>
          </a:xfrm>
          <a:prstGeom prst="rect">
            <a:avLst/>
          </a:prstGeom>
          <a:noFill/>
          <a:ln/>
        </p:spPr>
        <p:txBody>
          <a:bodyPr wrap="square" lIns="0" tIns="0" rIns="0" bIns="0" rtlCol="0" anchor="ctr"/>
          <a:lstStyle/>
          <a:p>
            <a:pPr indent="0" marL="0">
              <a:buNone/>
            </a:pPr>
            <a:r>
              <a:rPr lang="en-US" sz="1000" dirty="0">
                <a:solidFill>
                  <a:srgbClr val="8899AA"/>
                </a:solidFill>
              </a:rPr>
              <a:t>Target accuracy</a:t>
            </a:r>
            <a:endParaRPr lang="en-US" sz="1000" dirty="0"/>
          </a:p>
        </p:txBody>
      </p:sp>
      <p:sp>
        <p:nvSpPr>
          <p:cNvPr id="22" name="Shape 18"/>
          <p:cNvSpPr/>
          <p:nvPr/>
        </p:nvSpPr>
        <p:spPr>
          <a:xfrm>
            <a:off x="0" y="4974336"/>
            <a:ext cx="9144000" cy="169164"/>
          </a:xfrm>
          <a:prstGeom prst="rect">
            <a:avLst/>
          </a:prstGeom>
          <a:solidFill>
            <a:srgbClr val="0D9B8A"/>
          </a:solidFill>
          <a:ln w="12700">
            <a:solidFill>
              <a:srgbClr val="0D9B8A"/>
            </a:solidFill>
            <a:prstDash val="solid"/>
          </a:ln>
        </p:spPr>
      </p:sp>
      <p:sp>
        <p:nvSpPr>
          <p:cNvPr id="23" name="Text 19"/>
          <p:cNvSpPr/>
          <p:nvPr/>
        </p:nvSpPr>
        <p:spPr>
          <a:xfrm>
            <a:off x="0" y="4974336"/>
            <a:ext cx="9144000" cy="169164"/>
          </a:xfrm>
          <a:prstGeom prst="rect">
            <a:avLst/>
          </a:prstGeom>
          <a:noFill/>
          <a:ln/>
        </p:spPr>
        <p:txBody>
          <a:bodyPr wrap="square" lIns="0" tIns="0" rIns="0" bIns="0" rtlCol="0" anchor="ctr"/>
          <a:lstStyle/>
          <a:p>
            <a:pPr algn="ctr" indent="0" marL="0">
              <a:buNone/>
            </a:pPr>
            <a:r>
              <a:rPr lang="en-US" sz="850" b="1" dirty="0">
                <a:solidFill>
                  <a:srgbClr val="0A1628"/>
                </a:solidFill>
              </a:rPr>
              <a:t>Transforming hospital pharmacy supply chains with deep learning — pure software, CSV inputs, no hardware required</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12240"/>
          </a:solidFill>
          <a:ln w="12700">
            <a:solidFill>
              <a:srgbClr val="112240"/>
            </a:solidFill>
            <a:prstDash val="solid"/>
          </a:ln>
        </p:spPr>
      </p:sp>
      <p:sp>
        <p:nvSpPr>
          <p:cNvPr id="3" name="Shape 1"/>
          <p:cNvSpPr/>
          <p:nvPr/>
        </p:nvSpPr>
        <p:spPr>
          <a:xfrm>
            <a:off x="0" y="0"/>
            <a:ext cx="54864" cy="841248"/>
          </a:xfrm>
          <a:prstGeom prst="rect">
            <a:avLst/>
          </a:prstGeom>
          <a:solidFill>
            <a:srgbClr val="D94040"/>
          </a:solidFill>
          <a:ln w="12700">
            <a:solidFill>
              <a:srgbClr val="D94040"/>
            </a:solidFill>
            <a:prstDash val="solid"/>
          </a:ln>
        </p:spPr>
      </p:sp>
      <p:pic>
        <p:nvPicPr>
          <p:cNvPr id="4" name="Image 0" descr="preencoded.png">    </p:cNvPr>
          <p:cNvPicPr>
            <a:picLocks noChangeAspect="1"/>
          </p:cNvPicPr>
          <p:nvPr/>
        </p:nvPicPr>
        <p:blipFill>
          <a:blip r:embed="rId1"/>
          <a:stretch>
            <a:fillRect/>
          </a:stretch>
        </p:blipFill>
        <p:spPr>
          <a:xfrm>
            <a:off x="182880" y="201168"/>
            <a:ext cx="438912" cy="438912"/>
          </a:xfrm>
          <a:prstGeom prst="rect">
            <a:avLst/>
          </a:prstGeom>
        </p:spPr>
      </p:pic>
      <p:sp>
        <p:nvSpPr>
          <p:cNvPr id="5" name="Text 2"/>
          <p:cNvSpPr/>
          <p:nvPr/>
        </p:nvSpPr>
        <p:spPr>
          <a:xfrm>
            <a:off x="768096" y="73152"/>
            <a:ext cx="7315200" cy="329184"/>
          </a:xfrm>
          <a:prstGeom prst="rect">
            <a:avLst/>
          </a:prstGeom>
          <a:noFill/>
          <a:ln/>
        </p:spPr>
        <p:txBody>
          <a:bodyPr wrap="square" lIns="0" tIns="0" rIns="0" bIns="0" rtlCol="0" anchor="ctr"/>
          <a:lstStyle/>
          <a:p>
            <a:pPr indent="0" marL="0">
              <a:buNone/>
            </a:pPr>
            <a:r>
              <a:rPr lang="en-US" sz="1100" b="1" spc="400" kern="0" dirty="0">
                <a:solidFill>
                  <a:srgbClr val="FF6B6B"/>
                </a:solidFill>
              </a:rPr>
              <a:t>THE PROBLEM</a:t>
            </a:r>
            <a:endParaRPr lang="en-US" sz="1100" dirty="0"/>
          </a:p>
        </p:txBody>
      </p:sp>
      <p:sp>
        <p:nvSpPr>
          <p:cNvPr id="6" name="Text 3"/>
          <p:cNvSpPr/>
          <p:nvPr/>
        </p:nvSpPr>
        <p:spPr>
          <a:xfrm>
            <a:off x="768096" y="438912"/>
            <a:ext cx="8046720" cy="347472"/>
          </a:xfrm>
          <a:prstGeom prst="rect">
            <a:avLst/>
          </a:prstGeom>
          <a:noFill/>
          <a:ln/>
        </p:spPr>
        <p:txBody>
          <a:bodyPr wrap="square" lIns="0" tIns="0" rIns="0" bIns="0" rtlCol="0" anchor="ctr"/>
          <a:lstStyle/>
          <a:p>
            <a:pPr indent="0" marL="0">
              <a:buNone/>
            </a:pPr>
            <a:r>
              <a:rPr lang="en-US" sz="1650" b="1" dirty="0">
                <a:solidFill>
                  <a:srgbClr val="FFFFFF"/>
                </a:solidFill>
              </a:rPr>
              <a:t>Hospitals run out of critical drugs — and nobody sees it coming</a:t>
            </a:r>
            <a:endParaRPr lang="en-US" sz="1650" dirty="0"/>
          </a:p>
        </p:txBody>
      </p:sp>
      <p:sp>
        <p:nvSpPr>
          <p:cNvPr id="7" name="Shape 4"/>
          <p:cNvSpPr/>
          <p:nvPr/>
        </p:nvSpPr>
        <p:spPr>
          <a:xfrm>
            <a:off x="256032" y="987552"/>
            <a:ext cx="2788920" cy="1783080"/>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8" name="Shape 5"/>
          <p:cNvSpPr/>
          <p:nvPr/>
        </p:nvSpPr>
        <p:spPr>
          <a:xfrm>
            <a:off x="256032" y="987552"/>
            <a:ext cx="2788920" cy="64008"/>
          </a:xfrm>
          <a:prstGeom prst="rect">
            <a:avLst/>
          </a:prstGeom>
          <a:solidFill>
            <a:srgbClr val="D94040"/>
          </a:solidFill>
          <a:ln w="12700">
            <a:solidFill>
              <a:srgbClr val="D94040"/>
            </a:solidFill>
            <a:prstDash val="solid"/>
          </a:ln>
        </p:spPr>
      </p:sp>
      <p:pic>
        <p:nvPicPr>
          <p:cNvPr id="9" name="Image 1" descr="preencoded.png">    </p:cNvPr>
          <p:cNvPicPr>
            <a:picLocks noChangeAspect="1"/>
          </p:cNvPicPr>
          <p:nvPr/>
        </p:nvPicPr>
        <p:blipFill>
          <a:blip r:embed="rId2"/>
          <a:stretch>
            <a:fillRect/>
          </a:stretch>
        </p:blipFill>
        <p:spPr>
          <a:xfrm>
            <a:off x="402336" y="1115568"/>
            <a:ext cx="347472" cy="347472"/>
          </a:xfrm>
          <a:prstGeom prst="rect">
            <a:avLst/>
          </a:prstGeom>
        </p:spPr>
      </p:pic>
      <p:sp>
        <p:nvSpPr>
          <p:cNvPr id="10" name="Text 6"/>
          <p:cNvSpPr/>
          <p:nvPr/>
        </p:nvSpPr>
        <p:spPr>
          <a:xfrm>
            <a:off x="256032" y="1508760"/>
            <a:ext cx="2788920" cy="502920"/>
          </a:xfrm>
          <a:prstGeom prst="rect">
            <a:avLst/>
          </a:prstGeom>
          <a:noFill/>
          <a:ln/>
        </p:spPr>
        <p:txBody>
          <a:bodyPr wrap="square" lIns="0" tIns="0" rIns="0" bIns="0" rtlCol="0" anchor="ctr"/>
          <a:lstStyle/>
          <a:p>
            <a:pPr algn="ctr" indent="0" marL="0">
              <a:buNone/>
            </a:pPr>
            <a:r>
              <a:rPr lang="en-US" sz="2600" b="1" dirty="0">
                <a:solidFill>
                  <a:srgbClr val="1A2B42"/>
                </a:solidFill>
                <a:latin typeface="Arial" pitchFamily="34" charset="0"/>
                <a:ea typeface="Arial" pitchFamily="34" charset="-122"/>
                <a:cs typeface="Arial" pitchFamily="34" charset="-120"/>
              </a:rPr>
              <a:t>₹8,000 Cr</a:t>
            </a:r>
            <a:endParaRPr lang="en-US" sz="2600" dirty="0"/>
          </a:p>
        </p:txBody>
      </p:sp>
      <p:sp>
        <p:nvSpPr>
          <p:cNvPr id="11" name="Text 7"/>
          <p:cNvSpPr/>
          <p:nvPr/>
        </p:nvSpPr>
        <p:spPr>
          <a:xfrm>
            <a:off x="256032" y="2011680"/>
            <a:ext cx="2788920" cy="685800"/>
          </a:xfrm>
          <a:prstGeom prst="rect">
            <a:avLst/>
          </a:prstGeom>
          <a:noFill/>
          <a:ln/>
        </p:spPr>
        <p:txBody>
          <a:bodyPr wrap="square" lIns="50800" tIns="50800" rIns="50800" bIns="50800" rtlCol="0" anchor="t"/>
          <a:lstStyle/>
          <a:p>
            <a:pPr algn="ctr" indent="0" marL="0">
              <a:buNone/>
            </a:pPr>
            <a:r>
              <a:rPr lang="en-US" sz="950" dirty="0">
                <a:solidFill>
                  <a:srgbClr val="8899AA"/>
                </a:solidFill>
              </a:rPr>
              <a:t>Annual waste from</a:t>
            </a:r>
            <a:endParaRPr lang="en-US" sz="950" dirty="0"/>
          </a:p>
          <a:p>
            <a:pPr algn="ctr" indent="0" marL="0">
              <a:buNone/>
            </a:pPr>
            <a:r>
              <a:rPr lang="en-US" sz="950" dirty="0">
                <a:solidFill>
                  <a:srgbClr val="8899AA"/>
                </a:solidFill>
              </a:rPr>
              <a:t>poor inventory</a:t>
            </a:r>
            <a:endParaRPr lang="en-US" sz="950" dirty="0"/>
          </a:p>
          <a:p>
            <a:pPr algn="ctr" indent="0" marL="0">
              <a:buNone/>
            </a:pPr>
            <a:r>
              <a:rPr lang="en-US" sz="950" dirty="0">
                <a:solidFill>
                  <a:srgbClr val="8899AA"/>
                </a:solidFill>
              </a:rPr>
              <a:t>management in India</a:t>
            </a:r>
            <a:endParaRPr lang="en-US" sz="950" dirty="0"/>
          </a:p>
        </p:txBody>
      </p:sp>
      <p:sp>
        <p:nvSpPr>
          <p:cNvPr id="12" name="Shape 8"/>
          <p:cNvSpPr/>
          <p:nvPr/>
        </p:nvSpPr>
        <p:spPr>
          <a:xfrm>
            <a:off x="3200400" y="987552"/>
            <a:ext cx="2788920" cy="1783080"/>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13" name="Shape 9"/>
          <p:cNvSpPr/>
          <p:nvPr/>
        </p:nvSpPr>
        <p:spPr>
          <a:xfrm>
            <a:off x="3200400" y="987552"/>
            <a:ext cx="2788920" cy="64008"/>
          </a:xfrm>
          <a:prstGeom prst="rect">
            <a:avLst/>
          </a:prstGeom>
          <a:solidFill>
            <a:srgbClr val="C47A1E"/>
          </a:solidFill>
          <a:ln w="12700">
            <a:solidFill>
              <a:srgbClr val="C47A1E"/>
            </a:solidFill>
            <a:prstDash val="solid"/>
          </a:ln>
        </p:spPr>
      </p:sp>
      <p:pic>
        <p:nvPicPr>
          <p:cNvPr id="14" name="Image 2" descr="preencoded.png">    </p:cNvPr>
          <p:cNvPicPr>
            <a:picLocks noChangeAspect="1"/>
          </p:cNvPicPr>
          <p:nvPr/>
        </p:nvPicPr>
        <p:blipFill>
          <a:blip r:embed="rId3"/>
          <a:stretch>
            <a:fillRect/>
          </a:stretch>
        </p:blipFill>
        <p:spPr>
          <a:xfrm>
            <a:off x="3346704" y="1115568"/>
            <a:ext cx="347472" cy="347472"/>
          </a:xfrm>
          <a:prstGeom prst="rect">
            <a:avLst/>
          </a:prstGeom>
        </p:spPr>
      </p:pic>
      <p:sp>
        <p:nvSpPr>
          <p:cNvPr id="15" name="Text 10"/>
          <p:cNvSpPr/>
          <p:nvPr/>
        </p:nvSpPr>
        <p:spPr>
          <a:xfrm>
            <a:off x="3200400" y="1508760"/>
            <a:ext cx="2788920" cy="502920"/>
          </a:xfrm>
          <a:prstGeom prst="rect">
            <a:avLst/>
          </a:prstGeom>
          <a:noFill/>
          <a:ln/>
        </p:spPr>
        <p:txBody>
          <a:bodyPr wrap="square" lIns="0" tIns="0" rIns="0" bIns="0" rtlCol="0" anchor="ctr"/>
          <a:lstStyle/>
          <a:p>
            <a:pPr algn="ctr" indent="0" marL="0">
              <a:buNone/>
            </a:pPr>
            <a:r>
              <a:rPr lang="en-US" sz="2600" b="1" dirty="0">
                <a:solidFill>
                  <a:srgbClr val="1A2B42"/>
                </a:solidFill>
                <a:latin typeface="Arial" pitchFamily="34" charset="0"/>
                <a:ea typeface="Arial" pitchFamily="34" charset="-122"/>
                <a:cs typeface="Arial" pitchFamily="34" charset="-120"/>
              </a:rPr>
              <a:t>0 Systems</a:t>
            </a:r>
            <a:endParaRPr lang="en-US" sz="2600" dirty="0"/>
          </a:p>
        </p:txBody>
      </p:sp>
      <p:sp>
        <p:nvSpPr>
          <p:cNvPr id="16" name="Text 11"/>
          <p:cNvSpPr/>
          <p:nvPr/>
        </p:nvSpPr>
        <p:spPr>
          <a:xfrm>
            <a:off x="3200400" y="2011680"/>
            <a:ext cx="2788920" cy="685800"/>
          </a:xfrm>
          <a:prstGeom prst="rect">
            <a:avLst/>
          </a:prstGeom>
          <a:noFill/>
          <a:ln/>
        </p:spPr>
        <p:txBody>
          <a:bodyPr wrap="square" lIns="50800" tIns="50800" rIns="50800" bIns="50800" rtlCol="0" anchor="t"/>
          <a:lstStyle/>
          <a:p>
            <a:pPr algn="ctr" indent="0" marL="0">
              <a:buNone/>
            </a:pPr>
            <a:r>
              <a:rPr lang="en-US" sz="950" dirty="0">
                <a:solidFill>
                  <a:srgbClr val="8899AA"/>
                </a:solidFill>
              </a:rPr>
              <a:t>Open-source drug</a:t>
            </a:r>
            <a:endParaRPr lang="en-US" sz="950" dirty="0"/>
          </a:p>
          <a:p>
            <a:pPr algn="ctr" indent="0" marL="0">
              <a:buNone/>
            </a:pPr>
            <a:r>
              <a:rPr lang="en-US" sz="950" dirty="0">
                <a:solidFill>
                  <a:srgbClr val="8899AA"/>
                </a:solidFill>
              </a:rPr>
              <a:t>shortage prediction</a:t>
            </a:r>
            <a:endParaRPr lang="en-US" sz="950" dirty="0"/>
          </a:p>
          <a:p>
            <a:pPr algn="ctr" indent="0" marL="0">
              <a:buNone/>
            </a:pPr>
            <a:r>
              <a:rPr lang="en-US" sz="950" dirty="0">
                <a:solidFill>
                  <a:srgbClr val="8899AA"/>
                </a:solidFill>
              </a:rPr>
              <a:t>tools for Indian hospitals</a:t>
            </a:r>
            <a:endParaRPr lang="en-US" sz="950" dirty="0"/>
          </a:p>
        </p:txBody>
      </p:sp>
      <p:sp>
        <p:nvSpPr>
          <p:cNvPr id="17" name="Shape 12"/>
          <p:cNvSpPr/>
          <p:nvPr/>
        </p:nvSpPr>
        <p:spPr>
          <a:xfrm>
            <a:off x="6144768" y="987552"/>
            <a:ext cx="2788920" cy="1783080"/>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18" name="Shape 13"/>
          <p:cNvSpPr/>
          <p:nvPr/>
        </p:nvSpPr>
        <p:spPr>
          <a:xfrm>
            <a:off x="6144768" y="987552"/>
            <a:ext cx="2788920" cy="64008"/>
          </a:xfrm>
          <a:prstGeom prst="rect">
            <a:avLst/>
          </a:prstGeom>
          <a:solidFill>
            <a:srgbClr val="2E86DE"/>
          </a:solidFill>
          <a:ln w="12700">
            <a:solidFill>
              <a:srgbClr val="2E86DE"/>
            </a:solidFill>
            <a:prstDash val="solid"/>
          </a:ln>
        </p:spPr>
      </p:sp>
      <p:pic>
        <p:nvPicPr>
          <p:cNvPr id="19" name="Image 3" descr="preencoded.png">    </p:cNvPr>
          <p:cNvPicPr>
            <a:picLocks noChangeAspect="1"/>
          </p:cNvPicPr>
          <p:nvPr/>
        </p:nvPicPr>
        <p:blipFill>
          <a:blip r:embed="rId4"/>
          <a:stretch>
            <a:fillRect/>
          </a:stretch>
        </p:blipFill>
        <p:spPr>
          <a:xfrm>
            <a:off x="6291072" y="1115568"/>
            <a:ext cx="347472" cy="347472"/>
          </a:xfrm>
          <a:prstGeom prst="rect">
            <a:avLst/>
          </a:prstGeom>
        </p:spPr>
      </p:pic>
      <p:sp>
        <p:nvSpPr>
          <p:cNvPr id="20" name="Text 14"/>
          <p:cNvSpPr/>
          <p:nvPr/>
        </p:nvSpPr>
        <p:spPr>
          <a:xfrm>
            <a:off x="6144768" y="1508760"/>
            <a:ext cx="2788920" cy="502920"/>
          </a:xfrm>
          <a:prstGeom prst="rect">
            <a:avLst/>
          </a:prstGeom>
          <a:noFill/>
          <a:ln/>
        </p:spPr>
        <p:txBody>
          <a:bodyPr wrap="square" lIns="0" tIns="0" rIns="0" bIns="0" rtlCol="0" anchor="ctr"/>
          <a:lstStyle/>
          <a:p>
            <a:pPr algn="ctr" indent="0" marL="0">
              <a:buNone/>
            </a:pPr>
            <a:r>
              <a:rPr lang="en-US" sz="2600" b="1" dirty="0">
                <a:solidFill>
                  <a:srgbClr val="1A2B42"/>
                </a:solidFill>
                <a:latin typeface="Arial" pitchFamily="34" charset="0"/>
                <a:ea typeface="Arial" pitchFamily="34" charset="-122"/>
                <a:cs typeface="Arial" pitchFamily="34" charset="-120"/>
              </a:rPr>
              <a:t>69%</a:t>
            </a:r>
            <a:endParaRPr lang="en-US" sz="2600" dirty="0"/>
          </a:p>
        </p:txBody>
      </p:sp>
      <p:sp>
        <p:nvSpPr>
          <p:cNvPr id="21" name="Text 15"/>
          <p:cNvSpPr/>
          <p:nvPr/>
        </p:nvSpPr>
        <p:spPr>
          <a:xfrm>
            <a:off x="6144768" y="2011680"/>
            <a:ext cx="2788920" cy="685800"/>
          </a:xfrm>
          <a:prstGeom prst="rect">
            <a:avLst/>
          </a:prstGeom>
          <a:noFill/>
          <a:ln/>
        </p:spPr>
        <p:txBody>
          <a:bodyPr wrap="square" lIns="50800" tIns="50800" rIns="50800" bIns="50800" rtlCol="0" anchor="t"/>
          <a:lstStyle/>
          <a:p>
            <a:pPr algn="ctr" indent="0" marL="0">
              <a:buNone/>
            </a:pPr>
            <a:r>
              <a:rPr lang="en-US" sz="950" dirty="0">
                <a:solidFill>
                  <a:srgbClr val="8899AA"/>
                </a:solidFill>
              </a:rPr>
              <a:t>Best published</a:t>
            </a:r>
            <a:endParaRPr lang="en-US" sz="950" dirty="0"/>
          </a:p>
          <a:p>
            <a:pPr algn="ctr" indent="0" marL="0">
              <a:buNone/>
            </a:pPr>
            <a:r>
              <a:rPr lang="en-US" sz="950" dirty="0">
                <a:solidFill>
                  <a:srgbClr val="8899AA"/>
                </a:solidFill>
              </a:rPr>
              <a:t>accuracy — basic ML,</a:t>
            </a:r>
            <a:endParaRPr lang="en-US" sz="950" dirty="0"/>
          </a:p>
          <a:p>
            <a:pPr algn="ctr" indent="0" marL="0">
              <a:buNone/>
            </a:pPr>
            <a:r>
              <a:rPr lang="en-US" sz="950" dirty="0">
                <a:solidFill>
                  <a:srgbClr val="8899AA"/>
                </a:solidFill>
              </a:rPr>
              <a:t>no supplier signals</a:t>
            </a:r>
            <a:endParaRPr lang="en-US" sz="950" dirty="0"/>
          </a:p>
        </p:txBody>
      </p:sp>
      <p:sp>
        <p:nvSpPr>
          <p:cNvPr id="22" name="Shape 16"/>
          <p:cNvSpPr/>
          <p:nvPr/>
        </p:nvSpPr>
        <p:spPr>
          <a:xfrm>
            <a:off x="256032" y="2907792"/>
            <a:ext cx="8641080" cy="2029968"/>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23" name="Shape 17"/>
          <p:cNvSpPr/>
          <p:nvPr/>
        </p:nvSpPr>
        <p:spPr>
          <a:xfrm>
            <a:off x="256032" y="2907792"/>
            <a:ext cx="64008" cy="2029968"/>
          </a:xfrm>
          <a:prstGeom prst="rect">
            <a:avLst/>
          </a:prstGeom>
          <a:solidFill>
            <a:srgbClr val="0D9B8A"/>
          </a:solidFill>
          <a:ln w="12700">
            <a:solidFill>
              <a:srgbClr val="0D9B8A"/>
            </a:solidFill>
            <a:prstDash val="solid"/>
          </a:ln>
        </p:spPr>
      </p:sp>
      <p:sp>
        <p:nvSpPr>
          <p:cNvPr id="24" name="Text 18"/>
          <p:cNvSpPr/>
          <p:nvPr/>
        </p:nvSpPr>
        <p:spPr>
          <a:xfrm>
            <a:off x="457200" y="2980944"/>
            <a:ext cx="8229600" cy="292608"/>
          </a:xfrm>
          <a:prstGeom prst="rect">
            <a:avLst/>
          </a:prstGeom>
          <a:noFill/>
          <a:ln/>
        </p:spPr>
        <p:txBody>
          <a:bodyPr wrap="square" lIns="0" tIns="0" rIns="0" bIns="0" rtlCol="0" anchor="ctr"/>
          <a:lstStyle/>
          <a:p>
            <a:pPr indent="0" marL="0">
              <a:buNone/>
            </a:pPr>
            <a:r>
              <a:rPr lang="en-US" sz="1150" b="1" dirty="0">
                <a:solidFill>
                  <a:srgbClr val="112240"/>
                </a:solidFill>
              </a:rPr>
              <a:t>Why existing approaches fail:</a:t>
            </a:r>
            <a:endParaRPr lang="en-US" sz="1150" dirty="0"/>
          </a:p>
        </p:txBody>
      </p:sp>
      <p:pic>
        <p:nvPicPr>
          <p:cNvPr id="25" name="Image 4" descr="preencoded.png">    </p:cNvPr>
          <p:cNvPicPr>
            <a:picLocks noChangeAspect="1"/>
          </p:cNvPicPr>
          <p:nvPr/>
        </p:nvPicPr>
        <p:blipFill>
          <a:blip r:embed="rId5"/>
          <a:stretch>
            <a:fillRect/>
          </a:stretch>
        </p:blipFill>
        <p:spPr>
          <a:xfrm>
            <a:off x="384048" y="3346704"/>
            <a:ext cx="182880" cy="182880"/>
          </a:xfrm>
          <a:prstGeom prst="rect">
            <a:avLst/>
          </a:prstGeom>
        </p:spPr>
      </p:pic>
      <p:sp>
        <p:nvSpPr>
          <p:cNvPr id="26" name="Text 19"/>
          <p:cNvSpPr/>
          <p:nvPr/>
        </p:nvSpPr>
        <p:spPr>
          <a:xfrm>
            <a:off x="640080" y="3310128"/>
            <a:ext cx="8119872" cy="237744"/>
          </a:xfrm>
          <a:prstGeom prst="rect">
            <a:avLst/>
          </a:prstGeom>
          <a:noFill/>
          <a:ln/>
        </p:spPr>
        <p:txBody>
          <a:bodyPr wrap="square" lIns="0" tIns="0" rIns="0" bIns="0" rtlCol="0" anchor="ctr"/>
          <a:lstStyle/>
          <a:p>
            <a:pPr indent="0" marL="0">
              <a:buNone/>
            </a:pPr>
            <a:r>
              <a:rPr lang="en-US" sz="1000" b="1" dirty="0">
                <a:solidFill>
                  <a:srgbClr val="1A2B42"/>
                </a:solidFill>
              </a:rPr>
              <a:t>Reactive procurement — </a:t>
            </a:r>
            <a:pPr indent="0" marL="0">
              <a:buNone/>
            </a:pPr>
            <a:r>
              <a:rPr lang="en-US" sz="1000" dirty="0">
                <a:solidFill>
                  <a:srgbClr val="8899AA"/>
                </a:solidFill>
              </a:rPr>
              <a:t>Hospitals reorder after a stockout occurs. A 45-day predictive window enables proactive ordering — but no open tool provides this for Indian hospitals.</a:t>
            </a:r>
            <a:endParaRPr lang="en-US" sz="1000" dirty="0"/>
          </a:p>
        </p:txBody>
      </p:sp>
      <p:pic>
        <p:nvPicPr>
          <p:cNvPr id="27" name="Image 5" descr="preencoded.png">    </p:cNvPr>
          <p:cNvPicPr>
            <a:picLocks noChangeAspect="1"/>
          </p:cNvPicPr>
          <p:nvPr/>
        </p:nvPicPr>
        <p:blipFill>
          <a:blip r:embed="rId6"/>
          <a:stretch>
            <a:fillRect/>
          </a:stretch>
        </p:blipFill>
        <p:spPr>
          <a:xfrm>
            <a:off x="384048" y="3803904"/>
            <a:ext cx="182880" cy="182880"/>
          </a:xfrm>
          <a:prstGeom prst="rect">
            <a:avLst/>
          </a:prstGeom>
        </p:spPr>
      </p:pic>
      <p:sp>
        <p:nvSpPr>
          <p:cNvPr id="28" name="Text 20"/>
          <p:cNvSpPr/>
          <p:nvPr/>
        </p:nvSpPr>
        <p:spPr>
          <a:xfrm>
            <a:off x="640080" y="3767328"/>
            <a:ext cx="8119872" cy="237744"/>
          </a:xfrm>
          <a:prstGeom prst="rect">
            <a:avLst/>
          </a:prstGeom>
          <a:noFill/>
          <a:ln/>
        </p:spPr>
        <p:txBody>
          <a:bodyPr wrap="square" lIns="0" tIns="0" rIns="0" bIns="0" rtlCol="0" anchor="ctr"/>
          <a:lstStyle/>
          <a:p>
            <a:pPr indent="0" marL="0">
              <a:buNone/>
            </a:pPr>
            <a:r>
              <a:rPr lang="en-US" sz="1000" b="1" dirty="0">
                <a:solidFill>
                  <a:srgbClr val="1A2B42"/>
                </a:solidFill>
              </a:rPr>
              <a:t>Demand-only models — </a:t>
            </a:r>
            <a:pPr indent="0" marL="0">
              <a:buNone/>
            </a:pPr>
            <a:r>
              <a:rPr lang="en-US" sz="1000" dirty="0">
                <a:solidFill>
                  <a:srgbClr val="8899AA"/>
                </a:solidFill>
              </a:rPr>
              <a:t>The best published system (Springer 2023, 69% accuracy) uses only pharmacy dispensing history. No supplier signals, no lead-time awareness, no multi-echelon visibility.</a:t>
            </a:r>
            <a:endParaRPr lang="en-US" sz="1000" dirty="0"/>
          </a:p>
        </p:txBody>
      </p:sp>
      <p:pic>
        <p:nvPicPr>
          <p:cNvPr id="29" name="Image 6" descr="preencoded.png">    </p:cNvPr>
          <p:cNvPicPr>
            <a:picLocks noChangeAspect="1"/>
          </p:cNvPicPr>
          <p:nvPr/>
        </p:nvPicPr>
        <p:blipFill>
          <a:blip r:embed="rId7"/>
          <a:stretch>
            <a:fillRect/>
          </a:stretch>
        </p:blipFill>
        <p:spPr>
          <a:xfrm>
            <a:off x="384048" y="4261104"/>
            <a:ext cx="182880" cy="182880"/>
          </a:xfrm>
          <a:prstGeom prst="rect">
            <a:avLst/>
          </a:prstGeom>
        </p:spPr>
      </p:pic>
      <p:sp>
        <p:nvSpPr>
          <p:cNvPr id="30" name="Text 21"/>
          <p:cNvSpPr/>
          <p:nvPr/>
        </p:nvSpPr>
        <p:spPr>
          <a:xfrm>
            <a:off x="640080" y="4224528"/>
            <a:ext cx="8119872" cy="237744"/>
          </a:xfrm>
          <a:prstGeom prst="rect">
            <a:avLst/>
          </a:prstGeom>
          <a:noFill/>
          <a:ln/>
        </p:spPr>
        <p:txBody>
          <a:bodyPr wrap="square" lIns="0" tIns="0" rIns="0" bIns="0" rtlCol="0" anchor="ctr"/>
          <a:lstStyle/>
          <a:p>
            <a:pPr indent="0" marL="0">
              <a:buNone/>
            </a:pPr>
            <a:r>
              <a:rPr lang="en-US" sz="1000" b="1" dirty="0">
                <a:solidFill>
                  <a:srgbClr val="1A2B42"/>
                </a:solidFill>
              </a:rPr>
              <a:t>No uncertainty output — </a:t>
            </a:r>
            <a:pPr indent="0" marL="0">
              <a:buNone/>
            </a:pPr>
            <a:r>
              <a:rPr lang="en-US" sz="1000" dirty="0">
                <a:solidFill>
                  <a:srgbClr val="8899AA"/>
                </a:solidFill>
              </a:rPr>
              <a:t>All existing tools output a single point prediction. Clinical decision-making requires a probability distribution — 'there is a 90% chance of stockout within 14 days' is actionable. '0.73' is not.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12240"/>
          </a:solidFill>
          <a:ln w="12700">
            <a:solidFill>
              <a:srgbClr val="112240"/>
            </a:solidFill>
            <a:prstDash val="solid"/>
          </a:ln>
        </p:spPr>
      </p:sp>
      <p:sp>
        <p:nvSpPr>
          <p:cNvPr id="3" name="Shape 1"/>
          <p:cNvSpPr/>
          <p:nvPr/>
        </p:nvSpPr>
        <p:spPr>
          <a:xfrm>
            <a:off x="0" y="0"/>
            <a:ext cx="54864" cy="841248"/>
          </a:xfrm>
          <a:prstGeom prst="rect">
            <a:avLst/>
          </a:prstGeom>
          <a:solidFill>
            <a:srgbClr val="0D9B8A"/>
          </a:solidFill>
          <a:ln w="12700">
            <a:solidFill>
              <a:srgbClr val="0D9B8A"/>
            </a:solidFill>
            <a:prstDash val="solid"/>
          </a:ln>
        </p:spPr>
      </p:sp>
      <p:pic>
        <p:nvPicPr>
          <p:cNvPr id="4" name="Image 0" descr="preencoded.png">    </p:cNvPr>
          <p:cNvPicPr>
            <a:picLocks noChangeAspect="1"/>
          </p:cNvPicPr>
          <p:nvPr/>
        </p:nvPicPr>
        <p:blipFill>
          <a:blip r:embed="rId1"/>
          <a:stretch>
            <a:fillRect/>
          </a:stretch>
        </p:blipFill>
        <p:spPr>
          <a:xfrm>
            <a:off x="182880" y="201168"/>
            <a:ext cx="438912" cy="438912"/>
          </a:xfrm>
          <a:prstGeom prst="rect">
            <a:avLst/>
          </a:prstGeom>
        </p:spPr>
      </p:pic>
      <p:sp>
        <p:nvSpPr>
          <p:cNvPr id="5" name="Text 2"/>
          <p:cNvSpPr/>
          <p:nvPr/>
        </p:nvSpPr>
        <p:spPr>
          <a:xfrm>
            <a:off x="768096" y="73152"/>
            <a:ext cx="7315200" cy="329184"/>
          </a:xfrm>
          <a:prstGeom prst="rect">
            <a:avLst/>
          </a:prstGeom>
          <a:noFill/>
          <a:ln/>
        </p:spPr>
        <p:txBody>
          <a:bodyPr wrap="square" lIns="0" tIns="0" rIns="0" bIns="0" rtlCol="0" anchor="ctr"/>
          <a:lstStyle/>
          <a:p>
            <a:pPr indent="0" marL="0">
              <a:buNone/>
            </a:pPr>
            <a:r>
              <a:rPr lang="en-US" sz="1100" b="1" spc="400" kern="0" dirty="0">
                <a:solidFill>
                  <a:srgbClr val="0D9B8A"/>
                </a:solidFill>
              </a:rPr>
              <a:t>OUR SOLUTION</a:t>
            </a:r>
            <a:endParaRPr lang="en-US" sz="1100" dirty="0"/>
          </a:p>
        </p:txBody>
      </p:sp>
      <p:sp>
        <p:nvSpPr>
          <p:cNvPr id="6" name="Text 3"/>
          <p:cNvSpPr/>
          <p:nvPr/>
        </p:nvSpPr>
        <p:spPr>
          <a:xfrm>
            <a:off x="768096" y="438912"/>
            <a:ext cx="8046720" cy="347472"/>
          </a:xfrm>
          <a:prstGeom prst="rect">
            <a:avLst/>
          </a:prstGeom>
          <a:noFill/>
          <a:ln/>
        </p:spPr>
        <p:txBody>
          <a:bodyPr wrap="square" lIns="0" tIns="0" rIns="0" bIns="0" rtlCol="0" anchor="ctr"/>
          <a:lstStyle/>
          <a:p>
            <a:pPr indent="0" marL="0">
              <a:buNone/>
            </a:pPr>
            <a:r>
              <a:rPr lang="en-US" sz="1650" b="1" dirty="0">
                <a:solidFill>
                  <a:srgbClr val="FFFFFF"/>
                </a:solidFill>
              </a:rPr>
              <a:t>3 novel contributions — each verifiably absent from published literature</a:t>
            </a:r>
            <a:endParaRPr lang="en-US" sz="1650" dirty="0"/>
          </a:p>
        </p:txBody>
      </p:sp>
      <p:sp>
        <p:nvSpPr>
          <p:cNvPr id="7" name="Shape 4"/>
          <p:cNvSpPr/>
          <p:nvPr/>
        </p:nvSpPr>
        <p:spPr>
          <a:xfrm>
            <a:off x="201168" y="969264"/>
            <a:ext cx="8759952" cy="1261872"/>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8" name="Shape 5"/>
          <p:cNvSpPr/>
          <p:nvPr/>
        </p:nvSpPr>
        <p:spPr>
          <a:xfrm>
            <a:off x="201168" y="969264"/>
            <a:ext cx="64008" cy="1261872"/>
          </a:xfrm>
          <a:prstGeom prst="rect">
            <a:avLst/>
          </a:prstGeom>
          <a:solidFill>
            <a:srgbClr val="0D9B8A"/>
          </a:solidFill>
          <a:ln w="12700">
            <a:solidFill>
              <a:srgbClr val="0D9B8A"/>
            </a:solidFill>
            <a:prstDash val="solid"/>
          </a:ln>
        </p:spPr>
      </p:sp>
      <p:sp>
        <p:nvSpPr>
          <p:cNvPr id="9" name="Shape 6"/>
          <p:cNvSpPr/>
          <p:nvPr/>
        </p:nvSpPr>
        <p:spPr>
          <a:xfrm>
            <a:off x="329184" y="1078992"/>
            <a:ext cx="402336" cy="402336"/>
          </a:xfrm>
          <a:prstGeom prst="ellipse">
            <a:avLst/>
          </a:prstGeom>
          <a:solidFill>
            <a:srgbClr val="0D9B8A"/>
          </a:solidFill>
          <a:ln w="12700">
            <a:solidFill>
              <a:srgbClr val="0D9B8A"/>
            </a:solidFill>
            <a:prstDash val="solid"/>
          </a:ln>
        </p:spPr>
      </p:sp>
      <p:sp>
        <p:nvSpPr>
          <p:cNvPr id="10" name="Text 7"/>
          <p:cNvSpPr/>
          <p:nvPr/>
        </p:nvSpPr>
        <p:spPr>
          <a:xfrm>
            <a:off x="329184" y="107899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pic>
        <p:nvPicPr>
          <p:cNvPr id="11" name="Image 1" descr="preencoded.png">    </p:cNvPr>
          <p:cNvPicPr>
            <a:picLocks noChangeAspect="1"/>
          </p:cNvPicPr>
          <p:nvPr/>
        </p:nvPicPr>
        <p:blipFill>
          <a:blip r:embed="rId2"/>
          <a:stretch>
            <a:fillRect/>
          </a:stretch>
        </p:blipFill>
        <p:spPr>
          <a:xfrm>
            <a:off x="822960" y="1097280"/>
            <a:ext cx="310896" cy="310896"/>
          </a:xfrm>
          <a:prstGeom prst="rect">
            <a:avLst/>
          </a:prstGeom>
        </p:spPr>
      </p:pic>
      <p:sp>
        <p:nvSpPr>
          <p:cNvPr id="12" name="Text 8"/>
          <p:cNvSpPr/>
          <p:nvPr/>
        </p:nvSpPr>
        <p:spPr>
          <a:xfrm>
            <a:off x="1234440" y="1060704"/>
            <a:ext cx="7589520" cy="310896"/>
          </a:xfrm>
          <a:prstGeom prst="rect">
            <a:avLst/>
          </a:prstGeom>
          <a:noFill/>
          <a:ln/>
        </p:spPr>
        <p:txBody>
          <a:bodyPr wrap="square" lIns="0" tIns="0" rIns="0" bIns="0" rtlCol="0" anchor="ctr"/>
          <a:lstStyle/>
          <a:p>
            <a:pPr indent="0" marL="0">
              <a:buNone/>
            </a:pPr>
            <a:r>
              <a:rPr lang="en-US" sz="1150" b="1" dirty="0">
                <a:solidFill>
                  <a:srgbClr val="1A2B42"/>
                </a:solidFill>
              </a:rPr>
              <a:t>Temporal Fusion Transformer on Multi-Source Procurement Data</a:t>
            </a:r>
            <a:endParaRPr lang="en-US" sz="1150" dirty="0"/>
          </a:p>
        </p:txBody>
      </p:sp>
      <p:sp>
        <p:nvSpPr>
          <p:cNvPr id="13" name="Text 9"/>
          <p:cNvSpPr/>
          <p:nvPr/>
        </p:nvSpPr>
        <p:spPr>
          <a:xfrm>
            <a:off x="1234440" y="1389888"/>
            <a:ext cx="7589520" cy="475488"/>
          </a:xfrm>
          <a:prstGeom prst="rect">
            <a:avLst/>
          </a:prstGeom>
          <a:noFill/>
          <a:ln/>
        </p:spPr>
        <p:txBody>
          <a:bodyPr wrap="square" lIns="0" tIns="0" rIns="0" bIns="0" rtlCol="0" anchor="ctr"/>
          <a:lstStyle/>
          <a:p>
            <a:pPr indent="0" marL="0">
              <a:buNone/>
            </a:pPr>
            <a:r>
              <a:rPr lang="en-US" sz="900" dirty="0">
                <a:solidFill>
                  <a:srgbClr val="8899AA"/>
                </a:solidFill>
              </a:rPr>
              <a:t>Best published result uses basic ML (LightGBM/Random Forest) on demand-side dispensing data only — 69% accuracy at 30-day horizon. We apply a Temporal Fusion Transformer with variable selection networks, handling both static (drug class, supplier) and time-varying signals simultaneously. Directly addresses what the Springer 2023 paper says would improve performance.</a:t>
            </a:r>
            <a:endParaRPr lang="en-US" sz="900" dirty="0"/>
          </a:p>
        </p:txBody>
      </p:sp>
      <p:sp>
        <p:nvSpPr>
          <p:cNvPr id="14" name="Shape 10"/>
          <p:cNvSpPr/>
          <p:nvPr/>
        </p:nvSpPr>
        <p:spPr>
          <a:xfrm>
            <a:off x="1234440" y="1920240"/>
            <a:ext cx="7589520" cy="237744"/>
          </a:xfrm>
          <a:prstGeom prst="rect">
            <a:avLst/>
          </a:prstGeom>
          <a:solidFill>
            <a:srgbClr val="0D9B8A">
              <a:alpha val="12000"/>
            </a:srgbClr>
          </a:solidFill>
          <a:ln w="6350">
            <a:solidFill>
              <a:srgbClr val="0D9B8A"/>
            </a:solidFill>
            <a:prstDash val="solid"/>
          </a:ln>
        </p:spPr>
      </p:sp>
      <p:sp>
        <p:nvSpPr>
          <p:cNvPr id="15" name="Text 11"/>
          <p:cNvSpPr/>
          <p:nvPr/>
        </p:nvSpPr>
        <p:spPr>
          <a:xfrm>
            <a:off x="1298448" y="1920240"/>
            <a:ext cx="7498080" cy="237744"/>
          </a:xfrm>
          <a:prstGeom prst="rect">
            <a:avLst/>
          </a:prstGeom>
          <a:noFill/>
          <a:ln/>
        </p:spPr>
        <p:txBody>
          <a:bodyPr wrap="square" lIns="12700" tIns="12700" rIns="12700" bIns="12700" rtlCol="0" anchor="ctr"/>
          <a:lstStyle/>
          <a:p>
            <a:pPr indent="0" marL="0">
              <a:buNone/>
            </a:pPr>
            <a:r>
              <a:rPr lang="en-US" sz="850" b="1" dirty="0">
                <a:solidFill>
                  <a:srgbClr val="1A2B42"/>
                </a:solidFill>
              </a:rPr>
              <a:t>Springer 2023 gap: 'Given additional data around inventories of suppliers, performance would increase' — our exact contribution.</a:t>
            </a:r>
            <a:endParaRPr lang="en-US" sz="850" dirty="0"/>
          </a:p>
        </p:txBody>
      </p:sp>
      <p:sp>
        <p:nvSpPr>
          <p:cNvPr id="16" name="Shape 12"/>
          <p:cNvSpPr/>
          <p:nvPr/>
        </p:nvSpPr>
        <p:spPr>
          <a:xfrm>
            <a:off x="201168" y="2340864"/>
            <a:ext cx="8759952" cy="1261872"/>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17" name="Shape 13"/>
          <p:cNvSpPr/>
          <p:nvPr/>
        </p:nvSpPr>
        <p:spPr>
          <a:xfrm>
            <a:off x="201168" y="2340864"/>
            <a:ext cx="64008" cy="1261872"/>
          </a:xfrm>
          <a:prstGeom prst="rect">
            <a:avLst/>
          </a:prstGeom>
          <a:solidFill>
            <a:srgbClr val="7B52AB"/>
          </a:solidFill>
          <a:ln w="12700">
            <a:solidFill>
              <a:srgbClr val="7B52AB"/>
            </a:solidFill>
            <a:prstDash val="solid"/>
          </a:ln>
        </p:spPr>
      </p:sp>
      <p:sp>
        <p:nvSpPr>
          <p:cNvPr id="18" name="Shape 14"/>
          <p:cNvSpPr/>
          <p:nvPr/>
        </p:nvSpPr>
        <p:spPr>
          <a:xfrm>
            <a:off x="329184" y="2450592"/>
            <a:ext cx="402336" cy="402336"/>
          </a:xfrm>
          <a:prstGeom prst="ellipse">
            <a:avLst/>
          </a:prstGeom>
          <a:solidFill>
            <a:srgbClr val="7B52AB"/>
          </a:solidFill>
          <a:ln w="12700">
            <a:solidFill>
              <a:srgbClr val="7B52AB"/>
            </a:solidFill>
            <a:prstDash val="solid"/>
          </a:ln>
        </p:spPr>
      </p:sp>
      <p:sp>
        <p:nvSpPr>
          <p:cNvPr id="19" name="Text 15"/>
          <p:cNvSpPr/>
          <p:nvPr/>
        </p:nvSpPr>
        <p:spPr>
          <a:xfrm>
            <a:off x="329184" y="245059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pic>
        <p:nvPicPr>
          <p:cNvPr id="20" name="Image 2" descr="preencoded.png">    </p:cNvPr>
          <p:cNvPicPr>
            <a:picLocks noChangeAspect="1"/>
          </p:cNvPicPr>
          <p:nvPr/>
        </p:nvPicPr>
        <p:blipFill>
          <a:blip r:embed="rId3"/>
          <a:stretch>
            <a:fillRect/>
          </a:stretch>
        </p:blipFill>
        <p:spPr>
          <a:xfrm>
            <a:off x="822960" y="2468880"/>
            <a:ext cx="310896" cy="310896"/>
          </a:xfrm>
          <a:prstGeom prst="rect">
            <a:avLst/>
          </a:prstGeom>
        </p:spPr>
      </p:pic>
      <p:sp>
        <p:nvSpPr>
          <p:cNvPr id="21" name="Text 16"/>
          <p:cNvSpPr/>
          <p:nvPr/>
        </p:nvSpPr>
        <p:spPr>
          <a:xfrm>
            <a:off x="1234440" y="2432304"/>
            <a:ext cx="7589520" cy="310896"/>
          </a:xfrm>
          <a:prstGeom prst="rect">
            <a:avLst/>
          </a:prstGeom>
          <a:noFill/>
          <a:ln/>
        </p:spPr>
        <p:txBody>
          <a:bodyPr wrap="square" lIns="0" tIns="0" rIns="0" bIns="0" rtlCol="0" anchor="ctr"/>
          <a:lstStyle/>
          <a:p>
            <a:pPr indent="0" marL="0">
              <a:buNone/>
            </a:pPr>
            <a:r>
              <a:rPr lang="en-US" sz="1150" b="1" dirty="0">
                <a:solidFill>
                  <a:srgbClr val="1A2B42"/>
                </a:solidFill>
              </a:rPr>
              <a:t>Multi-Echelon Supplier Risk Graph with Disruption Simulation</a:t>
            </a:r>
            <a:endParaRPr lang="en-US" sz="1150" dirty="0"/>
          </a:p>
        </p:txBody>
      </p:sp>
      <p:sp>
        <p:nvSpPr>
          <p:cNvPr id="22" name="Text 17"/>
          <p:cNvSpPr/>
          <p:nvPr/>
        </p:nvSpPr>
        <p:spPr>
          <a:xfrm>
            <a:off x="1234440" y="2761488"/>
            <a:ext cx="7589520" cy="475488"/>
          </a:xfrm>
          <a:prstGeom prst="rect">
            <a:avLst/>
          </a:prstGeom>
          <a:noFill/>
          <a:ln/>
        </p:spPr>
        <p:txBody>
          <a:bodyPr wrap="square" lIns="0" tIns="0" rIns="0" bIns="0" rtlCol="0" anchor="ctr"/>
          <a:lstStyle/>
          <a:p>
            <a:pPr indent="0" marL="0">
              <a:buNone/>
            </a:pPr>
            <a:r>
              <a:rPr lang="en-US" sz="900" dirty="0">
                <a:solidFill>
                  <a:srgbClr val="8899AA"/>
                </a:solidFill>
              </a:rPr>
              <a:t>No existing open drug shortage tool models the manufacturer → distributor → hospital supply chain as a graph. Our GraphSAGE module learns disruption propagation weights: when a manufacturer is flagged at risk, shortage probability updates across all affected drugs simultaneously. The interactive disruption simulation (toggle any supplier failure) is unique to this system.</a:t>
            </a:r>
            <a:endParaRPr lang="en-US" sz="900" dirty="0"/>
          </a:p>
        </p:txBody>
      </p:sp>
      <p:sp>
        <p:nvSpPr>
          <p:cNvPr id="23" name="Shape 18"/>
          <p:cNvSpPr/>
          <p:nvPr/>
        </p:nvSpPr>
        <p:spPr>
          <a:xfrm>
            <a:off x="1234440" y="3291840"/>
            <a:ext cx="7589520" cy="237744"/>
          </a:xfrm>
          <a:prstGeom prst="rect">
            <a:avLst/>
          </a:prstGeom>
          <a:solidFill>
            <a:srgbClr val="7B52AB">
              <a:alpha val="12000"/>
            </a:srgbClr>
          </a:solidFill>
          <a:ln w="6350">
            <a:solidFill>
              <a:srgbClr val="7B52AB"/>
            </a:solidFill>
            <a:prstDash val="solid"/>
          </a:ln>
        </p:spPr>
      </p:sp>
      <p:sp>
        <p:nvSpPr>
          <p:cNvPr id="24" name="Text 19"/>
          <p:cNvSpPr/>
          <p:nvPr/>
        </p:nvSpPr>
        <p:spPr>
          <a:xfrm>
            <a:off x="1298448" y="3291840"/>
            <a:ext cx="7498080" cy="237744"/>
          </a:xfrm>
          <a:prstGeom prst="rect">
            <a:avLst/>
          </a:prstGeom>
          <a:noFill/>
          <a:ln/>
        </p:spPr>
        <p:txBody>
          <a:bodyPr wrap="square" lIns="12700" tIns="12700" rIns="12700" bIns="12700" rtlCol="0" anchor="ctr"/>
          <a:lstStyle/>
          <a:p>
            <a:pPr indent="0" marL="0">
              <a:buNone/>
            </a:pPr>
            <a:r>
              <a:rPr lang="en-US" sz="850" b="1" dirty="0">
                <a:solidFill>
                  <a:srgbClr val="1A2B42"/>
                </a:solidFill>
              </a:rPr>
              <a:t>Every existing system — academic and commercial — treats supplier risk as a tabular feature, not a graph propagation problem.</a:t>
            </a:r>
            <a:endParaRPr lang="en-US" sz="850" dirty="0"/>
          </a:p>
        </p:txBody>
      </p:sp>
      <p:sp>
        <p:nvSpPr>
          <p:cNvPr id="25" name="Shape 20"/>
          <p:cNvSpPr/>
          <p:nvPr/>
        </p:nvSpPr>
        <p:spPr>
          <a:xfrm>
            <a:off x="201168" y="3712464"/>
            <a:ext cx="8759952" cy="1261872"/>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26" name="Shape 21"/>
          <p:cNvSpPr/>
          <p:nvPr/>
        </p:nvSpPr>
        <p:spPr>
          <a:xfrm>
            <a:off x="201168" y="3712464"/>
            <a:ext cx="64008" cy="1261872"/>
          </a:xfrm>
          <a:prstGeom prst="rect">
            <a:avLst/>
          </a:prstGeom>
          <a:solidFill>
            <a:srgbClr val="F0A500"/>
          </a:solidFill>
          <a:ln w="12700">
            <a:solidFill>
              <a:srgbClr val="F0A500"/>
            </a:solidFill>
            <a:prstDash val="solid"/>
          </a:ln>
        </p:spPr>
      </p:sp>
      <p:sp>
        <p:nvSpPr>
          <p:cNvPr id="27" name="Shape 22"/>
          <p:cNvSpPr/>
          <p:nvPr/>
        </p:nvSpPr>
        <p:spPr>
          <a:xfrm>
            <a:off x="329184" y="3822192"/>
            <a:ext cx="402336" cy="402336"/>
          </a:xfrm>
          <a:prstGeom prst="ellipse">
            <a:avLst/>
          </a:prstGeom>
          <a:solidFill>
            <a:srgbClr val="F0A500"/>
          </a:solidFill>
          <a:ln w="12700">
            <a:solidFill>
              <a:srgbClr val="F0A500"/>
            </a:solidFill>
            <a:prstDash val="solid"/>
          </a:ln>
        </p:spPr>
      </p:sp>
      <p:sp>
        <p:nvSpPr>
          <p:cNvPr id="28" name="Text 23"/>
          <p:cNvSpPr/>
          <p:nvPr/>
        </p:nvSpPr>
        <p:spPr>
          <a:xfrm>
            <a:off x="329184" y="382219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pic>
        <p:nvPicPr>
          <p:cNvPr id="29" name="Image 3" descr="preencoded.png">    </p:cNvPr>
          <p:cNvPicPr>
            <a:picLocks noChangeAspect="1"/>
          </p:cNvPicPr>
          <p:nvPr/>
        </p:nvPicPr>
        <p:blipFill>
          <a:blip r:embed="rId4"/>
          <a:stretch>
            <a:fillRect/>
          </a:stretch>
        </p:blipFill>
        <p:spPr>
          <a:xfrm>
            <a:off x="822960" y="3840480"/>
            <a:ext cx="310896" cy="310896"/>
          </a:xfrm>
          <a:prstGeom prst="rect">
            <a:avLst/>
          </a:prstGeom>
        </p:spPr>
      </p:pic>
      <p:sp>
        <p:nvSpPr>
          <p:cNvPr id="30" name="Text 24"/>
          <p:cNvSpPr/>
          <p:nvPr/>
        </p:nvSpPr>
        <p:spPr>
          <a:xfrm>
            <a:off x="1234440" y="3803904"/>
            <a:ext cx="7589520" cy="310896"/>
          </a:xfrm>
          <a:prstGeom prst="rect">
            <a:avLst/>
          </a:prstGeom>
          <a:noFill/>
          <a:ln/>
        </p:spPr>
        <p:txBody>
          <a:bodyPr wrap="square" lIns="0" tIns="0" rIns="0" bIns="0" rtlCol="0" anchor="ctr"/>
          <a:lstStyle/>
          <a:p>
            <a:pPr indent="0" marL="0">
              <a:buNone/>
            </a:pPr>
            <a:r>
              <a:rPr lang="en-US" sz="1150" b="1" dirty="0">
                <a:solidFill>
                  <a:srgbClr val="1A2B42"/>
                </a:solidFill>
              </a:rPr>
              <a:t>Probabilistic Quantile Output with Conformal Calibration</a:t>
            </a:r>
            <a:endParaRPr lang="en-US" sz="1150" dirty="0"/>
          </a:p>
        </p:txBody>
      </p:sp>
      <p:sp>
        <p:nvSpPr>
          <p:cNvPr id="31" name="Text 25"/>
          <p:cNvSpPr/>
          <p:nvPr/>
        </p:nvSpPr>
        <p:spPr>
          <a:xfrm>
            <a:off x="1234440" y="4133088"/>
            <a:ext cx="7589520" cy="475488"/>
          </a:xfrm>
          <a:prstGeom prst="rect">
            <a:avLst/>
          </a:prstGeom>
          <a:noFill/>
          <a:ln/>
        </p:spPr>
        <p:txBody>
          <a:bodyPr wrap="square" lIns="0" tIns="0" rIns="0" bIns="0" rtlCol="0" anchor="ctr"/>
          <a:lstStyle/>
          <a:p>
            <a:pPr indent="0" marL="0">
              <a:buNone/>
            </a:pPr>
            <a:r>
              <a:rPr lang="en-US" sz="900" dirty="0">
                <a:solidFill>
                  <a:srgbClr val="8899AA"/>
                </a:solidFill>
              </a:rPr>
              <a:t>All existing drug shortage prediction systems output a binary shortage/no-shortage label or a point probability. We output a full P10/P50/P90 forecast distribution — calibrated using conformal prediction. This enables mathematically optimal safety stock calculation: 'at 95% service level, hold X units' rather than arbitrary buffer heuristics currently used.</a:t>
            </a:r>
            <a:endParaRPr lang="en-US" sz="900" dirty="0"/>
          </a:p>
        </p:txBody>
      </p:sp>
      <p:sp>
        <p:nvSpPr>
          <p:cNvPr id="32" name="Shape 26"/>
          <p:cNvSpPr/>
          <p:nvPr/>
        </p:nvSpPr>
        <p:spPr>
          <a:xfrm>
            <a:off x="1234440" y="4663440"/>
            <a:ext cx="7589520" cy="237744"/>
          </a:xfrm>
          <a:prstGeom prst="rect">
            <a:avLst/>
          </a:prstGeom>
          <a:solidFill>
            <a:srgbClr val="F0A500">
              <a:alpha val="12000"/>
            </a:srgbClr>
          </a:solidFill>
          <a:ln w="6350">
            <a:solidFill>
              <a:srgbClr val="F0A500"/>
            </a:solidFill>
            <a:prstDash val="solid"/>
          </a:ln>
        </p:spPr>
      </p:sp>
      <p:sp>
        <p:nvSpPr>
          <p:cNvPr id="33" name="Text 27"/>
          <p:cNvSpPr/>
          <p:nvPr/>
        </p:nvSpPr>
        <p:spPr>
          <a:xfrm>
            <a:off x="1298448" y="4663440"/>
            <a:ext cx="7498080" cy="237744"/>
          </a:xfrm>
          <a:prstGeom prst="rect">
            <a:avLst/>
          </a:prstGeom>
          <a:noFill/>
          <a:ln/>
        </p:spPr>
        <p:txBody>
          <a:bodyPr wrap="square" lIns="12700" tIns="12700" rIns="12700" bIns="12700" rtlCol="0" anchor="ctr"/>
          <a:lstStyle/>
          <a:p>
            <a:pPr indent="0" marL="0">
              <a:buNone/>
            </a:pPr>
            <a:r>
              <a:rPr lang="en-US" sz="850" b="1" dirty="0">
                <a:solidFill>
                  <a:srgbClr val="1A2B42"/>
                </a:solidFill>
              </a:rPr>
              <a:t>No published drug shortage system provides calibrated uncertainty intervals. This is the output clinicians actually need for procurement decisions.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2240"/>
          </a:solidFill>
          <a:ln w="12700">
            <a:solidFill>
              <a:srgbClr val="112240"/>
            </a:solidFill>
            <a:prstDash val="solid"/>
          </a:ln>
        </p:spPr>
      </p:sp>
      <p:sp>
        <p:nvSpPr>
          <p:cNvPr id="3" name="Shape 1"/>
          <p:cNvSpPr/>
          <p:nvPr/>
        </p:nvSpPr>
        <p:spPr>
          <a:xfrm>
            <a:off x="0" y="0"/>
            <a:ext cx="54864" cy="749808"/>
          </a:xfrm>
          <a:prstGeom prst="rect">
            <a:avLst/>
          </a:prstGeom>
          <a:solidFill>
            <a:srgbClr val="0D9B8A"/>
          </a:solidFill>
          <a:ln w="12700">
            <a:solidFill>
              <a:srgbClr val="0D9B8A"/>
            </a:solidFill>
            <a:prstDash val="solid"/>
          </a:ln>
        </p:spPr>
      </p:sp>
      <p:pic>
        <p:nvPicPr>
          <p:cNvPr id="4" name="Image 0" descr="preencoded.png">    </p:cNvPr>
          <p:cNvPicPr>
            <a:picLocks noChangeAspect="1"/>
          </p:cNvPicPr>
          <p:nvPr/>
        </p:nvPicPr>
        <p:blipFill>
          <a:blip r:embed="rId1"/>
          <a:stretch>
            <a:fillRect/>
          </a:stretch>
        </p:blipFill>
        <p:spPr>
          <a:xfrm>
            <a:off x="182880" y="164592"/>
            <a:ext cx="402336" cy="402336"/>
          </a:xfrm>
          <a:prstGeom prst="rect">
            <a:avLst/>
          </a:prstGeom>
        </p:spPr>
      </p:pic>
      <p:sp>
        <p:nvSpPr>
          <p:cNvPr id="5" name="Text 2"/>
          <p:cNvSpPr/>
          <p:nvPr/>
        </p:nvSpPr>
        <p:spPr>
          <a:xfrm>
            <a:off x="713232" y="54864"/>
            <a:ext cx="7315200" cy="320040"/>
          </a:xfrm>
          <a:prstGeom prst="rect">
            <a:avLst/>
          </a:prstGeom>
          <a:noFill/>
          <a:ln/>
        </p:spPr>
        <p:txBody>
          <a:bodyPr wrap="square" lIns="0" tIns="0" rIns="0" bIns="0" rtlCol="0" anchor="ctr"/>
          <a:lstStyle/>
          <a:p>
            <a:pPr indent="0" marL="0">
              <a:buNone/>
            </a:pPr>
            <a:r>
              <a:rPr lang="en-US" sz="1100" b="1" spc="400" kern="0" dirty="0">
                <a:solidFill>
                  <a:srgbClr val="0D9B8A"/>
                </a:solidFill>
              </a:rPr>
              <a:t>SYSTEM ARCHITECTURE</a:t>
            </a:r>
            <a:endParaRPr lang="en-US" sz="1100" dirty="0"/>
          </a:p>
        </p:txBody>
      </p:sp>
      <p:sp>
        <p:nvSpPr>
          <p:cNvPr id="6" name="Text 3"/>
          <p:cNvSpPr/>
          <p:nvPr/>
        </p:nvSpPr>
        <p:spPr>
          <a:xfrm>
            <a:off x="713232" y="402336"/>
            <a:ext cx="8229600" cy="274320"/>
          </a:xfrm>
          <a:prstGeom prst="rect">
            <a:avLst/>
          </a:prstGeom>
          <a:noFill/>
          <a:ln/>
        </p:spPr>
        <p:txBody>
          <a:bodyPr wrap="square" lIns="0" tIns="0" rIns="0" bIns="0" rtlCol="0" anchor="ctr"/>
          <a:lstStyle/>
          <a:p>
            <a:pPr indent="0" marL="0">
              <a:buNone/>
            </a:pPr>
            <a:r>
              <a:rPr lang="en-US" sz="1200" dirty="0">
                <a:solidFill>
                  <a:srgbClr val="C8D6E5"/>
                </a:solidFill>
              </a:rPr>
              <a:t>CSV in → Feature engineering → TFT forecasting → Supplier graph → Fusion → Dashboard output</a:t>
            </a:r>
            <a:endParaRPr lang="en-US" sz="1200" dirty="0"/>
          </a:p>
        </p:txBody>
      </p:sp>
      <p:sp>
        <p:nvSpPr>
          <p:cNvPr id="7" name="Shape 4"/>
          <p:cNvSpPr/>
          <p:nvPr/>
        </p:nvSpPr>
        <p:spPr>
          <a:xfrm>
            <a:off x="91440" y="822960"/>
            <a:ext cx="1627632" cy="237744"/>
          </a:xfrm>
          <a:prstGeom prst="rect">
            <a:avLst/>
          </a:prstGeom>
          <a:solidFill>
            <a:srgbClr val="0D9B8A"/>
          </a:solidFill>
          <a:ln w="12700">
            <a:solidFill>
              <a:srgbClr val="0D9B8A"/>
            </a:solidFill>
            <a:prstDash val="solid"/>
          </a:ln>
        </p:spPr>
      </p:sp>
      <p:sp>
        <p:nvSpPr>
          <p:cNvPr id="8" name="Text 5"/>
          <p:cNvSpPr/>
          <p:nvPr/>
        </p:nvSpPr>
        <p:spPr>
          <a:xfrm>
            <a:off x="91440" y="822960"/>
            <a:ext cx="1627632" cy="237744"/>
          </a:xfrm>
          <a:prstGeom prst="rect">
            <a:avLst/>
          </a:prstGeom>
          <a:noFill/>
          <a:ln/>
        </p:spPr>
        <p:txBody>
          <a:bodyPr wrap="square" lIns="0" tIns="0" rIns="0" bIns="0" rtlCol="0" anchor="ctr"/>
          <a:lstStyle/>
          <a:p>
            <a:pPr algn="ctr" indent="0" marL="0">
              <a:buNone/>
            </a:pPr>
            <a:r>
              <a:rPr lang="en-US" sz="750" b="1" dirty="0">
                <a:solidFill>
                  <a:srgbClr val="0A1628"/>
                </a:solidFill>
              </a:rPr>
              <a:t>INPUT LAYER</a:t>
            </a:r>
            <a:endParaRPr lang="en-US" sz="750" dirty="0"/>
          </a:p>
        </p:txBody>
      </p:sp>
      <p:sp>
        <p:nvSpPr>
          <p:cNvPr id="9" name="Shape 6"/>
          <p:cNvSpPr/>
          <p:nvPr/>
        </p:nvSpPr>
        <p:spPr>
          <a:xfrm>
            <a:off x="1810512" y="822960"/>
            <a:ext cx="1755648" cy="237744"/>
          </a:xfrm>
          <a:prstGeom prst="rect">
            <a:avLst/>
          </a:prstGeom>
          <a:solidFill>
            <a:srgbClr val="2E86DE"/>
          </a:solidFill>
          <a:ln w="12700">
            <a:solidFill>
              <a:srgbClr val="2E86DE"/>
            </a:solidFill>
            <a:prstDash val="solid"/>
          </a:ln>
        </p:spPr>
      </p:sp>
      <p:sp>
        <p:nvSpPr>
          <p:cNvPr id="10" name="Text 7"/>
          <p:cNvSpPr/>
          <p:nvPr/>
        </p:nvSpPr>
        <p:spPr>
          <a:xfrm>
            <a:off x="1810512" y="822960"/>
            <a:ext cx="1755648" cy="237744"/>
          </a:xfrm>
          <a:prstGeom prst="rect">
            <a:avLst/>
          </a:prstGeom>
          <a:noFill/>
          <a:ln/>
        </p:spPr>
        <p:txBody>
          <a:bodyPr wrap="square" lIns="0" tIns="0" rIns="0" bIns="0" rtlCol="0" anchor="ctr"/>
          <a:lstStyle/>
          <a:p>
            <a:pPr algn="ctr" indent="0" marL="0">
              <a:buNone/>
            </a:pPr>
            <a:r>
              <a:rPr lang="en-US" sz="750" b="1" dirty="0">
                <a:solidFill>
                  <a:srgbClr val="0A1628"/>
                </a:solidFill>
              </a:rPr>
              <a:t>FEATURE LAYER</a:t>
            </a:r>
            <a:endParaRPr lang="en-US" sz="750" dirty="0"/>
          </a:p>
        </p:txBody>
      </p:sp>
      <p:sp>
        <p:nvSpPr>
          <p:cNvPr id="11" name="Shape 8"/>
          <p:cNvSpPr/>
          <p:nvPr/>
        </p:nvSpPr>
        <p:spPr>
          <a:xfrm>
            <a:off x="3657600" y="822960"/>
            <a:ext cx="2121408" cy="237744"/>
          </a:xfrm>
          <a:prstGeom prst="rect">
            <a:avLst/>
          </a:prstGeom>
          <a:solidFill>
            <a:srgbClr val="7B52AB"/>
          </a:solidFill>
          <a:ln w="12700">
            <a:solidFill>
              <a:srgbClr val="7B52AB"/>
            </a:solidFill>
            <a:prstDash val="solid"/>
          </a:ln>
        </p:spPr>
      </p:sp>
      <p:sp>
        <p:nvSpPr>
          <p:cNvPr id="12" name="Text 9"/>
          <p:cNvSpPr/>
          <p:nvPr/>
        </p:nvSpPr>
        <p:spPr>
          <a:xfrm>
            <a:off x="3657600" y="822960"/>
            <a:ext cx="2121408" cy="237744"/>
          </a:xfrm>
          <a:prstGeom prst="rect">
            <a:avLst/>
          </a:prstGeom>
          <a:noFill/>
          <a:ln/>
        </p:spPr>
        <p:txBody>
          <a:bodyPr wrap="square" lIns="0" tIns="0" rIns="0" bIns="0" rtlCol="0" anchor="ctr"/>
          <a:lstStyle/>
          <a:p>
            <a:pPr algn="ctr" indent="0" marL="0">
              <a:buNone/>
            </a:pPr>
            <a:r>
              <a:rPr lang="en-US" sz="750" b="1" dirty="0">
                <a:solidFill>
                  <a:srgbClr val="0A1628"/>
                </a:solidFill>
              </a:rPr>
              <a:t>MODEL LAYER</a:t>
            </a:r>
            <a:endParaRPr lang="en-US" sz="750" dirty="0"/>
          </a:p>
        </p:txBody>
      </p:sp>
      <p:sp>
        <p:nvSpPr>
          <p:cNvPr id="13" name="Shape 10"/>
          <p:cNvSpPr/>
          <p:nvPr/>
        </p:nvSpPr>
        <p:spPr>
          <a:xfrm>
            <a:off x="5870448" y="822960"/>
            <a:ext cx="1536192" cy="237744"/>
          </a:xfrm>
          <a:prstGeom prst="rect">
            <a:avLst/>
          </a:prstGeom>
          <a:solidFill>
            <a:srgbClr val="F0A500"/>
          </a:solidFill>
          <a:ln w="12700">
            <a:solidFill>
              <a:srgbClr val="F0A500"/>
            </a:solidFill>
            <a:prstDash val="solid"/>
          </a:ln>
        </p:spPr>
      </p:sp>
      <p:sp>
        <p:nvSpPr>
          <p:cNvPr id="14" name="Text 11"/>
          <p:cNvSpPr/>
          <p:nvPr/>
        </p:nvSpPr>
        <p:spPr>
          <a:xfrm>
            <a:off x="5870448" y="822960"/>
            <a:ext cx="1536192" cy="237744"/>
          </a:xfrm>
          <a:prstGeom prst="rect">
            <a:avLst/>
          </a:prstGeom>
          <a:noFill/>
          <a:ln/>
        </p:spPr>
        <p:txBody>
          <a:bodyPr wrap="square" lIns="0" tIns="0" rIns="0" bIns="0" rtlCol="0" anchor="ctr"/>
          <a:lstStyle/>
          <a:p>
            <a:pPr algn="ctr" indent="0" marL="0">
              <a:buNone/>
            </a:pPr>
            <a:r>
              <a:rPr lang="en-US" sz="750" b="1" dirty="0">
                <a:solidFill>
                  <a:srgbClr val="0A1628"/>
                </a:solidFill>
              </a:rPr>
              <a:t>GRAPH LAYER</a:t>
            </a:r>
            <a:endParaRPr lang="en-US" sz="750" dirty="0"/>
          </a:p>
        </p:txBody>
      </p:sp>
      <p:sp>
        <p:nvSpPr>
          <p:cNvPr id="15" name="Shape 12"/>
          <p:cNvSpPr/>
          <p:nvPr/>
        </p:nvSpPr>
        <p:spPr>
          <a:xfrm>
            <a:off x="7498080" y="822960"/>
            <a:ext cx="1572768" cy="237744"/>
          </a:xfrm>
          <a:prstGeom prst="rect">
            <a:avLst/>
          </a:prstGeom>
          <a:solidFill>
            <a:srgbClr val="27AE60"/>
          </a:solidFill>
          <a:ln w="12700">
            <a:solidFill>
              <a:srgbClr val="27AE60"/>
            </a:solidFill>
            <a:prstDash val="solid"/>
          </a:ln>
        </p:spPr>
      </p:sp>
      <p:sp>
        <p:nvSpPr>
          <p:cNvPr id="16" name="Text 13"/>
          <p:cNvSpPr/>
          <p:nvPr/>
        </p:nvSpPr>
        <p:spPr>
          <a:xfrm>
            <a:off x="7498080" y="822960"/>
            <a:ext cx="1572768" cy="237744"/>
          </a:xfrm>
          <a:prstGeom prst="rect">
            <a:avLst/>
          </a:prstGeom>
          <a:noFill/>
          <a:ln/>
        </p:spPr>
        <p:txBody>
          <a:bodyPr wrap="square" lIns="0" tIns="0" rIns="0" bIns="0" rtlCol="0" anchor="ctr"/>
          <a:lstStyle/>
          <a:p>
            <a:pPr algn="ctr" indent="0" marL="0">
              <a:buNone/>
            </a:pPr>
            <a:r>
              <a:rPr lang="en-US" sz="750" b="1" dirty="0">
                <a:solidFill>
                  <a:srgbClr val="0A1628"/>
                </a:solidFill>
              </a:rPr>
              <a:t>OUTPUT LAYER</a:t>
            </a:r>
            <a:endParaRPr lang="en-US" sz="750" dirty="0"/>
          </a:p>
        </p:txBody>
      </p:sp>
      <p:sp>
        <p:nvSpPr>
          <p:cNvPr id="17" name="Shape 14"/>
          <p:cNvSpPr/>
          <p:nvPr/>
        </p:nvSpPr>
        <p:spPr>
          <a:xfrm>
            <a:off x="91440" y="1115568"/>
            <a:ext cx="1627632" cy="3657600"/>
          </a:xfrm>
          <a:prstGeom prst="rect">
            <a:avLst/>
          </a:prstGeom>
          <a:solidFill>
            <a:srgbClr val="112240"/>
          </a:solidFill>
          <a:ln w="19050">
            <a:solidFill>
              <a:srgbClr val="0D9B8A"/>
            </a:solidFill>
            <a:prstDash val="solid"/>
          </a:ln>
        </p:spPr>
      </p:sp>
      <p:sp>
        <p:nvSpPr>
          <p:cNvPr id="18" name="Shape 15"/>
          <p:cNvSpPr/>
          <p:nvPr/>
        </p:nvSpPr>
        <p:spPr>
          <a:xfrm>
            <a:off x="91440" y="1115568"/>
            <a:ext cx="1627632" cy="274320"/>
          </a:xfrm>
          <a:prstGeom prst="rect">
            <a:avLst/>
          </a:prstGeom>
          <a:solidFill>
            <a:srgbClr val="0D9B8A"/>
          </a:solidFill>
          <a:ln w="12700">
            <a:solidFill>
              <a:srgbClr val="0D9B8A"/>
            </a:solidFill>
            <a:prstDash val="solid"/>
          </a:ln>
        </p:spPr>
      </p:sp>
      <p:pic>
        <p:nvPicPr>
          <p:cNvPr id="19" name="Image 1" descr="preencoded.png">    </p:cNvPr>
          <p:cNvPicPr>
            <a:picLocks noChangeAspect="1"/>
          </p:cNvPicPr>
          <p:nvPr/>
        </p:nvPicPr>
        <p:blipFill>
          <a:blip r:embed="rId2"/>
          <a:stretch>
            <a:fillRect/>
          </a:stretch>
        </p:blipFill>
        <p:spPr>
          <a:xfrm>
            <a:off x="182880" y="1143000"/>
            <a:ext cx="201168" cy="201168"/>
          </a:xfrm>
          <a:prstGeom prst="rect">
            <a:avLst/>
          </a:prstGeom>
        </p:spPr>
      </p:pic>
      <p:sp>
        <p:nvSpPr>
          <p:cNvPr id="20" name="Text 16"/>
          <p:cNvSpPr/>
          <p:nvPr/>
        </p:nvSpPr>
        <p:spPr>
          <a:xfrm>
            <a:off x="91440" y="1115568"/>
            <a:ext cx="1627632" cy="274320"/>
          </a:xfrm>
          <a:prstGeom prst="rect">
            <a:avLst/>
          </a:prstGeom>
          <a:noFill/>
          <a:ln/>
        </p:spPr>
        <p:txBody>
          <a:bodyPr wrap="square" lIns="0" tIns="0" rIns="0" bIns="0" rtlCol="0" anchor="ctr"/>
          <a:lstStyle/>
          <a:p>
            <a:pPr algn="ctr" indent="0" marL="0">
              <a:buNone/>
            </a:pPr>
            <a:r>
              <a:rPr lang="en-US" sz="800" b="1" dirty="0">
                <a:solidFill>
                  <a:srgbClr val="0A1628"/>
                </a:solidFill>
              </a:rPr>
              <a:t>CSV FILES</a:t>
            </a:r>
            <a:endParaRPr lang="en-US" sz="800" dirty="0"/>
          </a:p>
        </p:txBody>
      </p:sp>
      <p:sp>
        <p:nvSpPr>
          <p:cNvPr id="21" name="Shape 17"/>
          <p:cNvSpPr/>
          <p:nvPr/>
        </p:nvSpPr>
        <p:spPr>
          <a:xfrm>
            <a:off x="164592" y="1444752"/>
            <a:ext cx="1481328" cy="402336"/>
          </a:xfrm>
          <a:prstGeom prst="rect">
            <a:avLst/>
          </a:prstGeom>
          <a:solidFill>
            <a:srgbClr val="E0F5F2">
              <a:alpha val="18000"/>
            </a:srgbClr>
          </a:solidFill>
          <a:ln w="6350">
            <a:solidFill>
              <a:srgbClr val="0D9B8A"/>
            </a:solidFill>
            <a:prstDash val="solid"/>
          </a:ln>
        </p:spPr>
      </p:sp>
      <p:sp>
        <p:nvSpPr>
          <p:cNvPr id="22" name="Text 18"/>
          <p:cNvSpPr/>
          <p:nvPr/>
        </p:nvSpPr>
        <p:spPr>
          <a:xfrm>
            <a:off x="164592" y="1444752"/>
            <a:ext cx="1481328" cy="402336"/>
          </a:xfrm>
          <a:prstGeom prst="rect">
            <a:avLst/>
          </a:prstGeom>
          <a:noFill/>
          <a:ln/>
        </p:spPr>
        <p:txBody>
          <a:bodyPr wrap="square" lIns="25400" tIns="25400" rIns="25400" bIns="25400" rtlCol="0" anchor="ctr"/>
          <a:lstStyle/>
          <a:p>
            <a:pPr algn="ctr" indent="0" marL="0">
              <a:buNone/>
            </a:pPr>
            <a:r>
              <a:rPr lang="en-US" sz="850" dirty="0">
                <a:solidFill>
                  <a:srgbClr val="C8D6E5"/>
                </a:solidFill>
              </a:rPr>
              <a:t>Drug name</a:t>
            </a:r>
            <a:endParaRPr lang="en-US" sz="850" dirty="0"/>
          </a:p>
          <a:p>
            <a:pPr algn="ctr" indent="0" marL="0">
              <a:buNone/>
            </a:pPr>
            <a:r>
              <a:rPr lang="en-US" sz="850" dirty="0">
                <a:solidFill>
                  <a:srgbClr val="C8D6E5"/>
                </a:solidFill>
              </a:rPr>
              <a:t>&amp; NDC code</a:t>
            </a:r>
            <a:endParaRPr lang="en-US" sz="850" dirty="0"/>
          </a:p>
        </p:txBody>
      </p:sp>
      <p:sp>
        <p:nvSpPr>
          <p:cNvPr id="23" name="Shape 19"/>
          <p:cNvSpPr/>
          <p:nvPr/>
        </p:nvSpPr>
        <p:spPr>
          <a:xfrm>
            <a:off x="164592" y="1901952"/>
            <a:ext cx="1481328" cy="402336"/>
          </a:xfrm>
          <a:prstGeom prst="rect">
            <a:avLst/>
          </a:prstGeom>
          <a:solidFill>
            <a:srgbClr val="E0F5F2">
              <a:alpha val="18000"/>
            </a:srgbClr>
          </a:solidFill>
          <a:ln w="6350">
            <a:solidFill>
              <a:srgbClr val="0D9B8A"/>
            </a:solidFill>
            <a:prstDash val="solid"/>
          </a:ln>
        </p:spPr>
      </p:sp>
      <p:sp>
        <p:nvSpPr>
          <p:cNvPr id="24" name="Text 20"/>
          <p:cNvSpPr/>
          <p:nvPr/>
        </p:nvSpPr>
        <p:spPr>
          <a:xfrm>
            <a:off x="164592" y="1901952"/>
            <a:ext cx="1481328" cy="402336"/>
          </a:xfrm>
          <a:prstGeom prst="rect">
            <a:avLst/>
          </a:prstGeom>
          <a:noFill/>
          <a:ln/>
        </p:spPr>
        <p:txBody>
          <a:bodyPr wrap="square" lIns="25400" tIns="25400" rIns="25400" bIns="25400" rtlCol="0" anchor="ctr"/>
          <a:lstStyle/>
          <a:p>
            <a:pPr algn="ctr" indent="0" marL="0">
              <a:buNone/>
            </a:pPr>
            <a:r>
              <a:rPr lang="en-US" sz="850" dirty="0">
                <a:solidFill>
                  <a:srgbClr val="C8D6E5"/>
                </a:solidFill>
              </a:rPr>
              <a:t>Order qty</a:t>
            </a:r>
            <a:endParaRPr lang="en-US" sz="850" dirty="0"/>
          </a:p>
          <a:p>
            <a:pPr algn="ctr" indent="0" marL="0">
              <a:buNone/>
            </a:pPr>
            <a:r>
              <a:rPr lang="en-US" sz="850" dirty="0">
                <a:solidFill>
                  <a:srgbClr val="C8D6E5"/>
                </a:solidFill>
              </a:rPr>
              <a:t>&amp; dates</a:t>
            </a:r>
            <a:endParaRPr lang="en-US" sz="850" dirty="0"/>
          </a:p>
        </p:txBody>
      </p:sp>
      <p:sp>
        <p:nvSpPr>
          <p:cNvPr id="25" name="Shape 21"/>
          <p:cNvSpPr/>
          <p:nvPr/>
        </p:nvSpPr>
        <p:spPr>
          <a:xfrm>
            <a:off x="164592" y="2359152"/>
            <a:ext cx="1481328" cy="402336"/>
          </a:xfrm>
          <a:prstGeom prst="rect">
            <a:avLst/>
          </a:prstGeom>
          <a:solidFill>
            <a:srgbClr val="E0F5F2">
              <a:alpha val="18000"/>
            </a:srgbClr>
          </a:solidFill>
          <a:ln w="6350">
            <a:solidFill>
              <a:srgbClr val="0D9B8A"/>
            </a:solidFill>
            <a:prstDash val="solid"/>
          </a:ln>
        </p:spPr>
      </p:sp>
      <p:sp>
        <p:nvSpPr>
          <p:cNvPr id="26" name="Text 22"/>
          <p:cNvSpPr/>
          <p:nvPr/>
        </p:nvSpPr>
        <p:spPr>
          <a:xfrm>
            <a:off x="164592" y="2359152"/>
            <a:ext cx="1481328" cy="402336"/>
          </a:xfrm>
          <a:prstGeom prst="rect">
            <a:avLst/>
          </a:prstGeom>
          <a:noFill/>
          <a:ln/>
        </p:spPr>
        <p:txBody>
          <a:bodyPr wrap="square" lIns="25400" tIns="25400" rIns="25400" bIns="25400" rtlCol="0" anchor="ctr"/>
          <a:lstStyle/>
          <a:p>
            <a:pPr algn="ctr" indent="0" marL="0">
              <a:buNone/>
            </a:pPr>
            <a:r>
              <a:rPr lang="en-US" sz="850" dirty="0">
                <a:solidFill>
                  <a:srgbClr val="C8D6E5"/>
                </a:solidFill>
              </a:rPr>
              <a:t>Delivery date</a:t>
            </a:r>
            <a:endParaRPr lang="en-US" sz="850" dirty="0"/>
          </a:p>
          <a:p>
            <a:pPr algn="ctr" indent="0" marL="0">
              <a:buNone/>
            </a:pPr>
            <a:r>
              <a:rPr lang="en-US" sz="850" dirty="0">
                <a:solidFill>
                  <a:srgbClr val="C8D6E5"/>
                </a:solidFill>
              </a:rPr>
              <a:t>&amp; lead time</a:t>
            </a:r>
            <a:endParaRPr lang="en-US" sz="850" dirty="0"/>
          </a:p>
        </p:txBody>
      </p:sp>
      <p:sp>
        <p:nvSpPr>
          <p:cNvPr id="27" name="Shape 23"/>
          <p:cNvSpPr/>
          <p:nvPr/>
        </p:nvSpPr>
        <p:spPr>
          <a:xfrm>
            <a:off x="164592" y="2816352"/>
            <a:ext cx="1481328" cy="402336"/>
          </a:xfrm>
          <a:prstGeom prst="rect">
            <a:avLst/>
          </a:prstGeom>
          <a:solidFill>
            <a:srgbClr val="E0F5F2">
              <a:alpha val="18000"/>
            </a:srgbClr>
          </a:solidFill>
          <a:ln w="6350">
            <a:solidFill>
              <a:srgbClr val="0D9B8A"/>
            </a:solidFill>
            <a:prstDash val="solid"/>
          </a:ln>
        </p:spPr>
      </p:sp>
      <p:sp>
        <p:nvSpPr>
          <p:cNvPr id="28" name="Text 24"/>
          <p:cNvSpPr/>
          <p:nvPr/>
        </p:nvSpPr>
        <p:spPr>
          <a:xfrm>
            <a:off x="164592" y="2816352"/>
            <a:ext cx="1481328" cy="402336"/>
          </a:xfrm>
          <a:prstGeom prst="rect">
            <a:avLst/>
          </a:prstGeom>
          <a:noFill/>
          <a:ln/>
        </p:spPr>
        <p:txBody>
          <a:bodyPr wrap="square" lIns="25400" tIns="25400" rIns="25400" bIns="25400" rtlCol="0" anchor="ctr"/>
          <a:lstStyle/>
          <a:p>
            <a:pPr algn="ctr" indent="0" marL="0">
              <a:buNone/>
            </a:pPr>
            <a:r>
              <a:rPr lang="en-US" sz="850" dirty="0">
                <a:solidFill>
                  <a:srgbClr val="C8D6E5"/>
                </a:solidFill>
              </a:rPr>
              <a:t>Dispensing rate</a:t>
            </a:r>
            <a:endParaRPr lang="en-US" sz="850" dirty="0"/>
          </a:p>
          <a:p>
            <a:pPr algn="ctr" indent="0" marL="0">
              <a:buNone/>
            </a:pPr>
            <a:r>
              <a:rPr lang="en-US" sz="850" dirty="0">
                <a:solidFill>
                  <a:srgbClr val="C8D6E5"/>
                </a:solidFill>
              </a:rPr>
              <a:t>per drug/day</a:t>
            </a:r>
            <a:endParaRPr lang="en-US" sz="850" dirty="0"/>
          </a:p>
        </p:txBody>
      </p:sp>
      <p:sp>
        <p:nvSpPr>
          <p:cNvPr id="29" name="Shape 25"/>
          <p:cNvSpPr/>
          <p:nvPr/>
        </p:nvSpPr>
        <p:spPr>
          <a:xfrm>
            <a:off x="164592" y="3273552"/>
            <a:ext cx="1481328" cy="402336"/>
          </a:xfrm>
          <a:prstGeom prst="rect">
            <a:avLst/>
          </a:prstGeom>
          <a:solidFill>
            <a:srgbClr val="E0F5F2">
              <a:alpha val="18000"/>
            </a:srgbClr>
          </a:solidFill>
          <a:ln w="6350">
            <a:solidFill>
              <a:srgbClr val="0D9B8A"/>
            </a:solidFill>
            <a:prstDash val="solid"/>
          </a:ln>
        </p:spPr>
      </p:sp>
      <p:sp>
        <p:nvSpPr>
          <p:cNvPr id="30" name="Text 26"/>
          <p:cNvSpPr/>
          <p:nvPr/>
        </p:nvSpPr>
        <p:spPr>
          <a:xfrm>
            <a:off x="164592" y="3273552"/>
            <a:ext cx="1481328" cy="402336"/>
          </a:xfrm>
          <a:prstGeom prst="rect">
            <a:avLst/>
          </a:prstGeom>
          <a:noFill/>
          <a:ln/>
        </p:spPr>
        <p:txBody>
          <a:bodyPr wrap="square" lIns="25400" tIns="25400" rIns="25400" bIns="25400" rtlCol="0" anchor="ctr"/>
          <a:lstStyle/>
          <a:p>
            <a:pPr algn="ctr" indent="0" marL="0">
              <a:buNone/>
            </a:pPr>
            <a:r>
              <a:rPr lang="en-US" sz="850" dirty="0">
                <a:solidFill>
                  <a:srgbClr val="C8D6E5"/>
                </a:solidFill>
              </a:rPr>
              <a:t>Supplier ID</a:t>
            </a:r>
            <a:endParaRPr lang="en-US" sz="850" dirty="0"/>
          </a:p>
          <a:p>
            <a:pPr algn="ctr" indent="0" marL="0">
              <a:buNone/>
            </a:pPr>
            <a:r>
              <a:rPr lang="en-US" sz="850" dirty="0">
                <a:solidFill>
                  <a:srgbClr val="C8D6E5"/>
                </a:solidFill>
              </a:rPr>
              <a:t>&amp; price/unit</a:t>
            </a:r>
            <a:endParaRPr lang="en-US" sz="850" dirty="0"/>
          </a:p>
        </p:txBody>
      </p:sp>
      <p:sp>
        <p:nvSpPr>
          <p:cNvPr id="31" name="Shape 27"/>
          <p:cNvSpPr/>
          <p:nvPr/>
        </p:nvSpPr>
        <p:spPr>
          <a:xfrm>
            <a:off x="164592" y="3730752"/>
            <a:ext cx="1481328" cy="402336"/>
          </a:xfrm>
          <a:prstGeom prst="rect">
            <a:avLst/>
          </a:prstGeom>
          <a:solidFill>
            <a:srgbClr val="E0F5F2">
              <a:alpha val="18000"/>
            </a:srgbClr>
          </a:solidFill>
          <a:ln w="6350">
            <a:solidFill>
              <a:srgbClr val="0D9B8A"/>
            </a:solidFill>
            <a:prstDash val="solid"/>
          </a:ln>
        </p:spPr>
      </p:sp>
      <p:sp>
        <p:nvSpPr>
          <p:cNvPr id="32" name="Text 28"/>
          <p:cNvSpPr/>
          <p:nvPr/>
        </p:nvSpPr>
        <p:spPr>
          <a:xfrm>
            <a:off x="164592" y="3730752"/>
            <a:ext cx="1481328" cy="402336"/>
          </a:xfrm>
          <a:prstGeom prst="rect">
            <a:avLst/>
          </a:prstGeom>
          <a:noFill/>
          <a:ln/>
        </p:spPr>
        <p:txBody>
          <a:bodyPr wrap="square" lIns="25400" tIns="25400" rIns="25400" bIns="25400" rtlCol="0" anchor="ctr"/>
          <a:lstStyle/>
          <a:p>
            <a:pPr algn="ctr" indent="0" marL="0">
              <a:buNone/>
            </a:pPr>
            <a:r>
              <a:rPr lang="en-US" sz="850" dirty="0">
                <a:solidFill>
                  <a:srgbClr val="C8D6E5"/>
                </a:solidFill>
              </a:rPr>
              <a:t>Historical</a:t>
            </a:r>
            <a:endParaRPr lang="en-US" sz="850" dirty="0"/>
          </a:p>
          <a:p>
            <a:pPr algn="ctr" indent="0" marL="0">
              <a:buNone/>
            </a:pPr>
            <a:r>
              <a:rPr lang="en-US" sz="850" dirty="0">
                <a:solidFill>
                  <a:srgbClr val="C8D6E5"/>
                </a:solidFill>
              </a:rPr>
              <a:t>stockout events</a:t>
            </a:r>
            <a:endParaRPr lang="en-US" sz="850" dirty="0"/>
          </a:p>
        </p:txBody>
      </p:sp>
      <p:sp>
        <p:nvSpPr>
          <p:cNvPr id="33" name="Shape 29"/>
          <p:cNvSpPr/>
          <p:nvPr/>
        </p:nvSpPr>
        <p:spPr>
          <a:xfrm>
            <a:off x="164592" y="4187952"/>
            <a:ext cx="1481328" cy="402336"/>
          </a:xfrm>
          <a:prstGeom prst="rect">
            <a:avLst/>
          </a:prstGeom>
          <a:solidFill>
            <a:srgbClr val="E0F5F2">
              <a:alpha val="18000"/>
            </a:srgbClr>
          </a:solidFill>
          <a:ln w="6350">
            <a:solidFill>
              <a:srgbClr val="0D9B8A"/>
            </a:solidFill>
            <a:prstDash val="solid"/>
          </a:ln>
        </p:spPr>
      </p:sp>
      <p:sp>
        <p:nvSpPr>
          <p:cNvPr id="34" name="Text 30"/>
          <p:cNvSpPr/>
          <p:nvPr/>
        </p:nvSpPr>
        <p:spPr>
          <a:xfrm>
            <a:off x="164592" y="4187952"/>
            <a:ext cx="1481328" cy="402336"/>
          </a:xfrm>
          <a:prstGeom prst="rect">
            <a:avLst/>
          </a:prstGeom>
          <a:noFill/>
          <a:ln/>
        </p:spPr>
        <p:txBody>
          <a:bodyPr wrap="square" lIns="25400" tIns="25400" rIns="25400" bIns="25400" rtlCol="0" anchor="ctr"/>
          <a:lstStyle/>
          <a:p>
            <a:pPr algn="ctr" indent="0" marL="0">
              <a:buNone/>
            </a:pPr>
            <a:r>
              <a:rPr lang="en-US" sz="850" dirty="0">
                <a:solidFill>
                  <a:srgbClr val="C8D6E5"/>
                </a:solidFill>
              </a:rPr>
              <a:t>External: FDA</a:t>
            </a:r>
            <a:endParaRPr lang="en-US" sz="850" dirty="0"/>
          </a:p>
          <a:p>
            <a:pPr algn="ctr" indent="0" marL="0">
              <a:buNone/>
            </a:pPr>
            <a:r>
              <a:rPr lang="en-US" sz="850" dirty="0">
                <a:solidFill>
                  <a:srgbClr val="C8D6E5"/>
                </a:solidFill>
              </a:rPr>
              <a:t>shortage signals</a:t>
            </a:r>
            <a:endParaRPr lang="en-US" sz="850" dirty="0"/>
          </a:p>
        </p:txBody>
      </p:sp>
      <p:sp>
        <p:nvSpPr>
          <p:cNvPr id="35" name="Shape 31"/>
          <p:cNvSpPr/>
          <p:nvPr/>
        </p:nvSpPr>
        <p:spPr>
          <a:xfrm>
            <a:off x="1810512" y="1115568"/>
            <a:ext cx="1755648" cy="3657600"/>
          </a:xfrm>
          <a:prstGeom prst="rect">
            <a:avLst/>
          </a:prstGeom>
          <a:solidFill>
            <a:srgbClr val="112240"/>
          </a:solidFill>
          <a:ln w="19050">
            <a:solidFill>
              <a:srgbClr val="2E86DE"/>
            </a:solidFill>
            <a:prstDash val="solid"/>
          </a:ln>
        </p:spPr>
      </p:sp>
      <p:sp>
        <p:nvSpPr>
          <p:cNvPr id="36" name="Shape 32"/>
          <p:cNvSpPr/>
          <p:nvPr/>
        </p:nvSpPr>
        <p:spPr>
          <a:xfrm>
            <a:off x="1810512" y="1115568"/>
            <a:ext cx="1755648" cy="274320"/>
          </a:xfrm>
          <a:prstGeom prst="rect">
            <a:avLst/>
          </a:prstGeom>
          <a:solidFill>
            <a:srgbClr val="2E86DE"/>
          </a:solidFill>
          <a:ln w="12700">
            <a:solidFill>
              <a:srgbClr val="2E86DE"/>
            </a:solidFill>
            <a:prstDash val="solid"/>
          </a:ln>
        </p:spPr>
      </p:sp>
      <p:pic>
        <p:nvPicPr>
          <p:cNvPr id="37" name="Image 2" descr="preencoded.png">    </p:cNvPr>
          <p:cNvPicPr>
            <a:picLocks noChangeAspect="1"/>
          </p:cNvPicPr>
          <p:nvPr/>
        </p:nvPicPr>
        <p:blipFill>
          <a:blip r:embed="rId3"/>
          <a:stretch>
            <a:fillRect/>
          </a:stretch>
        </p:blipFill>
        <p:spPr>
          <a:xfrm>
            <a:off x="1901952" y="1143000"/>
            <a:ext cx="201168" cy="201168"/>
          </a:xfrm>
          <a:prstGeom prst="rect">
            <a:avLst/>
          </a:prstGeom>
        </p:spPr>
      </p:pic>
      <p:sp>
        <p:nvSpPr>
          <p:cNvPr id="38" name="Text 33"/>
          <p:cNvSpPr/>
          <p:nvPr/>
        </p:nvSpPr>
        <p:spPr>
          <a:xfrm>
            <a:off x="1810512" y="1115568"/>
            <a:ext cx="1755648" cy="274320"/>
          </a:xfrm>
          <a:prstGeom prst="rect">
            <a:avLst/>
          </a:prstGeom>
          <a:noFill/>
          <a:ln/>
        </p:spPr>
        <p:txBody>
          <a:bodyPr wrap="square" lIns="0" tIns="0" rIns="0" bIns="0" rtlCol="0" anchor="ctr"/>
          <a:lstStyle/>
          <a:p>
            <a:pPr algn="ctr" indent="0" marL="0">
              <a:buNone/>
            </a:pPr>
            <a:r>
              <a:rPr lang="en-US" sz="800" b="1" dirty="0">
                <a:solidFill>
                  <a:srgbClr val="FFFFFF"/>
                </a:solidFill>
              </a:rPr>
              <a:t>FEATURE ENG.</a:t>
            </a:r>
            <a:endParaRPr lang="en-US" sz="800" dirty="0"/>
          </a:p>
        </p:txBody>
      </p:sp>
      <p:sp>
        <p:nvSpPr>
          <p:cNvPr id="39" name="Text 34"/>
          <p:cNvSpPr/>
          <p:nvPr/>
        </p:nvSpPr>
        <p:spPr>
          <a:xfrm>
            <a:off x="1874520" y="1444752"/>
            <a:ext cx="1627632" cy="201168"/>
          </a:xfrm>
          <a:prstGeom prst="rect">
            <a:avLst/>
          </a:prstGeom>
          <a:noFill/>
          <a:ln/>
        </p:spPr>
        <p:txBody>
          <a:bodyPr wrap="square" lIns="0" tIns="0" rIns="0" bIns="0" rtlCol="0" anchor="ctr"/>
          <a:lstStyle/>
          <a:p>
            <a:pPr indent="0" marL="0">
              <a:buNone/>
            </a:pPr>
            <a:r>
              <a:rPr lang="en-US" sz="750" b="1" dirty="0">
                <a:solidFill>
                  <a:srgbClr val="2E86DE"/>
                </a:solidFill>
              </a:rPr>
              <a:t>Static Features</a:t>
            </a:r>
            <a:endParaRPr lang="en-US" sz="750" dirty="0"/>
          </a:p>
        </p:txBody>
      </p:sp>
      <p:sp>
        <p:nvSpPr>
          <p:cNvPr id="40" name="Shape 35"/>
          <p:cNvSpPr/>
          <p:nvPr/>
        </p:nvSpPr>
        <p:spPr>
          <a:xfrm>
            <a:off x="1874520" y="1645920"/>
            <a:ext cx="1627632" cy="246888"/>
          </a:xfrm>
          <a:prstGeom prst="rect">
            <a:avLst/>
          </a:prstGeom>
          <a:solidFill>
            <a:srgbClr val="1E5FBF">
              <a:alpha val="18000"/>
            </a:srgbClr>
          </a:solidFill>
          <a:ln w="5080">
            <a:solidFill>
              <a:srgbClr val="2E86DE"/>
            </a:solidFill>
            <a:prstDash val="solid"/>
          </a:ln>
        </p:spPr>
      </p:sp>
      <p:sp>
        <p:nvSpPr>
          <p:cNvPr id="41" name="Text 36"/>
          <p:cNvSpPr/>
          <p:nvPr/>
        </p:nvSpPr>
        <p:spPr>
          <a:xfrm>
            <a:off x="1901952" y="1645920"/>
            <a:ext cx="1572768" cy="246888"/>
          </a:xfrm>
          <a:prstGeom prst="rect">
            <a:avLst/>
          </a:prstGeom>
          <a:noFill/>
          <a:ln/>
        </p:spPr>
        <p:txBody>
          <a:bodyPr wrap="square" lIns="12700" tIns="12700" rIns="12700" bIns="12700" rtlCol="0" anchor="ctr"/>
          <a:lstStyle/>
          <a:p>
            <a:pPr indent="0" marL="0">
              <a:buNone/>
            </a:pPr>
            <a:r>
              <a:rPr lang="en-US" sz="800" dirty="0">
                <a:solidFill>
                  <a:srgbClr val="C8D6E5"/>
                </a:solidFill>
              </a:rPr>
              <a:t>Drug category</a:t>
            </a:r>
            <a:endParaRPr lang="en-US" sz="800" dirty="0"/>
          </a:p>
        </p:txBody>
      </p:sp>
      <p:sp>
        <p:nvSpPr>
          <p:cNvPr id="42" name="Shape 37"/>
          <p:cNvSpPr/>
          <p:nvPr/>
        </p:nvSpPr>
        <p:spPr>
          <a:xfrm>
            <a:off x="1874520" y="1901952"/>
            <a:ext cx="1627632" cy="246888"/>
          </a:xfrm>
          <a:prstGeom prst="rect">
            <a:avLst/>
          </a:prstGeom>
          <a:solidFill>
            <a:srgbClr val="1E5FBF">
              <a:alpha val="18000"/>
            </a:srgbClr>
          </a:solidFill>
          <a:ln w="5080">
            <a:solidFill>
              <a:srgbClr val="2E86DE"/>
            </a:solidFill>
            <a:prstDash val="solid"/>
          </a:ln>
        </p:spPr>
      </p:sp>
      <p:sp>
        <p:nvSpPr>
          <p:cNvPr id="43" name="Text 38"/>
          <p:cNvSpPr/>
          <p:nvPr/>
        </p:nvSpPr>
        <p:spPr>
          <a:xfrm>
            <a:off x="1901952" y="1901952"/>
            <a:ext cx="1572768" cy="246888"/>
          </a:xfrm>
          <a:prstGeom prst="rect">
            <a:avLst/>
          </a:prstGeom>
          <a:noFill/>
          <a:ln/>
        </p:spPr>
        <p:txBody>
          <a:bodyPr wrap="square" lIns="12700" tIns="12700" rIns="12700" bIns="12700" rtlCol="0" anchor="ctr"/>
          <a:lstStyle/>
          <a:p>
            <a:pPr indent="0" marL="0">
              <a:buNone/>
            </a:pPr>
            <a:r>
              <a:rPr lang="en-US" sz="800" dirty="0">
                <a:solidFill>
                  <a:srgbClr val="C8D6E5"/>
                </a:solidFill>
              </a:rPr>
              <a:t>Criticality tier</a:t>
            </a:r>
            <a:endParaRPr lang="en-US" sz="800" dirty="0"/>
          </a:p>
        </p:txBody>
      </p:sp>
      <p:sp>
        <p:nvSpPr>
          <p:cNvPr id="44" name="Shape 39"/>
          <p:cNvSpPr/>
          <p:nvPr/>
        </p:nvSpPr>
        <p:spPr>
          <a:xfrm>
            <a:off x="1874520" y="2157984"/>
            <a:ext cx="1627632" cy="246888"/>
          </a:xfrm>
          <a:prstGeom prst="rect">
            <a:avLst/>
          </a:prstGeom>
          <a:solidFill>
            <a:srgbClr val="1E5FBF">
              <a:alpha val="18000"/>
            </a:srgbClr>
          </a:solidFill>
          <a:ln w="5080">
            <a:solidFill>
              <a:srgbClr val="2E86DE"/>
            </a:solidFill>
            <a:prstDash val="solid"/>
          </a:ln>
        </p:spPr>
      </p:sp>
      <p:sp>
        <p:nvSpPr>
          <p:cNvPr id="45" name="Text 40"/>
          <p:cNvSpPr/>
          <p:nvPr/>
        </p:nvSpPr>
        <p:spPr>
          <a:xfrm>
            <a:off x="1901952" y="2157984"/>
            <a:ext cx="1572768" cy="246888"/>
          </a:xfrm>
          <a:prstGeom prst="rect">
            <a:avLst/>
          </a:prstGeom>
          <a:noFill/>
          <a:ln/>
        </p:spPr>
        <p:txBody>
          <a:bodyPr wrap="square" lIns="12700" tIns="12700" rIns="12700" bIns="12700" rtlCol="0" anchor="ctr"/>
          <a:lstStyle/>
          <a:p>
            <a:pPr indent="0" marL="0">
              <a:buNone/>
            </a:pPr>
            <a:r>
              <a:rPr lang="en-US" sz="800" dirty="0">
                <a:solidFill>
                  <a:srgbClr val="C8D6E5"/>
                </a:solidFill>
              </a:rPr>
              <a:t>Supplier ID embed</a:t>
            </a:r>
            <a:endParaRPr lang="en-US" sz="800" dirty="0"/>
          </a:p>
        </p:txBody>
      </p:sp>
      <p:sp>
        <p:nvSpPr>
          <p:cNvPr id="46" name="Shape 41"/>
          <p:cNvSpPr/>
          <p:nvPr/>
        </p:nvSpPr>
        <p:spPr>
          <a:xfrm>
            <a:off x="1874520" y="2414016"/>
            <a:ext cx="1627632" cy="246888"/>
          </a:xfrm>
          <a:prstGeom prst="rect">
            <a:avLst/>
          </a:prstGeom>
          <a:solidFill>
            <a:srgbClr val="1E5FBF">
              <a:alpha val="18000"/>
            </a:srgbClr>
          </a:solidFill>
          <a:ln w="5080">
            <a:solidFill>
              <a:srgbClr val="2E86DE"/>
            </a:solidFill>
            <a:prstDash val="solid"/>
          </a:ln>
        </p:spPr>
      </p:sp>
      <p:sp>
        <p:nvSpPr>
          <p:cNvPr id="47" name="Text 42"/>
          <p:cNvSpPr/>
          <p:nvPr/>
        </p:nvSpPr>
        <p:spPr>
          <a:xfrm>
            <a:off x="1901952" y="2414016"/>
            <a:ext cx="1572768" cy="246888"/>
          </a:xfrm>
          <a:prstGeom prst="rect">
            <a:avLst/>
          </a:prstGeom>
          <a:noFill/>
          <a:ln/>
        </p:spPr>
        <p:txBody>
          <a:bodyPr wrap="square" lIns="12700" tIns="12700" rIns="12700" bIns="12700" rtlCol="0" anchor="ctr"/>
          <a:lstStyle/>
          <a:p>
            <a:pPr indent="0" marL="0">
              <a:buNone/>
            </a:pPr>
            <a:r>
              <a:rPr lang="en-US" sz="800" dirty="0">
                <a:solidFill>
                  <a:srgbClr val="C8D6E5"/>
                </a:solidFill>
              </a:rPr>
              <a:t>NDC code embed</a:t>
            </a:r>
            <a:endParaRPr lang="en-US" sz="800" dirty="0"/>
          </a:p>
        </p:txBody>
      </p:sp>
      <p:sp>
        <p:nvSpPr>
          <p:cNvPr id="48" name="Text 43"/>
          <p:cNvSpPr/>
          <p:nvPr/>
        </p:nvSpPr>
        <p:spPr>
          <a:xfrm>
            <a:off x="1874520" y="2724912"/>
            <a:ext cx="1627632" cy="201168"/>
          </a:xfrm>
          <a:prstGeom prst="rect">
            <a:avLst/>
          </a:prstGeom>
          <a:noFill/>
          <a:ln/>
        </p:spPr>
        <p:txBody>
          <a:bodyPr wrap="square" lIns="0" tIns="0" rIns="0" bIns="0" rtlCol="0" anchor="ctr"/>
          <a:lstStyle/>
          <a:p>
            <a:pPr indent="0" marL="0">
              <a:buNone/>
            </a:pPr>
            <a:r>
              <a:rPr lang="en-US" sz="750" b="1" dirty="0">
                <a:solidFill>
                  <a:srgbClr val="2E86DE"/>
                </a:solidFill>
              </a:rPr>
              <a:t>Known Future</a:t>
            </a:r>
            <a:endParaRPr lang="en-US" sz="750" dirty="0"/>
          </a:p>
        </p:txBody>
      </p:sp>
      <p:sp>
        <p:nvSpPr>
          <p:cNvPr id="49" name="Shape 44"/>
          <p:cNvSpPr/>
          <p:nvPr/>
        </p:nvSpPr>
        <p:spPr>
          <a:xfrm>
            <a:off x="1874520" y="2926080"/>
            <a:ext cx="1627632" cy="246888"/>
          </a:xfrm>
          <a:prstGeom prst="rect">
            <a:avLst/>
          </a:prstGeom>
          <a:solidFill>
            <a:srgbClr val="1E5FBF">
              <a:alpha val="18000"/>
            </a:srgbClr>
          </a:solidFill>
          <a:ln w="5080">
            <a:solidFill>
              <a:srgbClr val="2E86DE"/>
            </a:solidFill>
            <a:prstDash val="solid"/>
          </a:ln>
        </p:spPr>
      </p:sp>
      <p:sp>
        <p:nvSpPr>
          <p:cNvPr id="50" name="Text 45"/>
          <p:cNvSpPr/>
          <p:nvPr/>
        </p:nvSpPr>
        <p:spPr>
          <a:xfrm>
            <a:off x="1901952" y="2926080"/>
            <a:ext cx="1572768" cy="246888"/>
          </a:xfrm>
          <a:prstGeom prst="rect">
            <a:avLst/>
          </a:prstGeom>
          <a:noFill/>
          <a:ln/>
        </p:spPr>
        <p:txBody>
          <a:bodyPr wrap="square" lIns="12700" tIns="12700" rIns="12700" bIns="12700" rtlCol="0" anchor="ctr"/>
          <a:lstStyle/>
          <a:p>
            <a:pPr indent="0" marL="0">
              <a:buNone/>
            </a:pPr>
            <a:r>
              <a:rPr lang="en-US" sz="800" dirty="0">
                <a:solidFill>
                  <a:srgbClr val="C8D6E5"/>
                </a:solidFill>
              </a:rPr>
              <a:t>Festival calendar</a:t>
            </a:r>
            <a:endParaRPr lang="en-US" sz="800" dirty="0"/>
          </a:p>
        </p:txBody>
      </p:sp>
      <p:sp>
        <p:nvSpPr>
          <p:cNvPr id="51" name="Shape 46"/>
          <p:cNvSpPr/>
          <p:nvPr/>
        </p:nvSpPr>
        <p:spPr>
          <a:xfrm>
            <a:off x="1874520" y="3182112"/>
            <a:ext cx="1627632" cy="246888"/>
          </a:xfrm>
          <a:prstGeom prst="rect">
            <a:avLst/>
          </a:prstGeom>
          <a:solidFill>
            <a:srgbClr val="1E5FBF">
              <a:alpha val="18000"/>
            </a:srgbClr>
          </a:solidFill>
          <a:ln w="5080">
            <a:solidFill>
              <a:srgbClr val="2E86DE"/>
            </a:solidFill>
            <a:prstDash val="solid"/>
          </a:ln>
        </p:spPr>
      </p:sp>
      <p:sp>
        <p:nvSpPr>
          <p:cNvPr id="52" name="Text 47"/>
          <p:cNvSpPr/>
          <p:nvPr/>
        </p:nvSpPr>
        <p:spPr>
          <a:xfrm>
            <a:off x="1901952" y="3182112"/>
            <a:ext cx="1572768" cy="246888"/>
          </a:xfrm>
          <a:prstGeom prst="rect">
            <a:avLst/>
          </a:prstGeom>
          <a:noFill/>
          <a:ln/>
        </p:spPr>
        <p:txBody>
          <a:bodyPr wrap="square" lIns="12700" tIns="12700" rIns="12700" bIns="12700" rtlCol="0" anchor="ctr"/>
          <a:lstStyle/>
          <a:p>
            <a:pPr indent="0" marL="0">
              <a:buNone/>
            </a:pPr>
            <a:r>
              <a:rPr lang="en-US" sz="800" dirty="0">
                <a:solidFill>
                  <a:srgbClr val="C8D6E5"/>
                </a:solidFill>
              </a:rPr>
              <a:t>Day/month/season</a:t>
            </a:r>
            <a:endParaRPr lang="en-US" sz="800" dirty="0"/>
          </a:p>
        </p:txBody>
      </p:sp>
      <p:sp>
        <p:nvSpPr>
          <p:cNvPr id="53" name="Shape 48"/>
          <p:cNvSpPr/>
          <p:nvPr/>
        </p:nvSpPr>
        <p:spPr>
          <a:xfrm>
            <a:off x="1874520" y="3438144"/>
            <a:ext cx="1627632" cy="246888"/>
          </a:xfrm>
          <a:prstGeom prst="rect">
            <a:avLst/>
          </a:prstGeom>
          <a:solidFill>
            <a:srgbClr val="1E5FBF">
              <a:alpha val="18000"/>
            </a:srgbClr>
          </a:solidFill>
          <a:ln w="5080">
            <a:solidFill>
              <a:srgbClr val="2E86DE"/>
            </a:solidFill>
            <a:prstDash val="solid"/>
          </a:ln>
        </p:spPr>
      </p:sp>
      <p:sp>
        <p:nvSpPr>
          <p:cNvPr id="54" name="Text 49"/>
          <p:cNvSpPr/>
          <p:nvPr/>
        </p:nvSpPr>
        <p:spPr>
          <a:xfrm>
            <a:off x="1901952" y="3438144"/>
            <a:ext cx="1572768" cy="246888"/>
          </a:xfrm>
          <a:prstGeom prst="rect">
            <a:avLst/>
          </a:prstGeom>
          <a:noFill/>
          <a:ln/>
        </p:spPr>
        <p:txBody>
          <a:bodyPr wrap="square" lIns="12700" tIns="12700" rIns="12700" bIns="12700" rtlCol="0" anchor="ctr"/>
          <a:lstStyle/>
          <a:p>
            <a:pPr indent="0" marL="0">
              <a:buNone/>
            </a:pPr>
            <a:r>
              <a:rPr lang="en-US" sz="800" dirty="0">
                <a:solidFill>
                  <a:srgbClr val="C8D6E5"/>
                </a:solidFill>
              </a:rPr>
              <a:t>Procurement cycle</a:t>
            </a:r>
            <a:endParaRPr lang="en-US" sz="800" dirty="0"/>
          </a:p>
        </p:txBody>
      </p:sp>
      <p:sp>
        <p:nvSpPr>
          <p:cNvPr id="55" name="Shape 50"/>
          <p:cNvSpPr/>
          <p:nvPr/>
        </p:nvSpPr>
        <p:spPr>
          <a:xfrm>
            <a:off x="1874520" y="3694176"/>
            <a:ext cx="1627632" cy="246888"/>
          </a:xfrm>
          <a:prstGeom prst="rect">
            <a:avLst/>
          </a:prstGeom>
          <a:solidFill>
            <a:srgbClr val="1E5FBF">
              <a:alpha val="18000"/>
            </a:srgbClr>
          </a:solidFill>
          <a:ln w="5080">
            <a:solidFill>
              <a:srgbClr val="2E86DE"/>
            </a:solidFill>
            <a:prstDash val="solid"/>
          </a:ln>
        </p:spPr>
      </p:sp>
      <p:sp>
        <p:nvSpPr>
          <p:cNvPr id="56" name="Text 51"/>
          <p:cNvSpPr/>
          <p:nvPr/>
        </p:nvSpPr>
        <p:spPr>
          <a:xfrm>
            <a:off x="1901952" y="3694176"/>
            <a:ext cx="1572768" cy="246888"/>
          </a:xfrm>
          <a:prstGeom prst="rect">
            <a:avLst/>
          </a:prstGeom>
          <a:noFill/>
          <a:ln/>
        </p:spPr>
        <p:txBody>
          <a:bodyPr wrap="square" lIns="12700" tIns="12700" rIns="12700" bIns="12700" rtlCol="0" anchor="ctr"/>
          <a:lstStyle/>
          <a:p>
            <a:pPr indent="0" marL="0">
              <a:buNone/>
            </a:pPr>
            <a:r>
              <a:rPr lang="en-US" sz="800" dirty="0">
                <a:solidFill>
                  <a:srgbClr val="C8D6E5"/>
                </a:solidFill>
              </a:rPr>
              <a:t>Scheduled deliveries</a:t>
            </a:r>
            <a:endParaRPr lang="en-US" sz="800" dirty="0"/>
          </a:p>
        </p:txBody>
      </p:sp>
      <p:sp>
        <p:nvSpPr>
          <p:cNvPr id="57" name="Text 52"/>
          <p:cNvSpPr/>
          <p:nvPr/>
        </p:nvSpPr>
        <p:spPr>
          <a:xfrm>
            <a:off x="1874520" y="4005072"/>
            <a:ext cx="1627632" cy="201168"/>
          </a:xfrm>
          <a:prstGeom prst="rect">
            <a:avLst/>
          </a:prstGeom>
          <a:noFill/>
          <a:ln/>
        </p:spPr>
        <p:txBody>
          <a:bodyPr wrap="square" lIns="0" tIns="0" rIns="0" bIns="0" rtlCol="0" anchor="ctr"/>
          <a:lstStyle/>
          <a:p>
            <a:pPr indent="0" marL="0">
              <a:buNone/>
            </a:pPr>
            <a:r>
              <a:rPr lang="en-US" sz="750" b="1" dirty="0">
                <a:solidFill>
                  <a:srgbClr val="2E86DE"/>
                </a:solidFill>
              </a:rPr>
              <a:t>Observed Past</a:t>
            </a:r>
            <a:endParaRPr lang="en-US" sz="750" dirty="0"/>
          </a:p>
        </p:txBody>
      </p:sp>
      <p:sp>
        <p:nvSpPr>
          <p:cNvPr id="58" name="Shape 53"/>
          <p:cNvSpPr/>
          <p:nvPr/>
        </p:nvSpPr>
        <p:spPr>
          <a:xfrm>
            <a:off x="1874520" y="4206240"/>
            <a:ext cx="1627632" cy="246888"/>
          </a:xfrm>
          <a:prstGeom prst="rect">
            <a:avLst/>
          </a:prstGeom>
          <a:solidFill>
            <a:srgbClr val="1E5FBF">
              <a:alpha val="18000"/>
            </a:srgbClr>
          </a:solidFill>
          <a:ln w="5080">
            <a:solidFill>
              <a:srgbClr val="2E86DE"/>
            </a:solidFill>
            <a:prstDash val="solid"/>
          </a:ln>
        </p:spPr>
      </p:sp>
      <p:sp>
        <p:nvSpPr>
          <p:cNvPr id="59" name="Text 54"/>
          <p:cNvSpPr/>
          <p:nvPr/>
        </p:nvSpPr>
        <p:spPr>
          <a:xfrm>
            <a:off x="1901952" y="4206240"/>
            <a:ext cx="1572768" cy="246888"/>
          </a:xfrm>
          <a:prstGeom prst="rect">
            <a:avLst/>
          </a:prstGeom>
          <a:noFill/>
          <a:ln/>
        </p:spPr>
        <p:txBody>
          <a:bodyPr wrap="square" lIns="12700" tIns="12700" rIns="12700" bIns="12700" rtlCol="0" anchor="ctr"/>
          <a:lstStyle/>
          <a:p>
            <a:pPr indent="0" marL="0">
              <a:buNone/>
            </a:pPr>
            <a:r>
              <a:rPr lang="en-US" sz="800" dirty="0">
                <a:solidFill>
                  <a:srgbClr val="C8D6E5"/>
                </a:solidFill>
              </a:rPr>
              <a:t>Daily dispense rate</a:t>
            </a:r>
            <a:endParaRPr lang="en-US" sz="800" dirty="0"/>
          </a:p>
        </p:txBody>
      </p:sp>
      <p:sp>
        <p:nvSpPr>
          <p:cNvPr id="60" name="Shape 55"/>
          <p:cNvSpPr/>
          <p:nvPr/>
        </p:nvSpPr>
        <p:spPr>
          <a:xfrm>
            <a:off x="1874520" y="4462272"/>
            <a:ext cx="1627632" cy="246888"/>
          </a:xfrm>
          <a:prstGeom prst="rect">
            <a:avLst/>
          </a:prstGeom>
          <a:solidFill>
            <a:srgbClr val="1E5FBF">
              <a:alpha val="18000"/>
            </a:srgbClr>
          </a:solidFill>
          <a:ln w="5080">
            <a:solidFill>
              <a:srgbClr val="2E86DE"/>
            </a:solidFill>
            <a:prstDash val="solid"/>
          </a:ln>
        </p:spPr>
      </p:sp>
      <p:sp>
        <p:nvSpPr>
          <p:cNvPr id="61" name="Text 56"/>
          <p:cNvSpPr/>
          <p:nvPr/>
        </p:nvSpPr>
        <p:spPr>
          <a:xfrm>
            <a:off x="1901952" y="4462272"/>
            <a:ext cx="1572768" cy="246888"/>
          </a:xfrm>
          <a:prstGeom prst="rect">
            <a:avLst/>
          </a:prstGeom>
          <a:noFill/>
          <a:ln/>
        </p:spPr>
        <p:txBody>
          <a:bodyPr wrap="square" lIns="12700" tIns="12700" rIns="12700" bIns="12700" rtlCol="0" anchor="ctr"/>
          <a:lstStyle/>
          <a:p>
            <a:pPr indent="0" marL="0">
              <a:buNone/>
            </a:pPr>
            <a:r>
              <a:rPr lang="en-US" sz="800" dirty="0">
                <a:solidFill>
                  <a:srgbClr val="C8D6E5"/>
                </a:solidFill>
              </a:rPr>
              <a:t>Rolling demand avg</a:t>
            </a:r>
            <a:endParaRPr lang="en-US" sz="800" dirty="0"/>
          </a:p>
        </p:txBody>
      </p:sp>
      <p:sp>
        <p:nvSpPr>
          <p:cNvPr id="62" name="Shape 57"/>
          <p:cNvSpPr/>
          <p:nvPr/>
        </p:nvSpPr>
        <p:spPr>
          <a:xfrm>
            <a:off x="1874520" y="4718304"/>
            <a:ext cx="1627632" cy="246888"/>
          </a:xfrm>
          <a:prstGeom prst="rect">
            <a:avLst/>
          </a:prstGeom>
          <a:solidFill>
            <a:srgbClr val="1E5FBF">
              <a:alpha val="18000"/>
            </a:srgbClr>
          </a:solidFill>
          <a:ln w="5080">
            <a:solidFill>
              <a:srgbClr val="2E86DE"/>
            </a:solidFill>
            <a:prstDash val="solid"/>
          </a:ln>
        </p:spPr>
      </p:sp>
      <p:sp>
        <p:nvSpPr>
          <p:cNvPr id="63" name="Text 58"/>
          <p:cNvSpPr/>
          <p:nvPr/>
        </p:nvSpPr>
        <p:spPr>
          <a:xfrm>
            <a:off x="1901952" y="4718304"/>
            <a:ext cx="1572768" cy="246888"/>
          </a:xfrm>
          <a:prstGeom prst="rect">
            <a:avLst/>
          </a:prstGeom>
          <a:noFill/>
          <a:ln/>
        </p:spPr>
        <p:txBody>
          <a:bodyPr wrap="square" lIns="12700" tIns="12700" rIns="12700" bIns="12700" rtlCol="0" anchor="ctr"/>
          <a:lstStyle/>
          <a:p>
            <a:pPr indent="0" marL="0">
              <a:buNone/>
            </a:pPr>
            <a:r>
              <a:rPr lang="en-US" sz="800" dirty="0">
                <a:solidFill>
                  <a:srgbClr val="C8D6E5"/>
                </a:solidFill>
              </a:rPr>
              <a:t>Lead time actuals</a:t>
            </a:r>
            <a:endParaRPr lang="en-US" sz="800" dirty="0"/>
          </a:p>
        </p:txBody>
      </p:sp>
      <p:sp>
        <p:nvSpPr>
          <p:cNvPr id="64" name="Shape 59"/>
          <p:cNvSpPr/>
          <p:nvPr/>
        </p:nvSpPr>
        <p:spPr>
          <a:xfrm>
            <a:off x="1874520" y="4974336"/>
            <a:ext cx="1627632" cy="246888"/>
          </a:xfrm>
          <a:prstGeom prst="rect">
            <a:avLst/>
          </a:prstGeom>
          <a:solidFill>
            <a:srgbClr val="1E5FBF">
              <a:alpha val="18000"/>
            </a:srgbClr>
          </a:solidFill>
          <a:ln w="5080">
            <a:solidFill>
              <a:srgbClr val="2E86DE"/>
            </a:solidFill>
            <a:prstDash val="solid"/>
          </a:ln>
        </p:spPr>
      </p:sp>
      <p:sp>
        <p:nvSpPr>
          <p:cNvPr id="65" name="Text 60"/>
          <p:cNvSpPr/>
          <p:nvPr/>
        </p:nvSpPr>
        <p:spPr>
          <a:xfrm>
            <a:off x="1901952" y="4974336"/>
            <a:ext cx="1572768" cy="246888"/>
          </a:xfrm>
          <a:prstGeom prst="rect">
            <a:avLst/>
          </a:prstGeom>
          <a:noFill/>
          <a:ln/>
        </p:spPr>
        <p:txBody>
          <a:bodyPr wrap="square" lIns="12700" tIns="12700" rIns="12700" bIns="12700" rtlCol="0" anchor="ctr"/>
          <a:lstStyle/>
          <a:p>
            <a:pPr indent="0" marL="0">
              <a:buNone/>
            </a:pPr>
            <a:r>
              <a:rPr lang="en-US" sz="800" dirty="0">
                <a:solidFill>
                  <a:srgbClr val="C8D6E5"/>
                </a:solidFill>
              </a:rPr>
              <a:t>ERP stock level</a:t>
            </a:r>
            <a:endParaRPr lang="en-US" sz="800" dirty="0"/>
          </a:p>
        </p:txBody>
      </p:sp>
      <p:sp>
        <p:nvSpPr>
          <p:cNvPr id="66" name="Shape 61"/>
          <p:cNvSpPr/>
          <p:nvPr/>
        </p:nvSpPr>
        <p:spPr>
          <a:xfrm>
            <a:off x="3657600" y="1115568"/>
            <a:ext cx="2121408" cy="3657600"/>
          </a:xfrm>
          <a:prstGeom prst="rect">
            <a:avLst/>
          </a:prstGeom>
          <a:solidFill>
            <a:srgbClr val="112240"/>
          </a:solidFill>
          <a:ln w="19050">
            <a:solidFill>
              <a:srgbClr val="7B52AB"/>
            </a:solidFill>
            <a:prstDash val="solid"/>
          </a:ln>
        </p:spPr>
      </p:sp>
      <p:sp>
        <p:nvSpPr>
          <p:cNvPr id="67" name="Shape 62"/>
          <p:cNvSpPr/>
          <p:nvPr/>
        </p:nvSpPr>
        <p:spPr>
          <a:xfrm>
            <a:off x="3657600" y="1115568"/>
            <a:ext cx="2121408" cy="274320"/>
          </a:xfrm>
          <a:prstGeom prst="rect">
            <a:avLst/>
          </a:prstGeom>
          <a:solidFill>
            <a:srgbClr val="7B52AB"/>
          </a:solidFill>
          <a:ln w="12700">
            <a:solidFill>
              <a:srgbClr val="7B52AB"/>
            </a:solidFill>
            <a:prstDash val="solid"/>
          </a:ln>
        </p:spPr>
      </p:sp>
      <p:pic>
        <p:nvPicPr>
          <p:cNvPr id="68" name="Image 3" descr="preencoded.png">    </p:cNvPr>
          <p:cNvPicPr>
            <a:picLocks noChangeAspect="1"/>
          </p:cNvPicPr>
          <p:nvPr/>
        </p:nvPicPr>
        <p:blipFill>
          <a:blip r:embed="rId4"/>
          <a:stretch>
            <a:fillRect/>
          </a:stretch>
        </p:blipFill>
        <p:spPr>
          <a:xfrm>
            <a:off x="3749040" y="1143000"/>
            <a:ext cx="201168" cy="201168"/>
          </a:xfrm>
          <a:prstGeom prst="rect">
            <a:avLst/>
          </a:prstGeom>
        </p:spPr>
      </p:pic>
      <p:sp>
        <p:nvSpPr>
          <p:cNvPr id="69" name="Text 63"/>
          <p:cNvSpPr/>
          <p:nvPr/>
        </p:nvSpPr>
        <p:spPr>
          <a:xfrm>
            <a:off x="3657600" y="1115568"/>
            <a:ext cx="2121408" cy="274320"/>
          </a:xfrm>
          <a:prstGeom prst="rect">
            <a:avLst/>
          </a:prstGeom>
          <a:noFill/>
          <a:ln/>
        </p:spPr>
        <p:txBody>
          <a:bodyPr wrap="square" lIns="0" tIns="0" rIns="0" bIns="0" rtlCol="0" anchor="ctr"/>
          <a:lstStyle/>
          <a:p>
            <a:pPr algn="ctr" indent="0" marL="0">
              <a:buNone/>
            </a:pPr>
            <a:r>
              <a:rPr lang="en-US" sz="800" b="1" dirty="0">
                <a:solidFill>
                  <a:srgbClr val="FFFFFF"/>
                </a:solidFill>
              </a:rPr>
              <a:t>TFT MODEL</a:t>
            </a:r>
            <a:endParaRPr lang="en-US" sz="800" dirty="0"/>
          </a:p>
        </p:txBody>
      </p:sp>
      <p:sp>
        <p:nvSpPr>
          <p:cNvPr id="70" name="Shape 64"/>
          <p:cNvSpPr/>
          <p:nvPr/>
        </p:nvSpPr>
        <p:spPr>
          <a:xfrm>
            <a:off x="3730752" y="1444752"/>
            <a:ext cx="1975104" cy="493776"/>
          </a:xfrm>
          <a:prstGeom prst="rect">
            <a:avLst/>
          </a:prstGeom>
          <a:solidFill>
            <a:srgbClr val="5B2D8E">
              <a:alpha val="18000"/>
            </a:srgbClr>
          </a:solidFill>
          <a:ln w="6350">
            <a:solidFill>
              <a:srgbClr val="7B52AB"/>
            </a:solidFill>
            <a:prstDash val="solid"/>
          </a:ln>
        </p:spPr>
      </p:sp>
      <p:sp>
        <p:nvSpPr>
          <p:cNvPr id="71" name="Text 65"/>
          <p:cNvSpPr/>
          <p:nvPr/>
        </p:nvSpPr>
        <p:spPr>
          <a:xfrm>
            <a:off x="3749040" y="1463040"/>
            <a:ext cx="1005840" cy="256032"/>
          </a:xfrm>
          <a:prstGeom prst="rect">
            <a:avLst/>
          </a:prstGeom>
          <a:noFill/>
          <a:ln/>
        </p:spPr>
        <p:txBody>
          <a:bodyPr wrap="square" lIns="12700" tIns="12700" rIns="12700" bIns="12700" rtlCol="0" anchor="ctr"/>
          <a:lstStyle/>
          <a:p>
            <a:pPr indent="0" marL="0">
              <a:buNone/>
            </a:pPr>
            <a:r>
              <a:rPr lang="en-US" sz="750" b="1" dirty="0">
                <a:solidFill>
                  <a:srgbClr val="7B52AB"/>
                </a:solidFill>
              </a:rPr>
              <a:t>Variable Selection</a:t>
            </a:r>
            <a:endParaRPr lang="en-US" sz="750" dirty="0"/>
          </a:p>
          <a:p>
            <a:pPr indent="0" marL="0">
              <a:buNone/>
            </a:pPr>
            <a:r>
              <a:rPr lang="en-US" sz="750" b="1" dirty="0">
                <a:solidFill>
                  <a:srgbClr val="7B52AB"/>
                </a:solidFill>
              </a:rPr>
              <a:t>Networks</a:t>
            </a:r>
            <a:endParaRPr lang="en-US" sz="750" dirty="0"/>
          </a:p>
        </p:txBody>
      </p:sp>
      <p:sp>
        <p:nvSpPr>
          <p:cNvPr id="72" name="Text 66"/>
          <p:cNvSpPr/>
          <p:nvPr/>
        </p:nvSpPr>
        <p:spPr>
          <a:xfrm>
            <a:off x="3749040" y="1719072"/>
            <a:ext cx="1005840" cy="201168"/>
          </a:xfrm>
          <a:prstGeom prst="rect">
            <a:avLst/>
          </a:prstGeom>
          <a:noFill/>
          <a:ln/>
        </p:spPr>
        <p:txBody>
          <a:bodyPr wrap="square" lIns="12700" tIns="12700" rIns="12700" bIns="12700" rtlCol="0" anchor="ctr"/>
          <a:lstStyle/>
          <a:p>
            <a:pPr indent="0" marL="0">
              <a:buNone/>
            </a:pPr>
            <a:r>
              <a:rPr lang="en-US" sz="700" dirty="0">
                <a:solidFill>
                  <a:srgbClr val="C8D6E5"/>
                </a:solidFill>
              </a:rPr>
              <a:t>Learns which inputs</a:t>
            </a:r>
            <a:endParaRPr lang="en-US" sz="700" dirty="0"/>
          </a:p>
          <a:p>
            <a:pPr indent="0" marL="0">
              <a:buNone/>
            </a:pPr>
            <a:r>
              <a:rPr lang="en-US" sz="700" dirty="0">
                <a:solidFill>
                  <a:srgbClr val="C8D6E5"/>
                </a:solidFill>
              </a:rPr>
              <a:t>matter per drug</a:t>
            </a:r>
            <a:endParaRPr lang="en-US" sz="700" dirty="0"/>
          </a:p>
        </p:txBody>
      </p:sp>
      <p:sp>
        <p:nvSpPr>
          <p:cNvPr id="73" name="Shape 67"/>
          <p:cNvSpPr/>
          <p:nvPr/>
        </p:nvSpPr>
        <p:spPr>
          <a:xfrm>
            <a:off x="4645152" y="1572768"/>
            <a:ext cx="969264" cy="274320"/>
          </a:xfrm>
          <a:prstGeom prst="ellipse">
            <a:avLst/>
          </a:prstGeom>
          <a:solidFill>
            <a:srgbClr val="4A2575">
              <a:alpha val="40000"/>
            </a:srgbClr>
          </a:solidFill>
          <a:ln w="5080">
            <a:solidFill>
              <a:srgbClr val="7B52AB"/>
            </a:solidFill>
            <a:prstDash val="solid"/>
          </a:ln>
        </p:spPr>
      </p:sp>
      <p:sp>
        <p:nvSpPr>
          <p:cNvPr id="74" name="Text 68"/>
          <p:cNvSpPr/>
          <p:nvPr/>
        </p:nvSpPr>
        <p:spPr>
          <a:xfrm>
            <a:off x="4645152" y="1572768"/>
            <a:ext cx="969264" cy="274320"/>
          </a:xfrm>
          <a:prstGeom prst="rect">
            <a:avLst/>
          </a:prstGeom>
          <a:noFill/>
          <a:ln/>
        </p:spPr>
        <p:txBody>
          <a:bodyPr wrap="square" lIns="12700" tIns="12700" rIns="12700" bIns="12700" rtlCol="0" anchor="ctr"/>
          <a:lstStyle/>
          <a:p>
            <a:pPr algn="ctr" indent="0" marL="0">
              <a:buNone/>
            </a:pPr>
            <a:r>
              <a:rPr lang="en-US" sz="700" dirty="0">
                <a:solidFill>
                  <a:srgbClr val="C8D6E5"/>
                </a:solidFill>
              </a:rPr>
              <a:t>Learns which inputs</a:t>
            </a:r>
            <a:endParaRPr lang="en-US" sz="700" dirty="0"/>
          </a:p>
          <a:p>
            <a:pPr algn="ctr" indent="0" marL="0">
              <a:buNone/>
            </a:pPr>
            <a:r>
              <a:rPr lang="en-US" sz="700" dirty="0">
                <a:solidFill>
                  <a:srgbClr val="C8D6E5"/>
                </a:solidFill>
              </a:rPr>
              <a:t>matter per drug</a:t>
            </a:r>
            <a:endParaRPr lang="en-US" sz="700" dirty="0"/>
          </a:p>
        </p:txBody>
      </p:sp>
      <p:sp>
        <p:nvSpPr>
          <p:cNvPr id="75" name="Shape 69"/>
          <p:cNvSpPr/>
          <p:nvPr/>
        </p:nvSpPr>
        <p:spPr>
          <a:xfrm>
            <a:off x="3730752" y="1993392"/>
            <a:ext cx="1975104" cy="493776"/>
          </a:xfrm>
          <a:prstGeom prst="rect">
            <a:avLst/>
          </a:prstGeom>
          <a:solidFill>
            <a:srgbClr val="5B2D8E">
              <a:alpha val="18000"/>
            </a:srgbClr>
          </a:solidFill>
          <a:ln w="6350">
            <a:solidFill>
              <a:srgbClr val="7B52AB"/>
            </a:solidFill>
            <a:prstDash val="solid"/>
          </a:ln>
        </p:spPr>
      </p:sp>
      <p:sp>
        <p:nvSpPr>
          <p:cNvPr id="76" name="Text 70"/>
          <p:cNvSpPr/>
          <p:nvPr/>
        </p:nvSpPr>
        <p:spPr>
          <a:xfrm>
            <a:off x="3749040" y="2011680"/>
            <a:ext cx="1005840" cy="256032"/>
          </a:xfrm>
          <a:prstGeom prst="rect">
            <a:avLst/>
          </a:prstGeom>
          <a:noFill/>
          <a:ln/>
        </p:spPr>
        <p:txBody>
          <a:bodyPr wrap="square" lIns="12700" tIns="12700" rIns="12700" bIns="12700" rtlCol="0" anchor="ctr"/>
          <a:lstStyle/>
          <a:p>
            <a:pPr indent="0" marL="0">
              <a:buNone/>
            </a:pPr>
            <a:r>
              <a:rPr lang="en-US" sz="750" b="1" dirty="0">
                <a:solidFill>
                  <a:srgbClr val="7B52AB"/>
                </a:solidFill>
              </a:rPr>
              <a:t>LSTM Encoder</a:t>
            </a:r>
            <a:endParaRPr lang="en-US" sz="750" dirty="0"/>
          </a:p>
        </p:txBody>
      </p:sp>
      <p:sp>
        <p:nvSpPr>
          <p:cNvPr id="77" name="Text 71"/>
          <p:cNvSpPr/>
          <p:nvPr/>
        </p:nvSpPr>
        <p:spPr>
          <a:xfrm>
            <a:off x="3749040" y="2267712"/>
            <a:ext cx="1005840" cy="201168"/>
          </a:xfrm>
          <a:prstGeom prst="rect">
            <a:avLst/>
          </a:prstGeom>
          <a:noFill/>
          <a:ln/>
        </p:spPr>
        <p:txBody>
          <a:bodyPr wrap="square" lIns="12700" tIns="12700" rIns="12700" bIns="12700" rtlCol="0" anchor="ctr"/>
          <a:lstStyle/>
          <a:p>
            <a:pPr indent="0" marL="0">
              <a:buNone/>
            </a:pPr>
            <a:r>
              <a:rPr lang="en-US" sz="700" dirty="0">
                <a:solidFill>
                  <a:srgbClr val="C8D6E5"/>
                </a:solidFill>
              </a:rPr>
              <a:t>Local temporal</a:t>
            </a:r>
            <a:endParaRPr lang="en-US" sz="700" dirty="0"/>
          </a:p>
          <a:p>
            <a:pPr indent="0" marL="0">
              <a:buNone/>
            </a:pPr>
            <a:r>
              <a:rPr lang="en-US" sz="700" dirty="0">
                <a:solidFill>
                  <a:srgbClr val="C8D6E5"/>
                </a:solidFill>
              </a:rPr>
              <a:t>pattern capture</a:t>
            </a:r>
            <a:endParaRPr lang="en-US" sz="700" dirty="0"/>
          </a:p>
        </p:txBody>
      </p:sp>
      <p:sp>
        <p:nvSpPr>
          <p:cNvPr id="78" name="Shape 72"/>
          <p:cNvSpPr/>
          <p:nvPr/>
        </p:nvSpPr>
        <p:spPr>
          <a:xfrm>
            <a:off x="4645152" y="2121408"/>
            <a:ext cx="969264" cy="274320"/>
          </a:xfrm>
          <a:prstGeom prst="ellipse">
            <a:avLst/>
          </a:prstGeom>
          <a:solidFill>
            <a:srgbClr val="4A2575">
              <a:alpha val="40000"/>
            </a:srgbClr>
          </a:solidFill>
          <a:ln w="5080">
            <a:solidFill>
              <a:srgbClr val="7B52AB"/>
            </a:solidFill>
            <a:prstDash val="solid"/>
          </a:ln>
        </p:spPr>
      </p:sp>
      <p:sp>
        <p:nvSpPr>
          <p:cNvPr id="79" name="Text 73"/>
          <p:cNvSpPr/>
          <p:nvPr/>
        </p:nvSpPr>
        <p:spPr>
          <a:xfrm>
            <a:off x="4645152" y="2121408"/>
            <a:ext cx="969264" cy="274320"/>
          </a:xfrm>
          <a:prstGeom prst="rect">
            <a:avLst/>
          </a:prstGeom>
          <a:noFill/>
          <a:ln/>
        </p:spPr>
        <p:txBody>
          <a:bodyPr wrap="square" lIns="12700" tIns="12700" rIns="12700" bIns="12700" rtlCol="0" anchor="ctr"/>
          <a:lstStyle/>
          <a:p>
            <a:pPr algn="ctr" indent="0" marL="0">
              <a:buNone/>
            </a:pPr>
            <a:r>
              <a:rPr lang="en-US" sz="700" dirty="0">
                <a:solidFill>
                  <a:srgbClr val="C8D6E5"/>
                </a:solidFill>
              </a:rPr>
              <a:t>Local temporal</a:t>
            </a:r>
            <a:endParaRPr lang="en-US" sz="700" dirty="0"/>
          </a:p>
          <a:p>
            <a:pPr algn="ctr" indent="0" marL="0">
              <a:buNone/>
            </a:pPr>
            <a:r>
              <a:rPr lang="en-US" sz="700" dirty="0">
                <a:solidFill>
                  <a:srgbClr val="C8D6E5"/>
                </a:solidFill>
              </a:rPr>
              <a:t>pattern capture</a:t>
            </a:r>
            <a:endParaRPr lang="en-US" sz="700" dirty="0"/>
          </a:p>
        </p:txBody>
      </p:sp>
      <p:sp>
        <p:nvSpPr>
          <p:cNvPr id="80" name="Shape 74"/>
          <p:cNvSpPr/>
          <p:nvPr/>
        </p:nvSpPr>
        <p:spPr>
          <a:xfrm>
            <a:off x="3730752" y="2542032"/>
            <a:ext cx="1975104" cy="493776"/>
          </a:xfrm>
          <a:prstGeom prst="rect">
            <a:avLst/>
          </a:prstGeom>
          <a:solidFill>
            <a:srgbClr val="5B2D8E">
              <a:alpha val="18000"/>
            </a:srgbClr>
          </a:solidFill>
          <a:ln w="6350">
            <a:solidFill>
              <a:srgbClr val="7B52AB"/>
            </a:solidFill>
            <a:prstDash val="solid"/>
          </a:ln>
        </p:spPr>
      </p:sp>
      <p:sp>
        <p:nvSpPr>
          <p:cNvPr id="81" name="Text 75"/>
          <p:cNvSpPr/>
          <p:nvPr/>
        </p:nvSpPr>
        <p:spPr>
          <a:xfrm>
            <a:off x="3749040" y="2560320"/>
            <a:ext cx="1005840" cy="256032"/>
          </a:xfrm>
          <a:prstGeom prst="rect">
            <a:avLst/>
          </a:prstGeom>
          <a:noFill/>
          <a:ln/>
        </p:spPr>
        <p:txBody>
          <a:bodyPr wrap="square" lIns="12700" tIns="12700" rIns="12700" bIns="12700" rtlCol="0" anchor="ctr"/>
          <a:lstStyle/>
          <a:p>
            <a:pPr indent="0" marL="0">
              <a:buNone/>
            </a:pPr>
            <a:r>
              <a:rPr lang="en-US" sz="750" b="1" dirty="0">
                <a:solidFill>
                  <a:srgbClr val="7B52AB"/>
                </a:solidFill>
              </a:rPr>
              <a:t>Multi-Head</a:t>
            </a:r>
            <a:endParaRPr lang="en-US" sz="750" dirty="0"/>
          </a:p>
          <a:p>
            <a:pPr indent="0" marL="0">
              <a:buNone/>
            </a:pPr>
            <a:r>
              <a:rPr lang="en-US" sz="750" b="1" dirty="0">
                <a:solidFill>
                  <a:srgbClr val="7B52AB"/>
                </a:solidFill>
              </a:rPr>
              <a:t>Self-Attention</a:t>
            </a:r>
            <a:endParaRPr lang="en-US" sz="750" dirty="0"/>
          </a:p>
        </p:txBody>
      </p:sp>
      <p:sp>
        <p:nvSpPr>
          <p:cNvPr id="82" name="Text 76"/>
          <p:cNvSpPr/>
          <p:nvPr/>
        </p:nvSpPr>
        <p:spPr>
          <a:xfrm>
            <a:off x="3749040" y="2816352"/>
            <a:ext cx="1005840" cy="201168"/>
          </a:xfrm>
          <a:prstGeom prst="rect">
            <a:avLst/>
          </a:prstGeom>
          <a:noFill/>
          <a:ln/>
        </p:spPr>
        <p:txBody>
          <a:bodyPr wrap="square" lIns="12700" tIns="12700" rIns="12700" bIns="12700" rtlCol="0" anchor="ctr"/>
          <a:lstStyle/>
          <a:p>
            <a:pPr indent="0" marL="0">
              <a:buNone/>
            </a:pPr>
            <a:r>
              <a:rPr lang="en-US" sz="700" dirty="0">
                <a:solidFill>
                  <a:srgbClr val="C8D6E5"/>
                </a:solidFill>
              </a:rPr>
              <a:t>Long-range cross-</a:t>
            </a:r>
            <a:endParaRPr lang="en-US" sz="700" dirty="0"/>
          </a:p>
          <a:p>
            <a:pPr indent="0" marL="0">
              <a:buNone/>
            </a:pPr>
            <a:r>
              <a:rPr lang="en-US" sz="700" dirty="0">
                <a:solidFill>
                  <a:srgbClr val="C8D6E5"/>
                </a:solidFill>
              </a:rPr>
              <a:t>time dependencies</a:t>
            </a:r>
            <a:endParaRPr lang="en-US" sz="700" dirty="0"/>
          </a:p>
        </p:txBody>
      </p:sp>
      <p:sp>
        <p:nvSpPr>
          <p:cNvPr id="83" name="Shape 77"/>
          <p:cNvSpPr/>
          <p:nvPr/>
        </p:nvSpPr>
        <p:spPr>
          <a:xfrm>
            <a:off x="4645152" y="2670048"/>
            <a:ext cx="969264" cy="274320"/>
          </a:xfrm>
          <a:prstGeom prst="ellipse">
            <a:avLst/>
          </a:prstGeom>
          <a:solidFill>
            <a:srgbClr val="4A2575">
              <a:alpha val="40000"/>
            </a:srgbClr>
          </a:solidFill>
          <a:ln w="5080">
            <a:solidFill>
              <a:srgbClr val="7B52AB"/>
            </a:solidFill>
            <a:prstDash val="solid"/>
          </a:ln>
        </p:spPr>
      </p:sp>
      <p:sp>
        <p:nvSpPr>
          <p:cNvPr id="84" name="Text 78"/>
          <p:cNvSpPr/>
          <p:nvPr/>
        </p:nvSpPr>
        <p:spPr>
          <a:xfrm>
            <a:off x="4645152" y="2670048"/>
            <a:ext cx="969264" cy="274320"/>
          </a:xfrm>
          <a:prstGeom prst="rect">
            <a:avLst/>
          </a:prstGeom>
          <a:noFill/>
          <a:ln/>
        </p:spPr>
        <p:txBody>
          <a:bodyPr wrap="square" lIns="12700" tIns="12700" rIns="12700" bIns="12700" rtlCol="0" anchor="ctr"/>
          <a:lstStyle/>
          <a:p>
            <a:pPr algn="ctr" indent="0" marL="0">
              <a:buNone/>
            </a:pPr>
            <a:r>
              <a:rPr lang="en-US" sz="700" dirty="0">
                <a:solidFill>
                  <a:srgbClr val="C8D6E5"/>
                </a:solidFill>
              </a:rPr>
              <a:t>Long-range cross-</a:t>
            </a:r>
            <a:endParaRPr lang="en-US" sz="700" dirty="0"/>
          </a:p>
          <a:p>
            <a:pPr algn="ctr" indent="0" marL="0">
              <a:buNone/>
            </a:pPr>
            <a:r>
              <a:rPr lang="en-US" sz="700" dirty="0">
                <a:solidFill>
                  <a:srgbClr val="C8D6E5"/>
                </a:solidFill>
              </a:rPr>
              <a:t>time dependencies</a:t>
            </a:r>
            <a:endParaRPr lang="en-US" sz="700" dirty="0"/>
          </a:p>
        </p:txBody>
      </p:sp>
      <p:sp>
        <p:nvSpPr>
          <p:cNvPr id="85" name="Shape 79"/>
          <p:cNvSpPr/>
          <p:nvPr/>
        </p:nvSpPr>
        <p:spPr>
          <a:xfrm>
            <a:off x="3730752" y="3090672"/>
            <a:ext cx="1975104" cy="493776"/>
          </a:xfrm>
          <a:prstGeom prst="rect">
            <a:avLst/>
          </a:prstGeom>
          <a:solidFill>
            <a:srgbClr val="5B2D8E">
              <a:alpha val="18000"/>
            </a:srgbClr>
          </a:solidFill>
          <a:ln w="6350">
            <a:solidFill>
              <a:srgbClr val="7B52AB"/>
            </a:solidFill>
            <a:prstDash val="solid"/>
          </a:ln>
        </p:spPr>
      </p:sp>
      <p:sp>
        <p:nvSpPr>
          <p:cNvPr id="86" name="Text 80"/>
          <p:cNvSpPr/>
          <p:nvPr/>
        </p:nvSpPr>
        <p:spPr>
          <a:xfrm>
            <a:off x="3749040" y="3108960"/>
            <a:ext cx="1005840" cy="256032"/>
          </a:xfrm>
          <a:prstGeom prst="rect">
            <a:avLst/>
          </a:prstGeom>
          <a:noFill/>
          <a:ln/>
        </p:spPr>
        <p:txBody>
          <a:bodyPr wrap="square" lIns="12700" tIns="12700" rIns="12700" bIns="12700" rtlCol="0" anchor="ctr"/>
          <a:lstStyle/>
          <a:p>
            <a:pPr indent="0" marL="0">
              <a:buNone/>
            </a:pPr>
            <a:r>
              <a:rPr lang="en-US" sz="750" b="1" dirty="0">
                <a:solidFill>
                  <a:srgbClr val="7B52AB"/>
                </a:solidFill>
              </a:rPr>
              <a:t>Gated Residual</a:t>
            </a:r>
            <a:endParaRPr lang="en-US" sz="750" dirty="0"/>
          </a:p>
          <a:p>
            <a:pPr indent="0" marL="0">
              <a:buNone/>
            </a:pPr>
            <a:r>
              <a:rPr lang="en-US" sz="750" b="1" dirty="0">
                <a:solidFill>
                  <a:srgbClr val="7B52AB"/>
                </a:solidFill>
              </a:rPr>
              <a:t>Networks</a:t>
            </a:r>
            <a:endParaRPr lang="en-US" sz="750" dirty="0"/>
          </a:p>
        </p:txBody>
      </p:sp>
      <p:sp>
        <p:nvSpPr>
          <p:cNvPr id="87" name="Text 81"/>
          <p:cNvSpPr/>
          <p:nvPr/>
        </p:nvSpPr>
        <p:spPr>
          <a:xfrm>
            <a:off x="3749040" y="3364992"/>
            <a:ext cx="1005840" cy="201168"/>
          </a:xfrm>
          <a:prstGeom prst="rect">
            <a:avLst/>
          </a:prstGeom>
          <a:noFill/>
          <a:ln/>
        </p:spPr>
        <p:txBody>
          <a:bodyPr wrap="square" lIns="12700" tIns="12700" rIns="12700" bIns="12700" rtlCol="0" anchor="ctr"/>
          <a:lstStyle/>
          <a:p>
            <a:pPr indent="0" marL="0">
              <a:buNone/>
            </a:pPr>
            <a:r>
              <a:rPr lang="en-US" sz="700" dirty="0">
                <a:solidFill>
                  <a:srgbClr val="C8D6E5"/>
                </a:solidFill>
              </a:rPr>
              <a:t>Non-linear feature</a:t>
            </a:r>
            <a:endParaRPr lang="en-US" sz="700" dirty="0"/>
          </a:p>
          <a:p>
            <a:pPr indent="0" marL="0">
              <a:buNone/>
            </a:pPr>
            <a:r>
              <a:rPr lang="en-US" sz="700" dirty="0">
                <a:solidFill>
                  <a:srgbClr val="C8D6E5"/>
                </a:solidFill>
              </a:rPr>
              <a:t>transformations</a:t>
            </a:r>
            <a:endParaRPr lang="en-US" sz="700" dirty="0"/>
          </a:p>
        </p:txBody>
      </p:sp>
      <p:sp>
        <p:nvSpPr>
          <p:cNvPr id="88" name="Shape 82"/>
          <p:cNvSpPr/>
          <p:nvPr/>
        </p:nvSpPr>
        <p:spPr>
          <a:xfrm>
            <a:off x="4645152" y="3218688"/>
            <a:ext cx="969264" cy="274320"/>
          </a:xfrm>
          <a:prstGeom prst="ellipse">
            <a:avLst/>
          </a:prstGeom>
          <a:solidFill>
            <a:srgbClr val="4A2575">
              <a:alpha val="40000"/>
            </a:srgbClr>
          </a:solidFill>
          <a:ln w="5080">
            <a:solidFill>
              <a:srgbClr val="7B52AB"/>
            </a:solidFill>
            <a:prstDash val="solid"/>
          </a:ln>
        </p:spPr>
      </p:sp>
      <p:sp>
        <p:nvSpPr>
          <p:cNvPr id="89" name="Text 83"/>
          <p:cNvSpPr/>
          <p:nvPr/>
        </p:nvSpPr>
        <p:spPr>
          <a:xfrm>
            <a:off x="4645152" y="3218688"/>
            <a:ext cx="969264" cy="274320"/>
          </a:xfrm>
          <a:prstGeom prst="rect">
            <a:avLst/>
          </a:prstGeom>
          <a:noFill/>
          <a:ln/>
        </p:spPr>
        <p:txBody>
          <a:bodyPr wrap="square" lIns="12700" tIns="12700" rIns="12700" bIns="12700" rtlCol="0" anchor="ctr"/>
          <a:lstStyle/>
          <a:p>
            <a:pPr algn="ctr" indent="0" marL="0">
              <a:buNone/>
            </a:pPr>
            <a:r>
              <a:rPr lang="en-US" sz="700" dirty="0">
                <a:solidFill>
                  <a:srgbClr val="C8D6E5"/>
                </a:solidFill>
              </a:rPr>
              <a:t>Non-linear feature</a:t>
            </a:r>
            <a:endParaRPr lang="en-US" sz="700" dirty="0"/>
          </a:p>
          <a:p>
            <a:pPr algn="ctr" indent="0" marL="0">
              <a:buNone/>
            </a:pPr>
            <a:r>
              <a:rPr lang="en-US" sz="700" dirty="0">
                <a:solidFill>
                  <a:srgbClr val="C8D6E5"/>
                </a:solidFill>
              </a:rPr>
              <a:t>transformations</a:t>
            </a:r>
            <a:endParaRPr lang="en-US" sz="700" dirty="0"/>
          </a:p>
        </p:txBody>
      </p:sp>
      <p:sp>
        <p:nvSpPr>
          <p:cNvPr id="90" name="Shape 84"/>
          <p:cNvSpPr/>
          <p:nvPr/>
        </p:nvSpPr>
        <p:spPr>
          <a:xfrm>
            <a:off x="3730752" y="3639312"/>
            <a:ext cx="1975104" cy="493776"/>
          </a:xfrm>
          <a:prstGeom prst="rect">
            <a:avLst/>
          </a:prstGeom>
          <a:solidFill>
            <a:srgbClr val="5B2D8E">
              <a:alpha val="18000"/>
            </a:srgbClr>
          </a:solidFill>
          <a:ln w="6350">
            <a:solidFill>
              <a:srgbClr val="7B52AB"/>
            </a:solidFill>
            <a:prstDash val="solid"/>
          </a:ln>
        </p:spPr>
      </p:sp>
      <p:sp>
        <p:nvSpPr>
          <p:cNvPr id="91" name="Text 85"/>
          <p:cNvSpPr/>
          <p:nvPr/>
        </p:nvSpPr>
        <p:spPr>
          <a:xfrm>
            <a:off x="3749040" y="3657600"/>
            <a:ext cx="1005840" cy="256032"/>
          </a:xfrm>
          <a:prstGeom prst="rect">
            <a:avLst/>
          </a:prstGeom>
          <a:noFill/>
          <a:ln/>
        </p:spPr>
        <p:txBody>
          <a:bodyPr wrap="square" lIns="12700" tIns="12700" rIns="12700" bIns="12700" rtlCol="0" anchor="ctr"/>
          <a:lstStyle/>
          <a:p>
            <a:pPr indent="0" marL="0">
              <a:buNone/>
            </a:pPr>
            <a:r>
              <a:rPr lang="en-US" sz="750" b="1" dirty="0">
                <a:solidFill>
                  <a:srgbClr val="7B52AB"/>
                </a:solidFill>
              </a:rPr>
              <a:t>Quantile Output</a:t>
            </a:r>
            <a:endParaRPr lang="en-US" sz="750" dirty="0"/>
          </a:p>
          <a:p>
            <a:pPr indent="0" marL="0">
              <a:buNone/>
            </a:pPr>
            <a:r>
              <a:rPr lang="en-US" sz="750" b="1" dirty="0">
                <a:solidFill>
                  <a:srgbClr val="7B52AB"/>
                </a:solidFill>
              </a:rPr>
              <a:t>Heads</a:t>
            </a:r>
            <a:endParaRPr lang="en-US" sz="750" dirty="0"/>
          </a:p>
        </p:txBody>
      </p:sp>
      <p:sp>
        <p:nvSpPr>
          <p:cNvPr id="92" name="Text 86"/>
          <p:cNvSpPr/>
          <p:nvPr/>
        </p:nvSpPr>
        <p:spPr>
          <a:xfrm>
            <a:off x="3749040" y="3913632"/>
            <a:ext cx="1005840" cy="201168"/>
          </a:xfrm>
          <a:prstGeom prst="rect">
            <a:avLst/>
          </a:prstGeom>
          <a:noFill/>
          <a:ln/>
        </p:spPr>
        <p:txBody>
          <a:bodyPr wrap="square" lIns="12700" tIns="12700" rIns="12700" bIns="12700" rtlCol="0" anchor="ctr"/>
          <a:lstStyle/>
          <a:p>
            <a:pPr indent="0" marL="0">
              <a:buNone/>
            </a:pPr>
            <a:r>
              <a:rPr lang="en-US" sz="700" dirty="0">
                <a:solidFill>
                  <a:srgbClr val="C8D6E5"/>
                </a:solidFill>
              </a:rPr>
              <a:t>P10 / P50 / P90</a:t>
            </a:r>
            <a:endParaRPr lang="en-US" sz="700" dirty="0"/>
          </a:p>
          <a:p>
            <a:pPr indent="0" marL="0">
              <a:buNone/>
            </a:pPr>
            <a:r>
              <a:rPr lang="en-US" sz="700" dirty="0">
                <a:solidFill>
                  <a:srgbClr val="C8D6E5"/>
                </a:solidFill>
              </a:rPr>
              <a:t>forecast per drug</a:t>
            </a:r>
            <a:endParaRPr lang="en-US" sz="700" dirty="0"/>
          </a:p>
        </p:txBody>
      </p:sp>
      <p:sp>
        <p:nvSpPr>
          <p:cNvPr id="93" name="Shape 87"/>
          <p:cNvSpPr/>
          <p:nvPr/>
        </p:nvSpPr>
        <p:spPr>
          <a:xfrm>
            <a:off x="4645152" y="3767328"/>
            <a:ext cx="969264" cy="274320"/>
          </a:xfrm>
          <a:prstGeom prst="ellipse">
            <a:avLst/>
          </a:prstGeom>
          <a:solidFill>
            <a:srgbClr val="4A2575">
              <a:alpha val="40000"/>
            </a:srgbClr>
          </a:solidFill>
          <a:ln w="5080">
            <a:solidFill>
              <a:srgbClr val="7B52AB"/>
            </a:solidFill>
            <a:prstDash val="solid"/>
          </a:ln>
        </p:spPr>
      </p:sp>
      <p:sp>
        <p:nvSpPr>
          <p:cNvPr id="94" name="Text 88"/>
          <p:cNvSpPr/>
          <p:nvPr/>
        </p:nvSpPr>
        <p:spPr>
          <a:xfrm>
            <a:off x="4645152" y="3767328"/>
            <a:ext cx="969264" cy="274320"/>
          </a:xfrm>
          <a:prstGeom prst="rect">
            <a:avLst/>
          </a:prstGeom>
          <a:noFill/>
          <a:ln/>
        </p:spPr>
        <p:txBody>
          <a:bodyPr wrap="square" lIns="12700" tIns="12700" rIns="12700" bIns="12700" rtlCol="0" anchor="ctr"/>
          <a:lstStyle/>
          <a:p>
            <a:pPr algn="ctr" indent="0" marL="0">
              <a:buNone/>
            </a:pPr>
            <a:r>
              <a:rPr lang="en-US" sz="700" dirty="0">
                <a:solidFill>
                  <a:srgbClr val="C8D6E5"/>
                </a:solidFill>
              </a:rPr>
              <a:t>P10 / P50 / P90</a:t>
            </a:r>
            <a:endParaRPr lang="en-US" sz="700" dirty="0"/>
          </a:p>
          <a:p>
            <a:pPr algn="ctr" indent="0" marL="0">
              <a:buNone/>
            </a:pPr>
            <a:r>
              <a:rPr lang="en-US" sz="700" dirty="0">
                <a:solidFill>
                  <a:srgbClr val="C8D6E5"/>
                </a:solidFill>
              </a:rPr>
              <a:t>forecast per drug</a:t>
            </a:r>
            <a:endParaRPr lang="en-US" sz="700" dirty="0"/>
          </a:p>
        </p:txBody>
      </p:sp>
      <p:sp>
        <p:nvSpPr>
          <p:cNvPr id="95" name="Shape 89"/>
          <p:cNvSpPr/>
          <p:nvPr/>
        </p:nvSpPr>
        <p:spPr>
          <a:xfrm>
            <a:off x="3730752" y="4187952"/>
            <a:ext cx="1975104" cy="493776"/>
          </a:xfrm>
          <a:prstGeom prst="rect">
            <a:avLst/>
          </a:prstGeom>
          <a:solidFill>
            <a:srgbClr val="5B2D8E">
              <a:alpha val="30000"/>
            </a:srgbClr>
          </a:solidFill>
          <a:ln w="12700">
            <a:solidFill>
              <a:srgbClr val="7B52AB"/>
            </a:solidFill>
            <a:prstDash val="solid"/>
          </a:ln>
        </p:spPr>
      </p:sp>
      <p:sp>
        <p:nvSpPr>
          <p:cNvPr id="96" name="Text 90"/>
          <p:cNvSpPr/>
          <p:nvPr/>
        </p:nvSpPr>
        <p:spPr>
          <a:xfrm>
            <a:off x="3749040" y="4206240"/>
            <a:ext cx="1005840" cy="256032"/>
          </a:xfrm>
          <a:prstGeom prst="rect">
            <a:avLst/>
          </a:prstGeom>
          <a:noFill/>
          <a:ln/>
        </p:spPr>
        <p:txBody>
          <a:bodyPr wrap="square" lIns="12700" tIns="12700" rIns="12700" bIns="12700" rtlCol="0" anchor="ctr"/>
          <a:lstStyle/>
          <a:p>
            <a:pPr indent="0" marL="0">
              <a:buNone/>
            </a:pPr>
            <a:r>
              <a:rPr lang="en-US" sz="750" b="1" dirty="0">
                <a:solidFill>
                  <a:srgbClr val="7B52AB"/>
                </a:solidFill>
              </a:rPr>
              <a:t>Conformal</a:t>
            </a:r>
            <a:endParaRPr lang="en-US" sz="750" dirty="0"/>
          </a:p>
          <a:p>
            <a:pPr indent="0" marL="0">
              <a:buNone/>
            </a:pPr>
            <a:r>
              <a:rPr lang="en-US" sz="750" b="1" dirty="0">
                <a:solidFill>
                  <a:srgbClr val="7B52AB"/>
                </a:solidFill>
              </a:rPr>
              <a:t>Calibration</a:t>
            </a:r>
            <a:endParaRPr lang="en-US" sz="750" dirty="0"/>
          </a:p>
        </p:txBody>
      </p:sp>
      <p:sp>
        <p:nvSpPr>
          <p:cNvPr id="97" name="Text 91"/>
          <p:cNvSpPr/>
          <p:nvPr/>
        </p:nvSpPr>
        <p:spPr>
          <a:xfrm>
            <a:off x="3749040" y="4462272"/>
            <a:ext cx="1005840" cy="201168"/>
          </a:xfrm>
          <a:prstGeom prst="rect">
            <a:avLst/>
          </a:prstGeom>
          <a:noFill/>
          <a:ln/>
        </p:spPr>
        <p:txBody>
          <a:bodyPr wrap="square" lIns="12700" tIns="12700" rIns="12700" bIns="12700" rtlCol="0" anchor="ctr"/>
          <a:lstStyle/>
          <a:p>
            <a:pPr indent="0" marL="0">
              <a:buNone/>
            </a:pPr>
            <a:r>
              <a:rPr lang="en-US" sz="700" dirty="0">
                <a:solidFill>
                  <a:srgbClr val="C8D6E5"/>
                </a:solidFill>
              </a:rPr>
              <a:t>Statistically valid</a:t>
            </a:r>
            <a:endParaRPr lang="en-US" sz="700" dirty="0"/>
          </a:p>
          <a:p>
            <a:pPr indent="0" marL="0">
              <a:buNone/>
            </a:pPr>
            <a:r>
              <a:rPr lang="en-US" sz="700" dirty="0">
                <a:solidFill>
                  <a:srgbClr val="C8D6E5"/>
                </a:solidFill>
              </a:rPr>
              <a:t>confidence intervals</a:t>
            </a:r>
            <a:endParaRPr lang="en-US" sz="700" dirty="0"/>
          </a:p>
        </p:txBody>
      </p:sp>
      <p:sp>
        <p:nvSpPr>
          <p:cNvPr id="98" name="Shape 92"/>
          <p:cNvSpPr/>
          <p:nvPr/>
        </p:nvSpPr>
        <p:spPr>
          <a:xfrm>
            <a:off x="5870448" y="1115568"/>
            <a:ext cx="1536192" cy="3657600"/>
          </a:xfrm>
          <a:prstGeom prst="rect">
            <a:avLst/>
          </a:prstGeom>
          <a:solidFill>
            <a:srgbClr val="112240"/>
          </a:solidFill>
          <a:ln w="19050">
            <a:solidFill>
              <a:srgbClr val="F0A500"/>
            </a:solidFill>
            <a:prstDash val="solid"/>
          </a:ln>
        </p:spPr>
      </p:sp>
      <p:sp>
        <p:nvSpPr>
          <p:cNvPr id="99" name="Shape 93"/>
          <p:cNvSpPr/>
          <p:nvPr/>
        </p:nvSpPr>
        <p:spPr>
          <a:xfrm>
            <a:off x="5870448" y="1115568"/>
            <a:ext cx="1536192" cy="274320"/>
          </a:xfrm>
          <a:prstGeom prst="rect">
            <a:avLst/>
          </a:prstGeom>
          <a:solidFill>
            <a:srgbClr val="F0A500"/>
          </a:solidFill>
          <a:ln w="12700">
            <a:solidFill>
              <a:srgbClr val="F0A500"/>
            </a:solidFill>
            <a:prstDash val="solid"/>
          </a:ln>
        </p:spPr>
      </p:sp>
      <p:pic>
        <p:nvPicPr>
          <p:cNvPr id="100" name="Image 4" descr="preencoded.png">    </p:cNvPr>
          <p:cNvPicPr>
            <a:picLocks noChangeAspect="1"/>
          </p:cNvPicPr>
          <p:nvPr/>
        </p:nvPicPr>
        <p:blipFill>
          <a:blip r:embed="rId5"/>
          <a:stretch>
            <a:fillRect/>
          </a:stretch>
        </p:blipFill>
        <p:spPr>
          <a:xfrm>
            <a:off x="5961888" y="1143000"/>
            <a:ext cx="201168" cy="201168"/>
          </a:xfrm>
          <a:prstGeom prst="rect">
            <a:avLst/>
          </a:prstGeom>
        </p:spPr>
      </p:pic>
      <p:sp>
        <p:nvSpPr>
          <p:cNvPr id="101" name="Text 94"/>
          <p:cNvSpPr/>
          <p:nvPr/>
        </p:nvSpPr>
        <p:spPr>
          <a:xfrm>
            <a:off x="5870448" y="1115568"/>
            <a:ext cx="1536192" cy="274320"/>
          </a:xfrm>
          <a:prstGeom prst="rect">
            <a:avLst/>
          </a:prstGeom>
          <a:noFill/>
          <a:ln/>
        </p:spPr>
        <p:txBody>
          <a:bodyPr wrap="square" lIns="0" tIns="0" rIns="0" bIns="0" rtlCol="0" anchor="ctr"/>
          <a:lstStyle/>
          <a:p>
            <a:pPr algn="ctr" indent="0" marL="0">
              <a:buNone/>
            </a:pPr>
            <a:r>
              <a:rPr lang="en-US" sz="750" b="1" dirty="0">
                <a:solidFill>
                  <a:srgbClr val="0A1628"/>
                </a:solidFill>
              </a:rPr>
              <a:t>SUPPLIER</a:t>
            </a:r>
            <a:endParaRPr lang="en-US" sz="750" dirty="0"/>
          </a:p>
          <a:p>
            <a:pPr algn="ctr" indent="0" marL="0">
              <a:buNone/>
            </a:pPr>
            <a:r>
              <a:rPr lang="en-US" sz="750" b="1" dirty="0">
                <a:solidFill>
                  <a:srgbClr val="0A1628"/>
                </a:solidFill>
              </a:rPr>
              <a:t>GRAPH</a:t>
            </a:r>
            <a:endParaRPr lang="en-US" sz="750" dirty="0"/>
          </a:p>
        </p:txBody>
      </p:sp>
      <p:sp>
        <p:nvSpPr>
          <p:cNvPr id="102" name="Shape 95"/>
          <p:cNvSpPr/>
          <p:nvPr/>
        </p:nvSpPr>
        <p:spPr>
          <a:xfrm>
            <a:off x="5943600" y="1444752"/>
            <a:ext cx="1389888" cy="502920"/>
          </a:xfrm>
          <a:prstGeom prst="rect">
            <a:avLst/>
          </a:prstGeom>
          <a:solidFill>
            <a:srgbClr val="92400E">
              <a:alpha val="18000"/>
            </a:srgbClr>
          </a:solidFill>
          <a:ln w="6350">
            <a:solidFill>
              <a:srgbClr val="F0A500"/>
            </a:solidFill>
            <a:prstDash val="solid"/>
          </a:ln>
        </p:spPr>
      </p:sp>
      <p:sp>
        <p:nvSpPr>
          <p:cNvPr id="103" name="Text 96"/>
          <p:cNvSpPr/>
          <p:nvPr/>
        </p:nvSpPr>
        <p:spPr>
          <a:xfrm>
            <a:off x="5961888" y="1463040"/>
            <a:ext cx="1353312" cy="237744"/>
          </a:xfrm>
          <a:prstGeom prst="rect">
            <a:avLst/>
          </a:prstGeom>
          <a:noFill/>
          <a:ln/>
        </p:spPr>
        <p:txBody>
          <a:bodyPr wrap="square" lIns="12700" tIns="12700" rIns="12700" bIns="12700" rtlCol="0" anchor="ctr"/>
          <a:lstStyle/>
          <a:p>
            <a:pPr indent="0" marL="0">
              <a:buNone/>
            </a:pPr>
            <a:r>
              <a:rPr lang="en-US" sz="750" b="1" dirty="0">
                <a:solidFill>
                  <a:srgbClr val="F0A500"/>
                </a:solidFill>
              </a:rPr>
              <a:t>Manufacturer</a:t>
            </a:r>
            <a:endParaRPr lang="en-US" sz="750" dirty="0"/>
          </a:p>
          <a:p>
            <a:pPr indent="0" marL="0">
              <a:buNone/>
            </a:pPr>
            <a:r>
              <a:rPr lang="en-US" sz="750" b="1" dirty="0">
                <a:solidFill>
                  <a:srgbClr val="F0A500"/>
                </a:solidFill>
              </a:rPr>
              <a:t>node</a:t>
            </a:r>
            <a:endParaRPr lang="en-US" sz="750" dirty="0"/>
          </a:p>
        </p:txBody>
      </p:sp>
      <p:sp>
        <p:nvSpPr>
          <p:cNvPr id="104" name="Text 97"/>
          <p:cNvSpPr/>
          <p:nvPr/>
        </p:nvSpPr>
        <p:spPr>
          <a:xfrm>
            <a:off x="5961888" y="1700784"/>
            <a:ext cx="1353312" cy="219456"/>
          </a:xfrm>
          <a:prstGeom prst="rect">
            <a:avLst/>
          </a:prstGeom>
          <a:noFill/>
          <a:ln/>
        </p:spPr>
        <p:txBody>
          <a:bodyPr wrap="square" lIns="12700" tIns="12700" rIns="12700" bIns="12700" rtlCol="0" anchor="ctr"/>
          <a:lstStyle/>
          <a:p>
            <a:pPr indent="0" marL="0">
              <a:buNone/>
            </a:pPr>
            <a:r>
              <a:rPr lang="en-US" sz="700" dirty="0">
                <a:solidFill>
                  <a:srgbClr val="C8D6E5"/>
                </a:solidFill>
              </a:rPr>
              <a:t>Production capacity,</a:t>
            </a:r>
            <a:endParaRPr lang="en-US" sz="700" dirty="0"/>
          </a:p>
          <a:p>
            <a:pPr indent="0" marL="0">
              <a:buNone/>
            </a:pPr>
            <a:r>
              <a:rPr lang="en-US" sz="700" dirty="0">
                <a:solidFill>
                  <a:srgbClr val="C8D6E5"/>
                </a:solidFill>
              </a:rPr>
              <a:t>financial health</a:t>
            </a:r>
            <a:endParaRPr lang="en-US" sz="700" dirty="0"/>
          </a:p>
        </p:txBody>
      </p:sp>
      <p:sp>
        <p:nvSpPr>
          <p:cNvPr id="105" name="Shape 98"/>
          <p:cNvSpPr/>
          <p:nvPr/>
        </p:nvSpPr>
        <p:spPr>
          <a:xfrm>
            <a:off x="5943600" y="2002536"/>
            <a:ext cx="1389888" cy="502920"/>
          </a:xfrm>
          <a:prstGeom prst="rect">
            <a:avLst/>
          </a:prstGeom>
          <a:solidFill>
            <a:srgbClr val="92400E">
              <a:alpha val="18000"/>
            </a:srgbClr>
          </a:solidFill>
          <a:ln w="6350">
            <a:solidFill>
              <a:srgbClr val="F0A500"/>
            </a:solidFill>
            <a:prstDash val="solid"/>
          </a:ln>
        </p:spPr>
      </p:sp>
      <p:sp>
        <p:nvSpPr>
          <p:cNvPr id="106" name="Text 99"/>
          <p:cNvSpPr/>
          <p:nvPr/>
        </p:nvSpPr>
        <p:spPr>
          <a:xfrm>
            <a:off x="5961888" y="2020824"/>
            <a:ext cx="1353312" cy="237744"/>
          </a:xfrm>
          <a:prstGeom prst="rect">
            <a:avLst/>
          </a:prstGeom>
          <a:noFill/>
          <a:ln/>
        </p:spPr>
        <p:txBody>
          <a:bodyPr wrap="square" lIns="12700" tIns="12700" rIns="12700" bIns="12700" rtlCol="0" anchor="ctr"/>
          <a:lstStyle/>
          <a:p>
            <a:pPr indent="0" marL="0">
              <a:buNone/>
            </a:pPr>
            <a:r>
              <a:rPr lang="en-US" sz="750" b="1" dirty="0">
                <a:solidFill>
                  <a:srgbClr val="F0A500"/>
                </a:solidFill>
              </a:rPr>
              <a:t>Distributor</a:t>
            </a:r>
            <a:endParaRPr lang="en-US" sz="750" dirty="0"/>
          </a:p>
          <a:p>
            <a:pPr indent="0" marL="0">
              <a:buNone/>
            </a:pPr>
            <a:r>
              <a:rPr lang="en-US" sz="750" b="1" dirty="0">
                <a:solidFill>
                  <a:srgbClr val="F0A500"/>
                </a:solidFill>
              </a:rPr>
              <a:t>node</a:t>
            </a:r>
            <a:endParaRPr lang="en-US" sz="750" dirty="0"/>
          </a:p>
        </p:txBody>
      </p:sp>
      <p:sp>
        <p:nvSpPr>
          <p:cNvPr id="107" name="Text 100"/>
          <p:cNvSpPr/>
          <p:nvPr/>
        </p:nvSpPr>
        <p:spPr>
          <a:xfrm>
            <a:off x="5961888" y="2258568"/>
            <a:ext cx="1353312" cy="219456"/>
          </a:xfrm>
          <a:prstGeom prst="rect">
            <a:avLst/>
          </a:prstGeom>
          <a:noFill/>
          <a:ln/>
        </p:spPr>
        <p:txBody>
          <a:bodyPr wrap="square" lIns="12700" tIns="12700" rIns="12700" bIns="12700" rtlCol="0" anchor="ctr"/>
          <a:lstStyle/>
          <a:p>
            <a:pPr indent="0" marL="0">
              <a:buNone/>
            </a:pPr>
            <a:r>
              <a:rPr lang="en-US" sz="700" dirty="0">
                <a:solidFill>
                  <a:srgbClr val="C8D6E5"/>
                </a:solidFill>
              </a:rPr>
              <a:t>Delivery reliability,</a:t>
            </a:r>
            <a:endParaRPr lang="en-US" sz="700" dirty="0"/>
          </a:p>
          <a:p>
            <a:pPr indent="0" marL="0">
              <a:buNone/>
            </a:pPr>
            <a:r>
              <a:rPr lang="en-US" sz="700" dirty="0">
                <a:solidFill>
                  <a:srgbClr val="C8D6E5"/>
                </a:solidFill>
              </a:rPr>
              <a:t>geo coverage</a:t>
            </a:r>
            <a:endParaRPr lang="en-US" sz="700" dirty="0"/>
          </a:p>
        </p:txBody>
      </p:sp>
      <p:sp>
        <p:nvSpPr>
          <p:cNvPr id="108" name="Shape 101"/>
          <p:cNvSpPr/>
          <p:nvPr/>
        </p:nvSpPr>
        <p:spPr>
          <a:xfrm>
            <a:off x="5943600" y="2560320"/>
            <a:ext cx="1389888" cy="502920"/>
          </a:xfrm>
          <a:prstGeom prst="rect">
            <a:avLst/>
          </a:prstGeom>
          <a:solidFill>
            <a:srgbClr val="92400E">
              <a:alpha val="18000"/>
            </a:srgbClr>
          </a:solidFill>
          <a:ln w="6350">
            <a:solidFill>
              <a:srgbClr val="F0A500"/>
            </a:solidFill>
            <a:prstDash val="solid"/>
          </a:ln>
        </p:spPr>
      </p:sp>
      <p:sp>
        <p:nvSpPr>
          <p:cNvPr id="109" name="Text 102"/>
          <p:cNvSpPr/>
          <p:nvPr/>
        </p:nvSpPr>
        <p:spPr>
          <a:xfrm>
            <a:off x="5961888" y="2578608"/>
            <a:ext cx="1353312" cy="237744"/>
          </a:xfrm>
          <a:prstGeom prst="rect">
            <a:avLst/>
          </a:prstGeom>
          <a:noFill/>
          <a:ln/>
        </p:spPr>
        <p:txBody>
          <a:bodyPr wrap="square" lIns="12700" tIns="12700" rIns="12700" bIns="12700" rtlCol="0" anchor="ctr"/>
          <a:lstStyle/>
          <a:p>
            <a:pPr indent="0" marL="0">
              <a:buNone/>
            </a:pPr>
            <a:r>
              <a:rPr lang="en-US" sz="750" b="1" dirty="0">
                <a:solidFill>
                  <a:srgbClr val="F0A500"/>
                </a:solidFill>
              </a:rPr>
              <a:t>Hospital</a:t>
            </a:r>
            <a:endParaRPr lang="en-US" sz="750" dirty="0"/>
          </a:p>
          <a:p>
            <a:pPr indent="0" marL="0">
              <a:buNone/>
            </a:pPr>
            <a:r>
              <a:rPr lang="en-US" sz="750" b="1" dirty="0">
                <a:solidFill>
                  <a:srgbClr val="F0A500"/>
                </a:solidFill>
              </a:rPr>
              <a:t>node</a:t>
            </a:r>
            <a:endParaRPr lang="en-US" sz="750" dirty="0"/>
          </a:p>
        </p:txBody>
      </p:sp>
      <p:sp>
        <p:nvSpPr>
          <p:cNvPr id="110" name="Text 103"/>
          <p:cNvSpPr/>
          <p:nvPr/>
        </p:nvSpPr>
        <p:spPr>
          <a:xfrm>
            <a:off x="5961888" y="2816352"/>
            <a:ext cx="1353312" cy="219456"/>
          </a:xfrm>
          <a:prstGeom prst="rect">
            <a:avLst/>
          </a:prstGeom>
          <a:noFill/>
          <a:ln/>
        </p:spPr>
        <p:txBody>
          <a:bodyPr wrap="square" lIns="12700" tIns="12700" rIns="12700" bIns="12700" rtlCol="0" anchor="ctr"/>
          <a:lstStyle/>
          <a:p>
            <a:pPr indent="0" marL="0">
              <a:buNone/>
            </a:pPr>
            <a:r>
              <a:rPr lang="en-US" sz="700" dirty="0">
                <a:solidFill>
                  <a:srgbClr val="C8D6E5"/>
                </a:solidFill>
              </a:rPr>
              <a:t>Demand profile,</a:t>
            </a:r>
            <a:endParaRPr lang="en-US" sz="700" dirty="0"/>
          </a:p>
          <a:p>
            <a:pPr indent="0" marL="0">
              <a:buNone/>
            </a:pPr>
            <a:r>
              <a:rPr lang="en-US" sz="700" dirty="0">
                <a:solidFill>
                  <a:srgbClr val="C8D6E5"/>
                </a:solidFill>
              </a:rPr>
              <a:t>criticality tier</a:t>
            </a:r>
            <a:endParaRPr lang="en-US" sz="700" dirty="0"/>
          </a:p>
        </p:txBody>
      </p:sp>
      <p:sp>
        <p:nvSpPr>
          <p:cNvPr id="111" name="Shape 104"/>
          <p:cNvSpPr/>
          <p:nvPr/>
        </p:nvSpPr>
        <p:spPr>
          <a:xfrm>
            <a:off x="5943600" y="3118104"/>
            <a:ext cx="1389888" cy="502920"/>
          </a:xfrm>
          <a:prstGeom prst="rect">
            <a:avLst/>
          </a:prstGeom>
          <a:solidFill>
            <a:srgbClr val="92400E">
              <a:alpha val="18000"/>
            </a:srgbClr>
          </a:solidFill>
          <a:ln w="6350">
            <a:solidFill>
              <a:srgbClr val="F0A500"/>
            </a:solidFill>
            <a:prstDash val="solid"/>
          </a:ln>
        </p:spPr>
      </p:sp>
      <p:sp>
        <p:nvSpPr>
          <p:cNvPr id="112" name="Text 105"/>
          <p:cNvSpPr/>
          <p:nvPr/>
        </p:nvSpPr>
        <p:spPr>
          <a:xfrm>
            <a:off x="5961888" y="3136392"/>
            <a:ext cx="1353312" cy="237744"/>
          </a:xfrm>
          <a:prstGeom prst="rect">
            <a:avLst/>
          </a:prstGeom>
          <a:noFill/>
          <a:ln/>
        </p:spPr>
        <p:txBody>
          <a:bodyPr wrap="square" lIns="12700" tIns="12700" rIns="12700" bIns="12700" rtlCol="0" anchor="ctr"/>
          <a:lstStyle/>
          <a:p>
            <a:pPr indent="0" marL="0">
              <a:buNone/>
            </a:pPr>
            <a:r>
              <a:rPr lang="en-US" sz="750" b="1" dirty="0">
                <a:solidFill>
                  <a:srgbClr val="F0A500"/>
                </a:solidFill>
              </a:rPr>
              <a:t>GraphSAGE</a:t>
            </a:r>
            <a:endParaRPr lang="en-US" sz="750" dirty="0"/>
          </a:p>
          <a:p>
            <a:pPr indent="0" marL="0">
              <a:buNone/>
            </a:pPr>
            <a:r>
              <a:rPr lang="en-US" sz="750" b="1" dirty="0">
                <a:solidFill>
                  <a:srgbClr val="F0A500"/>
                </a:solidFill>
              </a:rPr>
              <a:t>propagation</a:t>
            </a:r>
            <a:endParaRPr lang="en-US" sz="750" dirty="0"/>
          </a:p>
        </p:txBody>
      </p:sp>
      <p:sp>
        <p:nvSpPr>
          <p:cNvPr id="113" name="Text 106"/>
          <p:cNvSpPr/>
          <p:nvPr/>
        </p:nvSpPr>
        <p:spPr>
          <a:xfrm>
            <a:off x="5961888" y="3374136"/>
            <a:ext cx="1353312" cy="219456"/>
          </a:xfrm>
          <a:prstGeom prst="rect">
            <a:avLst/>
          </a:prstGeom>
          <a:noFill/>
          <a:ln/>
        </p:spPr>
        <p:txBody>
          <a:bodyPr wrap="square" lIns="12700" tIns="12700" rIns="12700" bIns="12700" rtlCol="0" anchor="ctr"/>
          <a:lstStyle/>
          <a:p>
            <a:pPr indent="0" marL="0">
              <a:buNone/>
            </a:pPr>
            <a:r>
              <a:rPr lang="en-US" sz="700" dirty="0">
                <a:solidFill>
                  <a:srgbClr val="C8D6E5"/>
                </a:solidFill>
              </a:rPr>
              <a:t>Disruption risk</a:t>
            </a:r>
            <a:endParaRPr lang="en-US" sz="700" dirty="0"/>
          </a:p>
          <a:p>
            <a:pPr indent="0" marL="0">
              <a:buNone/>
            </a:pPr>
            <a:r>
              <a:rPr lang="en-US" sz="700" dirty="0">
                <a:solidFill>
                  <a:srgbClr val="C8D6E5"/>
                </a:solidFill>
              </a:rPr>
              <a:t>propagates downstream</a:t>
            </a:r>
            <a:endParaRPr lang="en-US" sz="700" dirty="0"/>
          </a:p>
        </p:txBody>
      </p:sp>
      <p:sp>
        <p:nvSpPr>
          <p:cNvPr id="114" name="Shape 107"/>
          <p:cNvSpPr/>
          <p:nvPr/>
        </p:nvSpPr>
        <p:spPr>
          <a:xfrm>
            <a:off x="5943600" y="3675888"/>
            <a:ext cx="1389888" cy="502920"/>
          </a:xfrm>
          <a:prstGeom prst="rect">
            <a:avLst/>
          </a:prstGeom>
          <a:solidFill>
            <a:srgbClr val="92400E">
              <a:alpha val="18000"/>
            </a:srgbClr>
          </a:solidFill>
          <a:ln w="6350">
            <a:solidFill>
              <a:srgbClr val="F0A500"/>
            </a:solidFill>
            <a:prstDash val="solid"/>
          </a:ln>
        </p:spPr>
      </p:sp>
      <p:sp>
        <p:nvSpPr>
          <p:cNvPr id="115" name="Text 108"/>
          <p:cNvSpPr/>
          <p:nvPr/>
        </p:nvSpPr>
        <p:spPr>
          <a:xfrm>
            <a:off x="5961888" y="3694176"/>
            <a:ext cx="1353312" cy="237744"/>
          </a:xfrm>
          <a:prstGeom prst="rect">
            <a:avLst/>
          </a:prstGeom>
          <a:noFill/>
          <a:ln/>
        </p:spPr>
        <p:txBody>
          <a:bodyPr wrap="square" lIns="12700" tIns="12700" rIns="12700" bIns="12700" rtlCol="0" anchor="ctr"/>
          <a:lstStyle/>
          <a:p>
            <a:pPr indent="0" marL="0">
              <a:buNone/>
            </a:pPr>
            <a:r>
              <a:rPr lang="en-US" sz="750" b="1" dirty="0">
                <a:solidFill>
                  <a:srgbClr val="F0A500"/>
                </a:solidFill>
              </a:rPr>
              <a:t>Disruption</a:t>
            </a:r>
            <a:endParaRPr lang="en-US" sz="750" dirty="0"/>
          </a:p>
          <a:p>
            <a:pPr indent="0" marL="0">
              <a:buNone/>
            </a:pPr>
            <a:r>
              <a:rPr lang="en-US" sz="750" b="1" dirty="0">
                <a:solidFill>
                  <a:srgbClr val="F0A500"/>
                </a:solidFill>
              </a:rPr>
              <a:t>simulator</a:t>
            </a:r>
            <a:endParaRPr lang="en-US" sz="750" dirty="0"/>
          </a:p>
        </p:txBody>
      </p:sp>
      <p:sp>
        <p:nvSpPr>
          <p:cNvPr id="116" name="Text 109"/>
          <p:cNvSpPr/>
          <p:nvPr/>
        </p:nvSpPr>
        <p:spPr>
          <a:xfrm>
            <a:off x="5961888" y="3931920"/>
            <a:ext cx="1353312" cy="219456"/>
          </a:xfrm>
          <a:prstGeom prst="rect">
            <a:avLst/>
          </a:prstGeom>
          <a:noFill/>
          <a:ln/>
        </p:spPr>
        <p:txBody>
          <a:bodyPr wrap="square" lIns="12700" tIns="12700" rIns="12700" bIns="12700" rtlCol="0" anchor="ctr"/>
          <a:lstStyle/>
          <a:p>
            <a:pPr indent="0" marL="0">
              <a:buNone/>
            </a:pPr>
            <a:r>
              <a:rPr lang="en-US" sz="700" dirty="0">
                <a:solidFill>
                  <a:srgbClr val="C8D6E5"/>
                </a:solidFill>
              </a:rPr>
              <a:t>Toggle failure,</a:t>
            </a:r>
            <a:endParaRPr lang="en-US" sz="700" dirty="0"/>
          </a:p>
          <a:p>
            <a:pPr indent="0" marL="0">
              <a:buNone/>
            </a:pPr>
            <a:r>
              <a:rPr lang="en-US" sz="700" dirty="0">
                <a:solidFill>
                  <a:srgbClr val="C8D6E5"/>
                </a:solidFill>
              </a:rPr>
              <a:t>see cascade live</a:t>
            </a:r>
            <a:endParaRPr lang="en-US" sz="700" dirty="0"/>
          </a:p>
        </p:txBody>
      </p:sp>
      <p:sp>
        <p:nvSpPr>
          <p:cNvPr id="117" name="Shape 110"/>
          <p:cNvSpPr/>
          <p:nvPr/>
        </p:nvSpPr>
        <p:spPr>
          <a:xfrm>
            <a:off x="5943600" y="4233672"/>
            <a:ext cx="1389888" cy="502920"/>
          </a:xfrm>
          <a:prstGeom prst="rect">
            <a:avLst/>
          </a:prstGeom>
          <a:solidFill>
            <a:srgbClr val="92400E">
              <a:alpha val="18000"/>
            </a:srgbClr>
          </a:solidFill>
          <a:ln w="6350">
            <a:solidFill>
              <a:srgbClr val="F0A500"/>
            </a:solidFill>
            <a:prstDash val="solid"/>
          </a:ln>
        </p:spPr>
      </p:sp>
      <p:sp>
        <p:nvSpPr>
          <p:cNvPr id="118" name="Text 111"/>
          <p:cNvSpPr/>
          <p:nvPr/>
        </p:nvSpPr>
        <p:spPr>
          <a:xfrm>
            <a:off x="5961888" y="4251960"/>
            <a:ext cx="1353312" cy="237744"/>
          </a:xfrm>
          <a:prstGeom prst="rect">
            <a:avLst/>
          </a:prstGeom>
          <a:noFill/>
          <a:ln/>
        </p:spPr>
        <p:txBody>
          <a:bodyPr wrap="square" lIns="12700" tIns="12700" rIns="12700" bIns="12700" rtlCol="0" anchor="ctr"/>
          <a:lstStyle/>
          <a:p>
            <a:pPr indent="0" marL="0">
              <a:buNone/>
            </a:pPr>
            <a:r>
              <a:rPr lang="en-US" sz="750" b="1" dirty="0">
                <a:solidFill>
                  <a:srgbClr val="F0A500"/>
                </a:solidFill>
              </a:rPr>
              <a:t>Risk score</a:t>
            </a:r>
            <a:endParaRPr lang="en-US" sz="750" dirty="0"/>
          </a:p>
          <a:p>
            <a:pPr indent="0" marL="0">
              <a:buNone/>
            </a:pPr>
            <a:r>
              <a:rPr lang="en-US" sz="750" b="1" dirty="0">
                <a:solidFill>
                  <a:srgbClr val="F0A500"/>
                </a:solidFill>
              </a:rPr>
              <a:t>per drug</a:t>
            </a:r>
            <a:endParaRPr lang="en-US" sz="750" dirty="0"/>
          </a:p>
        </p:txBody>
      </p:sp>
      <p:sp>
        <p:nvSpPr>
          <p:cNvPr id="119" name="Text 112"/>
          <p:cNvSpPr/>
          <p:nvPr/>
        </p:nvSpPr>
        <p:spPr>
          <a:xfrm>
            <a:off x="5961888" y="4489704"/>
            <a:ext cx="1353312" cy="219456"/>
          </a:xfrm>
          <a:prstGeom prst="rect">
            <a:avLst/>
          </a:prstGeom>
          <a:noFill/>
          <a:ln/>
        </p:spPr>
        <p:txBody>
          <a:bodyPr wrap="square" lIns="12700" tIns="12700" rIns="12700" bIns="12700" rtlCol="0" anchor="ctr"/>
          <a:lstStyle/>
          <a:p>
            <a:pPr indent="0" marL="0">
              <a:buNone/>
            </a:pPr>
            <a:r>
              <a:rPr lang="en-US" sz="700" dirty="0">
                <a:solidFill>
                  <a:srgbClr val="C8D6E5"/>
                </a:solidFill>
              </a:rPr>
              <a:t>Supplier risk</a:t>
            </a:r>
            <a:endParaRPr lang="en-US" sz="700" dirty="0"/>
          </a:p>
          <a:p>
            <a:pPr indent="0" marL="0">
              <a:buNone/>
            </a:pPr>
            <a:r>
              <a:rPr lang="en-US" sz="700" dirty="0">
                <a:solidFill>
                  <a:srgbClr val="C8D6E5"/>
                </a:solidFill>
              </a:rPr>
              <a:t>added to TFT input</a:t>
            </a:r>
            <a:endParaRPr lang="en-US" sz="700" dirty="0"/>
          </a:p>
        </p:txBody>
      </p:sp>
      <p:sp>
        <p:nvSpPr>
          <p:cNvPr id="120" name="Shape 113"/>
          <p:cNvSpPr/>
          <p:nvPr/>
        </p:nvSpPr>
        <p:spPr>
          <a:xfrm>
            <a:off x="7498080" y="1115568"/>
            <a:ext cx="1572768" cy="3657600"/>
          </a:xfrm>
          <a:prstGeom prst="rect">
            <a:avLst/>
          </a:prstGeom>
          <a:solidFill>
            <a:srgbClr val="112240"/>
          </a:solidFill>
          <a:ln w="19050">
            <a:solidFill>
              <a:srgbClr val="27AE60"/>
            </a:solidFill>
            <a:prstDash val="solid"/>
          </a:ln>
        </p:spPr>
      </p:sp>
      <p:sp>
        <p:nvSpPr>
          <p:cNvPr id="121" name="Shape 114"/>
          <p:cNvSpPr/>
          <p:nvPr/>
        </p:nvSpPr>
        <p:spPr>
          <a:xfrm>
            <a:off x="7498080" y="1115568"/>
            <a:ext cx="1572768" cy="274320"/>
          </a:xfrm>
          <a:prstGeom prst="rect">
            <a:avLst/>
          </a:prstGeom>
          <a:solidFill>
            <a:srgbClr val="27AE60"/>
          </a:solidFill>
          <a:ln w="12700">
            <a:solidFill>
              <a:srgbClr val="27AE60"/>
            </a:solidFill>
            <a:prstDash val="solid"/>
          </a:ln>
        </p:spPr>
      </p:sp>
      <p:pic>
        <p:nvPicPr>
          <p:cNvPr id="122" name="Image 5" descr="preencoded.png">    </p:cNvPr>
          <p:cNvPicPr>
            <a:picLocks noChangeAspect="1"/>
          </p:cNvPicPr>
          <p:nvPr/>
        </p:nvPicPr>
        <p:blipFill>
          <a:blip r:embed="rId6"/>
          <a:stretch>
            <a:fillRect/>
          </a:stretch>
        </p:blipFill>
        <p:spPr>
          <a:xfrm>
            <a:off x="7589520" y="1143000"/>
            <a:ext cx="201168" cy="201168"/>
          </a:xfrm>
          <a:prstGeom prst="rect">
            <a:avLst/>
          </a:prstGeom>
        </p:spPr>
      </p:pic>
      <p:sp>
        <p:nvSpPr>
          <p:cNvPr id="123" name="Text 115"/>
          <p:cNvSpPr/>
          <p:nvPr/>
        </p:nvSpPr>
        <p:spPr>
          <a:xfrm>
            <a:off x="7498080" y="1115568"/>
            <a:ext cx="1572768" cy="274320"/>
          </a:xfrm>
          <a:prstGeom prst="rect">
            <a:avLst/>
          </a:prstGeom>
          <a:noFill/>
          <a:ln/>
        </p:spPr>
        <p:txBody>
          <a:bodyPr wrap="square" lIns="0" tIns="0" rIns="0" bIns="0" rtlCol="0" anchor="ctr"/>
          <a:lstStyle/>
          <a:p>
            <a:pPr algn="ctr" indent="0" marL="0">
              <a:buNone/>
            </a:pPr>
            <a:r>
              <a:rPr lang="en-US" sz="800" b="1" dirty="0">
                <a:solidFill>
                  <a:srgbClr val="FFFFFF"/>
                </a:solidFill>
              </a:rPr>
              <a:t>OUTPUTS</a:t>
            </a:r>
            <a:endParaRPr lang="en-US" sz="800" dirty="0"/>
          </a:p>
        </p:txBody>
      </p:sp>
      <p:sp>
        <p:nvSpPr>
          <p:cNvPr id="124" name="Shape 116"/>
          <p:cNvSpPr/>
          <p:nvPr/>
        </p:nvSpPr>
        <p:spPr>
          <a:xfrm>
            <a:off x="7571232" y="1444752"/>
            <a:ext cx="1426464" cy="493776"/>
          </a:xfrm>
          <a:prstGeom prst="rect">
            <a:avLst/>
          </a:prstGeom>
          <a:solidFill>
            <a:srgbClr val="1A6B3C">
              <a:alpha val="18000"/>
            </a:srgbClr>
          </a:solidFill>
          <a:ln w="10160">
            <a:solidFill>
              <a:srgbClr val="FF6B6B"/>
            </a:solidFill>
            <a:prstDash val="solid"/>
          </a:ln>
        </p:spPr>
      </p:sp>
      <p:sp>
        <p:nvSpPr>
          <p:cNvPr id="125" name="Text 117"/>
          <p:cNvSpPr/>
          <p:nvPr/>
        </p:nvSpPr>
        <p:spPr>
          <a:xfrm>
            <a:off x="7589520" y="1463040"/>
            <a:ext cx="1389888" cy="237744"/>
          </a:xfrm>
          <a:prstGeom prst="rect">
            <a:avLst/>
          </a:prstGeom>
          <a:noFill/>
          <a:ln/>
        </p:spPr>
        <p:txBody>
          <a:bodyPr wrap="square" lIns="12700" tIns="12700" rIns="12700" bIns="12700" rtlCol="0" anchor="ctr"/>
          <a:lstStyle/>
          <a:p>
            <a:pPr indent="0" marL="0">
              <a:buNone/>
            </a:pPr>
            <a:r>
              <a:rPr lang="en-US" sz="750" b="1" dirty="0">
                <a:solidFill>
                  <a:srgbClr val="FF6B6B"/>
                </a:solidFill>
              </a:rPr>
              <a:t>45-day risk</a:t>
            </a:r>
            <a:endParaRPr lang="en-US" sz="750" dirty="0"/>
          </a:p>
          <a:p>
            <a:pPr indent="0" marL="0">
              <a:buNone/>
            </a:pPr>
            <a:r>
              <a:rPr lang="en-US" sz="750" b="1" dirty="0">
                <a:solidFill>
                  <a:srgbClr val="FF6B6B"/>
                </a:solidFill>
              </a:rPr>
              <a:t>forecast</a:t>
            </a:r>
            <a:endParaRPr lang="en-US" sz="750" dirty="0"/>
          </a:p>
        </p:txBody>
      </p:sp>
      <p:sp>
        <p:nvSpPr>
          <p:cNvPr id="126" name="Text 118"/>
          <p:cNvSpPr/>
          <p:nvPr/>
        </p:nvSpPr>
        <p:spPr>
          <a:xfrm>
            <a:off x="7589520" y="1700784"/>
            <a:ext cx="1389888" cy="201168"/>
          </a:xfrm>
          <a:prstGeom prst="rect">
            <a:avLst/>
          </a:prstGeom>
          <a:noFill/>
          <a:ln/>
        </p:spPr>
        <p:txBody>
          <a:bodyPr wrap="square" lIns="12700" tIns="12700" rIns="12700" bIns="12700" rtlCol="0" anchor="ctr"/>
          <a:lstStyle/>
          <a:p>
            <a:pPr indent="0" marL="0">
              <a:buNone/>
            </a:pPr>
            <a:r>
              <a:rPr lang="en-US" sz="700" dirty="0">
                <a:solidFill>
                  <a:srgbClr val="C8D6E5"/>
                </a:solidFill>
              </a:rPr>
              <a:t>P10/P50/P90</a:t>
            </a:r>
            <a:endParaRPr lang="en-US" sz="700" dirty="0"/>
          </a:p>
          <a:p>
            <a:pPr indent="0" marL="0">
              <a:buNone/>
            </a:pPr>
            <a:r>
              <a:rPr lang="en-US" sz="700" dirty="0">
                <a:solidFill>
                  <a:srgbClr val="C8D6E5"/>
                </a:solidFill>
              </a:rPr>
              <a:t>per drug</a:t>
            </a:r>
            <a:endParaRPr lang="en-US" sz="700" dirty="0"/>
          </a:p>
        </p:txBody>
      </p:sp>
      <p:sp>
        <p:nvSpPr>
          <p:cNvPr id="127" name="Shape 119"/>
          <p:cNvSpPr/>
          <p:nvPr/>
        </p:nvSpPr>
        <p:spPr>
          <a:xfrm>
            <a:off x="7571232" y="1993392"/>
            <a:ext cx="1426464" cy="493776"/>
          </a:xfrm>
          <a:prstGeom prst="rect">
            <a:avLst/>
          </a:prstGeom>
          <a:solidFill>
            <a:srgbClr val="1A6B3C">
              <a:alpha val="18000"/>
            </a:srgbClr>
          </a:solidFill>
          <a:ln w="10160">
            <a:solidFill>
              <a:srgbClr val="F0A500"/>
            </a:solidFill>
            <a:prstDash val="solid"/>
          </a:ln>
        </p:spPr>
      </p:sp>
      <p:sp>
        <p:nvSpPr>
          <p:cNvPr id="128" name="Text 120"/>
          <p:cNvSpPr/>
          <p:nvPr/>
        </p:nvSpPr>
        <p:spPr>
          <a:xfrm>
            <a:off x="7589520" y="2011680"/>
            <a:ext cx="1389888" cy="237744"/>
          </a:xfrm>
          <a:prstGeom prst="rect">
            <a:avLst/>
          </a:prstGeom>
          <a:noFill/>
          <a:ln/>
        </p:spPr>
        <p:txBody>
          <a:bodyPr wrap="square" lIns="12700" tIns="12700" rIns="12700" bIns="12700" rtlCol="0" anchor="ctr"/>
          <a:lstStyle/>
          <a:p>
            <a:pPr indent="0" marL="0">
              <a:buNone/>
            </a:pPr>
            <a:r>
              <a:rPr lang="en-US" sz="750" b="1" dirty="0">
                <a:solidFill>
                  <a:srgbClr val="F0A500"/>
                </a:solidFill>
              </a:rPr>
              <a:t>Traffic light</a:t>
            </a:r>
            <a:endParaRPr lang="en-US" sz="750" dirty="0"/>
          </a:p>
          <a:p>
            <a:pPr indent="0" marL="0">
              <a:buNone/>
            </a:pPr>
            <a:r>
              <a:rPr lang="en-US" sz="750" b="1" dirty="0">
                <a:solidFill>
                  <a:srgbClr val="F0A500"/>
                </a:solidFill>
              </a:rPr>
              <a:t>risk tiers</a:t>
            </a:r>
            <a:endParaRPr lang="en-US" sz="750" dirty="0"/>
          </a:p>
        </p:txBody>
      </p:sp>
      <p:sp>
        <p:nvSpPr>
          <p:cNvPr id="129" name="Text 121"/>
          <p:cNvSpPr/>
          <p:nvPr/>
        </p:nvSpPr>
        <p:spPr>
          <a:xfrm>
            <a:off x="7589520" y="2249424"/>
            <a:ext cx="1389888" cy="201168"/>
          </a:xfrm>
          <a:prstGeom prst="rect">
            <a:avLst/>
          </a:prstGeom>
          <a:noFill/>
          <a:ln/>
        </p:spPr>
        <p:txBody>
          <a:bodyPr wrap="square" lIns="12700" tIns="12700" rIns="12700" bIns="12700" rtlCol="0" anchor="ctr"/>
          <a:lstStyle/>
          <a:p>
            <a:pPr indent="0" marL="0">
              <a:buNone/>
            </a:pPr>
            <a:r>
              <a:rPr lang="en-US" sz="700" dirty="0">
                <a:solidFill>
                  <a:srgbClr val="C8D6E5"/>
                </a:solidFill>
              </a:rPr>
              <a:t>Critical / High</a:t>
            </a:r>
            <a:endParaRPr lang="en-US" sz="700" dirty="0"/>
          </a:p>
          <a:p>
            <a:pPr indent="0" marL="0">
              <a:buNone/>
            </a:pPr>
            <a:r>
              <a:rPr lang="en-US" sz="700" dirty="0">
                <a:solidFill>
                  <a:srgbClr val="C8D6E5"/>
                </a:solidFill>
              </a:rPr>
              <a:t>/ Medium / Low</a:t>
            </a:r>
            <a:endParaRPr lang="en-US" sz="700" dirty="0"/>
          </a:p>
        </p:txBody>
      </p:sp>
      <p:sp>
        <p:nvSpPr>
          <p:cNvPr id="130" name="Shape 122"/>
          <p:cNvSpPr/>
          <p:nvPr/>
        </p:nvSpPr>
        <p:spPr>
          <a:xfrm>
            <a:off x="7571232" y="2542032"/>
            <a:ext cx="1426464" cy="493776"/>
          </a:xfrm>
          <a:prstGeom prst="rect">
            <a:avLst/>
          </a:prstGeom>
          <a:solidFill>
            <a:srgbClr val="1A6B3C">
              <a:alpha val="18000"/>
            </a:srgbClr>
          </a:solidFill>
          <a:ln w="10160">
            <a:solidFill>
              <a:srgbClr val="7B52AB"/>
            </a:solidFill>
            <a:prstDash val="solid"/>
          </a:ln>
        </p:spPr>
      </p:sp>
      <p:sp>
        <p:nvSpPr>
          <p:cNvPr id="131" name="Text 123"/>
          <p:cNvSpPr/>
          <p:nvPr/>
        </p:nvSpPr>
        <p:spPr>
          <a:xfrm>
            <a:off x="7589520" y="2560320"/>
            <a:ext cx="1389888" cy="237744"/>
          </a:xfrm>
          <a:prstGeom prst="rect">
            <a:avLst/>
          </a:prstGeom>
          <a:noFill/>
          <a:ln/>
        </p:spPr>
        <p:txBody>
          <a:bodyPr wrap="square" lIns="12700" tIns="12700" rIns="12700" bIns="12700" rtlCol="0" anchor="ctr"/>
          <a:lstStyle/>
          <a:p>
            <a:pPr indent="0" marL="0">
              <a:buNone/>
            </a:pPr>
            <a:r>
              <a:rPr lang="en-US" sz="750" b="1" dirty="0">
                <a:solidFill>
                  <a:srgbClr val="7B52AB"/>
                </a:solidFill>
              </a:rPr>
              <a:t>Top-5 at-risk</a:t>
            </a:r>
            <a:endParaRPr lang="en-US" sz="750" dirty="0"/>
          </a:p>
          <a:p>
            <a:pPr indent="0" marL="0">
              <a:buNone/>
            </a:pPr>
            <a:r>
              <a:rPr lang="en-US" sz="750" b="1" dirty="0">
                <a:solidFill>
                  <a:srgbClr val="7B52AB"/>
                </a:solidFill>
              </a:rPr>
              <a:t>drugs</a:t>
            </a:r>
            <a:endParaRPr lang="en-US" sz="750" dirty="0"/>
          </a:p>
        </p:txBody>
      </p:sp>
      <p:sp>
        <p:nvSpPr>
          <p:cNvPr id="132" name="Text 124"/>
          <p:cNvSpPr/>
          <p:nvPr/>
        </p:nvSpPr>
        <p:spPr>
          <a:xfrm>
            <a:off x="7589520" y="2798064"/>
            <a:ext cx="1389888" cy="201168"/>
          </a:xfrm>
          <a:prstGeom prst="rect">
            <a:avLst/>
          </a:prstGeom>
          <a:noFill/>
          <a:ln/>
        </p:spPr>
        <p:txBody>
          <a:bodyPr wrap="square" lIns="12700" tIns="12700" rIns="12700" bIns="12700" rtlCol="0" anchor="ctr"/>
          <a:lstStyle/>
          <a:p>
            <a:pPr indent="0" marL="0">
              <a:buNone/>
            </a:pPr>
            <a:r>
              <a:rPr lang="en-US" sz="700" dirty="0">
                <a:solidFill>
                  <a:srgbClr val="C8D6E5"/>
                </a:solidFill>
              </a:rPr>
              <a:t>Ranked by</a:t>
            </a:r>
            <a:endParaRPr lang="en-US" sz="700" dirty="0"/>
          </a:p>
          <a:p>
            <a:pPr indent="0" marL="0">
              <a:buNone/>
            </a:pPr>
            <a:r>
              <a:rPr lang="en-US" sz="700" dirty="0">
                <a:solidFill>
                  <a:srgbClr val="C8D6E5"/>
                </a:solidFill>
              </a:rPr>
              <a:t>shortage prob.</a:t>
            </a:r>
            <a:endParaRPr lang="en-US" sz="700" dirty="0"/>
          </a:p>
        </p:txBody>
      </p:sp>
      <p:sp>
        <p:nvSpPr>
          <p:cNvPr id="133" name="Shape 125"/>
          <p:cNvSpPr/>
          <p:nvPr/>
        </p:nvSpPr>
        <p:spPr>
          <a:xfrm>
            <a:off x="7571232" y="3090672"/>
            <a:ext cx="1426464" cy="493776"/>
          </a:xfrm>
          <a:prstGeom prst="rect">
            <a:avLst/>
          </a:prstGeom>
          <a:solidFill>
            <a:srgbClr val="1A6B3C">
              <a:alpha val="18000"/>
            </a:srgbClr>
          </a:solidFill>
          <a:ln w="10160">
            <a:solidFill>
              <a:srgbClr val="0D9B8A"/>
            </a:solidFill>
            <a:prstDash val="solid"/>
          </a:ln>
        </p:spPr>
      </p:sp>
      <p:sp>
        <p:nvSpPr>
          <p:cNvPr id="134" name="Text 126"/>
          <p:cNvSpPr/>
          <p:nvPr/>
        </p:nvSpPr>
        <p:spPr>
          <a:xfrm>
            <a:off x="7589520" y="3108960"/>
            <a:ext cx="1389888" cy="237744"/>
          </a:xfrm>
          <a:prstGeom prst="rect">
            <a:avLst/>
          </a:prstGeom>
          <a:noFill/>
          <a:ln/>
        </p:spPr>
        <p:txBody>
          <a:bodyPr wrap="square" lIns="12700" tIns="12700" rIns="12700" bIns="12700" rtlCol="0" anchor="ctr"/>
          <a:lstStyle/>
          <a:p>
            <a:pPr indent="0" marL="0">
              <a:buNone/>
            </a:pPr>
            <a:r>
              <a:rPr lang="en-US" sz="750" b="1" dirty="0">
                <a:solidFill>
                  <a:srgbClr val="0D9B8A"/>
                </a:solidFill>
              </a:rPr>
              <a:t>Reorder</a:t>
            </a:r>
            <a:endParaRPr lang="en-US" sz="750" dirty="0"/>
          </a:p>
          <a:p>
            <a:pPr indent="0" marL="0">
              <a:buNone/>
            </a:pPr>
            <a:r>
              <a:rPr lang="en-US" sz="750" b="1" dirty="0">
                <a:solidFill>
                  <a:srgbClr val="0D9B8A"/>
                </a:solidFill>
              </a:rPr>
              <a:t>quantities</a:t>
            </a:r>
            <a:endParaRPr lang="en-US" sz="750" dirty="0"/>
          </a:p>
        </p:txBody>
      </p:sp>
      <p:sp>
        <p:nvSpPr>
          <p:cNvPr id="135" name="Text 127"/>
          <p:cNvSpPr/>
          <p:nvPr/>
        </p:nvSpPr>
        <p:spPr>
          <a:xfrm>
            <a:off x="7589520" y="3346704"/>
            <a:ext cx="1389888" cy="201168"/>
          </a:xfrm>
          <a:prstGeom prst="rect">
            <a:avLst/>
          </a:prstGeom>
          <a:noFill/>
          <a:ln/>
        </p:spPr>
        <p:txBody>
          <a:bodyPr wrap="square" lIns="12700" tIns="12700" rIns="12700" bIns="12700" rtlCol="0" anchor="ctr"/>
          <a:lstStyle/>
          <a:p>
            <a:pPr indent="0" marL="0">
              <a:buNone/>
            </a:pPr>
            <a:r>
              <a:rPr lang="en-US" sz="700" dirty="0">
                <a:solidFill>
                  <a:srgbClr val="C8D6E5"/>
                </a:solidFill>
              </a:rPr>
              <a:t>With confidence</a:t>
            </a:r>
            <a:endParaRPr lang="en-US" sz="700" dirty="0"/>
          </a:p>
          <a:p>
            <a:pPr indent="0" marL="0">
              <a:buNone/>
            </a:pPr>
            <a:r>
              <a:rPr lang="en-US" sz="700" dirty="0">
                <a:solidFill>
                  <a:srgbClr val="C8D6E5"/>
                </a:solidFill>
              </a:rPr>
              <a:t>interval</a:t>
            </a:r>
            <a:endParaRPr lang="en-US" sz="700" dirty="0"/>
          </a:p>
        </p:txBody>
      </p:sp>
      <p:sp>
        <p:nvSpPr>
          <p:cNvPr id="136" name="Shape 128"/>
          <p:cNvSpPr/>
          <p:nvPr/>
        </p:nvSpPr>
        <p:spPr>
          <a:xfrm>
            <a:off x="7571232" y="3639312"/>
            <a:ext cx="1426464" cy="493776"/>
          </a:xfrm>
          <a:prstGeom prst="rect">
            <a:avLst/>
          </a:prstGeom>
          <a:solidFill>
            <a:srgbClr val="1A6B3C">
              <a:alpha val="18000"/>
            </a:srgbClr>
          </a:solidFill>
          <a:ln w="10160">
            <a:solidFill>
              <a:srgbClr val="2E86DE"/>
            </a:solidFill>
            <a:prstDash val="solid"/>
          </a:ln>
        </p:spPr>
      </p:sp>
      <p:sp>
        <p:nvSpPr>
          <p:cNvPr id="137" name="Text 129"/>
          <p:cNvSpPr/>
          <p:nvPr/>
        </p:nvSpPr>
        <p:spPr>
          <a:xfrm>
            <a:off x="7589520" y="3657600"/>
            <a:ext cx="1389888" cy="237744"/>
          </a:xfrm>
          <a:prstGeom prst="rect">
            <a:avLst/>
          </a:prstGeom>
          <a:noFill/>
          <a:ln/>
        </p:spPr>
        <p:txBody>
          <a:bodyPr wrap="square" lIns="12700" tIns="12700" rIns="12700" bIns="12700" rtlCol="0" anchor="ctr"/>
          <a:lstStyle/>
          <a:p>
            <a:pPr indent="0" marL="0">
              <a:buNone/>
            </a:pPr>
            <a:r>
              <a:rPr lang="en-US" sz="750" b="1" dirty="0">
                <a:solidFill>
                  <a:srgbClr val="2E86DE"/>
                </a:solidFill>
              </a:rPr>
              <a:t>Supplier</a:t>
            </a:r>
            <a:endParaRPr lang="en-US" sz="750" dirty="0"/>
          </a:p>
          <a:p>
            <a:pPr indent="0" marL="0">
              <a:buNone/>
            </a:pPr>
            <a:r>
              <a:rPr lang="en-US" sz="750" b="1" dirty="0">
                <a:solidFill>
                  <a:srgbClr val="2E86DE"/>
                </a:solidFill>
              </a:rPr>
              <a:t>alerts</a:t>
            </a:r>
            <a:endParaRPr lang="en-US" sz="750" dirty="0"/>
          </a:p>
        </p:txBody>
      </p:sp>
      <p:sp>
        <p:nvSpPr>
          <p:cNvPr id="138" name="Text 130"/>
          <p:cNvSpPr/>
          <p:nvPr/>
        </p:nvSpPr>
        <p:spPr>
          <a:xfrm>
            <a:off x="7589520" y="3895344"/>
            <a:ext cx="1389888" cy="201168"/>
          </a:xfrm>
          <a:prstGeom prst="rect">
            <a:avLst/>
          </a:prstGeom>
          <a:noFill/>
          <a:ln/>
        </p:spPr>
        <p:txBody>
          <a:bodyPr wrap="square" lIns="12700" tIns="12700" rIns="12700" bIns="12700" rtlCol="0" anchor="ctr"/>
          <a:lstStyle/>
          <a:p>
            <a:pPr indent="0" marL="0">
              <a:buNone/>
            </a:pPr>
            <a:r>
              <a:rPr lang="en-US" sz="700" dirty="0">
                <a:solidFill>
                  <a:srgbClr val="C8D6E5"/>
                </a:solidFill>
              </a:rPr>
              <a:t>Disruption</a:t>
            </a:r>
            <a:endParaRPr lang="en-US" sz="700" dirty="0"/>
          </a:p>
          <a:p>
            <a:pPr indent="0" marL="0">
              <a:buNone/>
            </a:pPr>
            <a:r>
              <a:rPr lang="en-US" sz="700" dirty="0">
                <a:solidFill>
                  <a:srgbClr val="C8D6E5"/>
                </a:solidFill>
              </a:rPr>
              <a:t>risk flags</a:t>
            </a:r>
            <a:endParaRPr lang="en-US" sz="700" dirty="0"/>
          </a:p>
        </p:txBody>
      </p:sp>
      <p:sp>
        <p:nvSpPr>
          <p:cNvPr id="139" name="Shape 131"/>
          <p:cNvSpPr/>
          <p:nvPr/>
        </p:nvSpPr>
        <p:spPr>
          <a:xfrm>
            <a:off x="7571232" y="4187952"/>
            <a:ext cx="1426464" cy="493776"/>
          </a:xfrm>
          <a:prstGeom prst="rect">
            <a:avLst/>
          </a:prstGeom>
          <a:solidFill>
            <a:srgbClr val="1A6B3C">
              <a:alpha val="18000"/>
            </a:srgbClr>
          </a:solidFill>
          <a:ln w="10160">
            <a:solidFill>
              <a:srgbClr val="27AE60"/>
            </a:solidFill>
            <a:prstDash val="solid"/>
          </a:ln>
        </p:spPr>
      </p:sp>
      <p:sp>
        <p:nvSpPr>
          <p:cNvPr id="140" name="Text 132"/>
          <p:cNvSpPr/>
          <p:nvPr/>
        </p:nvSpPr>
        <p:spPr>
          <a:xfrm>
            <a:off x="7589520" y="4206240"/>
            <a:ext cx="1389888" cy="237744"/>
          </a:xfrm>
          <a:prstGeom prst="rect">
            <a:avLst/>
          </a:prstGeom>
          <a:noFill/>
          <a:ln/>
        </p:spPr>
        <p:txBody>
          <a:bodyPr wrap="square" lIns="12700" tIns="12700" rIns="12700" bIns="12700" rtlCol="0" anchor="ctr"/>
          <a:lstStyle/>
          <a:p>
            <a:pPr indent="0" marL="0">
              <a:buNone/>
            </a:pPr>
            <a:r>
              <a:rPr lang="en-US" sz="750" b="1" dirty="0">
                <a:solidFill>
                  <a:srgbClr val="27AE60"/>
                </a:solidFill>
              </a:rPr>
              <a:t>Purchase</a:t>
            </a:r>
            <a:endParaRPr lang="en-US" sz="750" dirty="0"/>
          </a:p>
          <a:p>
            <a:pPr indent="0" marL="0">
              <a:buNone/>
            </a:pPr>
            <a:r>
              <a:rPr lang="en-US" sz="750" b="1" dirty="0">
                <a:solidFill>
                  <a:srgbClr val="27AE60"/>
                </a:solidFill>
              </a:rPr>
              <a:t>order CSV</a:t>
            </a:r>
            <a:endParaRPr lang="en-US" sz="750" dirty="0"/>
          </a:p>
        </p:txBody>
      </p:sp>
      <p:sp>
        <p:nvSpPr>
          <p:cNvPr id="141" name="Text 133"/>
          <p:cNvSpPr/>
          <p:nvPr/>
        </p:nvSpPr>
        <p:spPr>
          <a:xfrm>
            <a:off x="7589520" y="4443984"/>
            <a:ext cx="1389888" cy="201168"/>
          </a:xfrm>
          <a:prstGeom prst="rect">
            <a:avLst/>
          </a:prstGeom>
          <a:noFill/>
          <a:ln/>
        </p:spPr>
        <p:txBody>
          <a:bodyPr wrap="square" lIns="12700" tIns="12700" rIns="12700" bIns="12700" rtlCol="0" anchor="ctr"/>
          <a:lstStyle/>
          <a:p>
            <a:pPr indent="0" marL="0">
              <a:buNone/>
            </a:pPr>
            <a:r>
              <a:rPr lang="en-US" sz="700" dirty="0">
                <a:solidFill>
                  <a:srgbClr val="C8D6E5"/>
                </a:solidFill>
              </a:rPr>
              <a:t>Export-ready</a:t>
            </a:r>
            <a:endParaRPr lang="en-US" sz="700" dirty="0"/>
          </a:p>
          <a:p>
            <a:pPr indent="0" marL="0">
              <a:buNone/>
            </a:pPr>
            <a:r>
              <a:rPr lang="en-US" sz="700" dirty="0">
                <a:solidFill>
                  <a:srgbClr val="C8D6E5"/>
                </a:solidFill>
              </a:rPr>
              <a:t>procurement list</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12240"/>
          </a:solidFill>
          <a:ln w="12700">
            <a:solidFill>
              <a:srgbClr val="112240"/>
            </a:solidFill>
            <a:prstDash val="solid"/>
          </a:ln>
        </p:spPr>
      </p:sp>
      <p:sp>
        <p:nvSpPr>
          <p:cNvPr id="3" name="Shape 1"/>
          <p:cNvSpPr/>
          <p:nvPr/>
        </p:nvSpPr>
        <p:spPr>
          <a:xfrm>
            <a:off x="0" y="0"/>
            <a:ext cx="54864" cy="804672"/>
          </a:xfrm>
          <a:prstGeom prst="rect">
            <a:avLst/>
          </a:prstGeom>
          <a:solidFill>
            <a:srgbClr val="7B52AB"/>
          </a:solidFill>
          <a:ln w="12700">
            <a:solidFill>
              <a:srgbClr val="7B52AB"/>
            </a:solidFill>
            <a:prstDash val="solid"/>
          </a:ln>
        </p:spPr>
      </p:sp>
      <p:pic>
        <p:nvPicPr>
          <p:cNvPr id="4" name="Image 0" descr="preencoded.png">    </p:cNvPr>
          <p:cNvPicPr>
            <a:picLocks noChangeAspect="1"/>
          </p:cNvPicPr>
          <p:nvPr/>
        </p:nvPicPr>
        <p:blipFill>
          <a:blip r:embed="rId1"/>
          <a:stretch>
            <a:fillRect/>
          </a:stretch>
        </p:blipFill>
        <p:spPr>
          <a:xfrm>
            <a:off x="182880" y="182880"/>
            <a:ext cx="420624" cy="420624"/>
          </a:xfrm>
          <a:prstGeom prst="rect">
            <a:avLst/>
          </a:prstGeom>
        </p:spPr>
      </p:pic>
      <p:sp>
        <p:nvSpPr>
          <p:cNvPr id="5" name="Text 2"/>
          <p:cNvSpPr/>
          <p:nvPr/>
        </p:nvSpPr>
        <p:spPr>
          <a:xfrm>
            <a:off x="749808" y="54864"/>
            <a:ext cx="7315200" cy="329184"/>
          </a:xfrm>
          <a:prstGeom prst="rect">
            <a:avLst/>
          </a:prstGeom>
          <a:noFill/>
          <a:ln/>
        </p:spPr>
        <p:txBody>
          <a:bodyPr wrap="square" lIns="0" tIns="0" rIns="0" bIns="0" rtlCol="0" anchor="ctr"/>
          <a:lstStyle/>
          <a:p>
            <a:pPr indent="0" marL="0">
              <a:buNone/>
            </a:pPr>
            <a:r>
              <a:rPr lang="en-US" sz="1100" b="1" spc="400" kern="0" dirty="0">
                <a:solidFill>
                  <a:srgbClr val="7B52AB"/>
                </a:solidFill>
              </a:rPr>
              <a:t>TRAINING PIPELINE</a:t>
            </a:r>
            <a:endParaRPr lang="en-US" sz="1100" dirty="0"/>
          </a:p>
        </p:txBody>
      </p:sp>
      <p:sp>
        <p:nvSpPr>
          <p:cNvPr id="6" name="Text 3"/>
          <p:cNvSpPr/>
          <p:nvPr/>
        </p:nvSpPr>
        <p:spPr>
          <a:xfrm>
            <a:off x="749808" y="402336"/>
            <a:ext cx="8229600" cy="292608"/>
          </a:xfrm>
          <a:prstGeom prst="rect">
            <a:avLst/>
          </a:prstGeom>
          <a:noFill/>
          <a:ln/>
        </p:spPr>
        <p:txBody>
          <a:bodyPr wrap="square" lIns="0" tIns="0" rIns="0" bIns="0" rtlCol="0" anchor="ctr"/>
          <a:lstStyle/>
          <a:p>
            <a:pPr indent="0" marL="0">
              <a:buNone/>
            </a:pPr>
            <a:r>
              <a:rPr lang="en-US" sz="1200" dirty="0">
                <a:solidFill>
                  <a:srgbClr val="C8D6E5"/>
                </a:solidFill>
              </a:rPr>
              <a:t>Data → Preprocessing → TFT training → Supplier graph → Ablation study → Final evaluation</a:t>
            </a:r>
            <a:endParaRPr lang="en-US" sz="1200" dirty="0"/>
          </a:p>
        </p:txBody>
      </p:sp>
      <p:sp>
        <p:nvSpPr>
          <p:cNvPr id="7" name="Shape 4"/>
          <p:cNvSpPr/>
          <p:nvPr/>
        </p:nvSpPr>
        <p:spPr>
          <a:xfrm>
            <a:off x="182880" y="896112"/>
            <a:ext cx="4206240" cy="1828800"/>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8" name="Shape 5"/>
          <p:cNvSpPr/>
          <p:nvPr/>
        </p:nvSpPr>
        <p:spPr>
          <a:xfrm>
            <a:off x="182880" y="896112"/>
            <a:ext cx="4206240" cy="310896"/>
          </a:xfrm>
          <a:prstGeom prst="rect">
            <a:avLst/>
          </a:prstGeom>
          <a:solidFill>
            <a:srgbClr val="0D9B8A"/>
          </a:solidFill>
          <a:ln w="12700">
            <a:solidFill>
              <a:srgbClr val="0D9B8A"/>
            </a:solidFill>
            <a:prstDash val="solid"/>
          </a:ln>
        </p:spPr>
      </p:sp>
      <p:pic>
        <p:nvPicPr>
          <p:cNvPr id="9" name="Image 1" descr="preencoded.png">    </p:cNvPr>
          <p:cNvPicPr>
            <a:picLocks noChangeAspect="1"/>
          </p:cNvPicPr>
          <p:nvPr/>
        </p:nvPicPr>
        <p:blipFill>
          <a:blip r:embed="rId2"/>
          <a:stretch>
            <a:fillRect/>
          </a:stretch>
        </p:blipFill>
        <p:spPr>
          <a:xfrm>
            <a:off x="292608" y="941832"/>
            <a:ext cx="219456" cy="219456"/>
          </a:xfrm>
          <a:prstGeom prst="rect">
            <a:avLst/>
          </a:prstGeom>
        </p:spPr>
      </p:pic>
      <p:sp>
        <p:nvSpPr>
          <p:cNvPr id="10" name="Text 6"/>
          <p:cNvSpPr/>
          <p:nvPr/>
        </p:nvSpPr>
        <p:spPr>
          <a:xfrm>
            <a:off x="566928" y="896112"/>
            <a:ext cx="3749040" cy="310896"/>
          </a:xfrm>
          <a:prstGeom prst="rect">
            <a:avLst/>
          </a:prstGeom>
          <a:noFill/>
          <a:ln/>
        </p:spPr>
        <p:txBody>
          <a:bodyPr wrap="square" lIns="0" tIns="0" rIns="0" bIns="0" rtlCol="0" anchor="ctr"/>
          <a:lstStyle/>
          <a:p>
            <a:pPr indent="0" marL="0">
              <a:buNone/>
            </a:pPr>
            <a:r>
              <a:rPr lang="en-US" sz="1000" b="1" dirty="0">
                <a:solidFill>
                  <a:srgbClr val="FFFFFF"/>
                </a:solidFill>
              </a:rPr>
              <a:t>Stage 1 — Data Preprocessing (Month 1)</a:t>
            </a:r>
            <a:endParaRPr lang="en-US" sz="1000" dirty="0"/>
          </a:p>
        </p:txBody>
      </p:sp>
      <p:sp>
        <p:nvSpPr>
          <p:cNvPr id="11" name="Text 7"/>
          <p:cNvSpPr/>
          <p:nvPr/>
        </p:nvSpPr>
        <p:spPr>
          <a:xfrm>
            <a:off x="292608" y="1261872"/>
            <a:ext cx="868680" cy="320040"/>
          </a:xfrm>
          <a:prstGeom prst="rect">
            <a:avLst/>
          </a:prstGeom>
          <a:noFill/>
          <a:ln/>
        </p:spPr>
        <p:txBody>
          <a:bodyPr wrap="square" lIns="12700" tIns="12700" rIns="12700" bIns="12700" rtlCol="0" anchor="ctr"/>
          <a:lstStyle/>
          <a:p>
            <a:pPr indent="0" marL="0">
              <a:buNone/>
            </a:pPr>
            <a:r>
              <a:rPr lang="en-US" sz="850" b="1" dirty="0">
                <a:solidFill>
                  <a:srgbClr val="0B6E6E"/>
                </a:solidFill>
              </a:rPr>
              <a:t>Source:</a:t>
            </a:r>
            <a:endParaRPr lang="en-US" sz="850" dirty="0"/>
          </a:p>
        </p:txBody>
      </p:sp>
      <p:sp>
        <p:nvSpPr>
          <p:cNvPr id="12" name="Text 8"/>
          <p:cNvSpPr/>
          <p:nvPr/>
        </p:nvSpPr>
        <p:spPr>
          <a:xfrm>
            <a:off x="1170432" y="1261872"/>
            <a:ext cx="3108960" cy="320040"/>
          </a:xfrm>
          <a:prstGeom prst="rect">
            <a:avLst/>
          </a:prstGeom>
          <a:noFill/>
          <a:ln/>
        </p:spPr>
        <p:txBody>
          <a:bodyPr wrap="square" lIns="12700" tIns="12700" rIns="12700" bIns="12700" rtlCol="0" anchor="ctr"/>
          <a:lstStyle/>
          <a:p>
            <a:pPr indent="0" marL="0">
              <a:buNone/>
            </a:pPr>
            <a:r>
              <a:rPr lang="en-US" sz="850" dirty="0">
                <a:solidFill>
                  <a:srgbClr val="8899AA"/>
                </a:solidFill>
              </a:rPr>
              <a:t>MIMIC-IV pharmacy orders + FDA shortage DB + Synthea augmentation</a:t>
            </a:r>
            <a:endParaRPr lang="en-US" sz="850" dirty="0"/>
          </a:p>
        </p:txBody>
      </p:sp>
      <p:sp>
        <p:nvSpPr>
          <p:cNvPr id="13" name="Text 9"/>
          <p:cNvSpPr/>
          <p:nvPr/>
        </p:nvSpPr>
        <p:spPr>
          <a:xfrm>
            <a:off x="292608" y="1609344"/>
            <a:ext cx="868680" cy="320040"/>
          </a:xfrm>
          <a:prstGeom prst="rect">
            <a:avLst/>
          </a:prstGeom>
          <a:noFill/>
          <a:ln/>
        </p:spPr>
        <p:txBody>
          <a:bodyPr wrap="square" lIns="12700" tIns="12700" rIns="12700" bIns="12700" rtlCol="0" anchor="ctr"/>
          <a:lstStyle/>
          <a:p>
            <a:pPr indent="0" marL="0">
              <a:buNone/>
            </a:pPr>
            <a:r>
              <a:rPr lang="en-US" sz="850" b="1" dirty="0">
                <a:solidFill>
                  <a:srgbClr val="0B6E6E"/>
                </a:solidFill>
              </a:rPr>
              <a:t>Cleaning:</a:t>
            </a:r>
            <a:endParaRPr lang="en-US" sz="850" dirty="0"/>
          </a:p>
        </p:txBody>
      </p:sp>
      <p:sp>
        <p:nvSpPr>
          <p:cNvPr id="14" name="Text 10"/>
          <p:cNvSpPr/>
          <p:nvPr/>
        </p:nvSpPr>
        <p:spPr>
          <a:xfrm>
            <a:off x="1170432" y="1609344"/>
            <a:ext cx="3108960" cy="320040"/>
          </a:xfrm>
          <a:prstGeom prst="rect">
            <a:avLst/>
          </a:prstGeom>
          <a:noFill/>
          <a:ln/>
        </p:spPr>
        <p:txBody>
          <a:bodyPr wrap="square" lIns="12700" tIns="12700" rIns="12700" bIns="12700" rtlCol="0" anchor="ctr"/>
          <a:lstStyle/>
          <a:p>
            <a:pPr indent="0" marL="0">
              <a:buNone/>
            </a:pPr>
            <a:r>
              <a:rPr lang="en-US" sz="850" dirty="0">
                <a:solidFill>
                  <a:srgbClr val="8899AA"/>
                </a:solidFill>
              </a:rPr>
              <a:t>Remove duplicates, forward-fill missing dispensing days, handle zero-demand periods</a:t>
            </a:r>
            <a:endParaRPr lang="en-US" sz="850" dirty="0"/>
          </a:p>
        </p:txBody>
      </p:sp>
      <p:sp>
        <p:nvSpPr>
          <p:cNvPr id="15" name="Text 11"/>
          <p:cNvSpPr/>
          <p:nvPr/>
        </p:nvSpPr>
        <p:spPr>
          <a:xfrm>
            <a:off x="292608" y="1956816"/>
            <a:ext cx="868680" cy="320040"/>
          </a:xfrm>
          <a:prstGeom prst="rect">
            <a:avLst/>
          </a:prstGeom>
          <a:noFill/>
          <a:ln/>
        </p:spPr>
        <p:txBody>
          <a:bodyPr wrap="square" lIns="12700" tIns="12700" rIns="12700" bIns="12700" rtlCol="0" anchor="ctr"/>
          <a:lstStyle/>
          <a:p>
            <a:pPr indent="0" marL="0">
              <a:buNone/>
            </a:pPr>
            <a:r>
              <a:rPr lang="en-US" sz="850" b="1" dirty="0">
                <a:solidFill>
                  <a:srgbClr val="0B6E6E"/>
                </a:solidFill>
              </a:rPr>
              <a:t>Features:</a:t>
            </a:r>
            <a:endParaRPr lang="en-US" sz="850" dirty="0"/>
          </a:p>
        </p:txBody>
      </p:sp>
      <p:sp>
        <p:nvSpPr>
          <p:cNvPr id="16" name="Text 12"/>
          <p:cNvSpPr/>
          <p:nvPr/>
        </p:nvSpPr>
        <p:spPr>
          <a:xfrm>
            <a:off x="1170432" y="1956816"/>
            <a:ext cx="3108960" cy="320040"/>
          </a:xfrm>
          <a:prstGeom prst="rect">
            <a:avLst/>
          </a:prstGeom>
          <a:noFill/>
          <a:ln/>
        </p:spPr>
        <p:txBody>
          <a:bodyPr wrap="square" lIns="12700" tIns="12700" rIns="12700" bIns="12700" rtlCol="0" anchor="ctr"/>
          <a:lstStyle/>
          <a:p>
            <a:pPr indent="0" marL="0">
              <a:buNone/>
            </a:pPr>
            <a:r>
              <a:rPr lang="en-US" sz="850" dirty="0">
                <a:solidFill>
                  <a:srgbClr val="8899AA"/>
                </a:solidFill>
              </a:rPr>
              <a:t>Rolling 7/14/30-day demand averages, lead-time variance, supplier reliability score</a:t>
            </a:r>
            <a:endParaRPr lang="en-US" sz="850" dirty="0"/>
          </a:p>
        </p:txBody>
      </p:sp>
      <p:sp>
        <p:nvSpPr>
          <p:cNvPr id="17" name="Text 13"/>
          <p:cNvSpPr/>
          <p:nvPr/>
        </p:nvSpPr>
        <p:spPr>
          <a:xfrm>
            <a:off x="292608" y="2304288"/>
            <a:ext cx="868680" cy="320040"/>
          </a:xfrm>
          <a:prstGeom prst="rect">
            <a:avLst/>
          </a:prstGeom>
          <a:noFill/>
          <a:ln/>
        </p:spPr>
        <p:txBody>
          <a:bodyPr wrap="square" lIns="12700" tIns="12700" rIns="12700" bIns="12700" rtlCol="0" anchor="ctr"/>
          <a:lstStyle/>
          <a:p>
            <a:pPr indent="0" marL="0">
              <a:buNone/>
            </a:pPr>
            <a:r>
              <a:rPr lang="en-US" sz="850" b="1" dirty="0">
                <a:solidFill>
                  <a:srgbClr val="0B6E6E"/>
                </a:solidFill>
              </a:rPr>
              <a:t>Split:</a:t>
            </a:r>
            <a:endParaRPr lang="en-US" sz="850" dirty="0"/>
          </a:p>
        </p:txBody>
      </p:sp>
      <p:sp>
        <p:nvSpPr>
          <p:cNvPr id="18" name="Text 14"/>
          <p:cNvSpPr/>
          <p:nvPr/>
        </p:nvSpPr>
        <p:spPr>
          <a:xfrm>
            <a:off x="1170432" y="2304288"/>
            <a:ext cx="3108960" cy="320040"/>
          </a:xfrm>
          <a:prstGeom prst="rect">
            <a:avLst/>
          </a:prstGeom>
          <a:noFill/>
          <a:ln/>
        </p:spPr>
        <p:txBody>
          <a:bodyPr wrap="square" lIns="12700" tIns="12700" rIns="12700" bIns="12700" rtlCol="0" anchor="ctr"/>
          <a:lstStyle/>
          <a:p>
            <a:pPr indent="0" marL="0">
              <a:buNone/>
            </a:pPr>
            <a:r>
              <a:rPr lang="en-US" sz="850" dirty="0">
                <a:solidFill>
                  <a:srgbClr val="8899AA"/>
                </a:solidFill>
              </a:rPr>
              <a:t>70% train / 15% val / 15% test. Temporal split — no future leakage. Stratify by drug class.</a:t>
            </a:r>
            <a:endParaRPr lang="en-US" sz="850" dirty="0"/>
          </a:p>
        </p:txBody>
      </p:sp>
      <p:sp>
        <p:nvSpPr>
          <p:cNvPr id="19" name="Shape 15"/>
          <p:cNvSpPr/>
          <p:nvPr/>
        </p:nvSpPr>
        <p:spPr>
          <a:xfrm>
            <a:off x="4754880" y="896112"/>
            <a:ext cx="4206240" cy="1828800"/>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20" name="Shape 16"/>
          <p:cNvSpPr/>
          <p:nvPr/>
        </p:nvSpPr>
        <p:spPr>
          <a:xfrm>
            <a:off x="4754880" y="896112"/>
            <a:ext cx="4206240" cy="310896"/>
          </a:xfrm>
          <a:prstGeom prst="rect">
            <a:avLst/>
          </a:prstGeom>
          <a:solidFill>
            <a:srgbClr val="7B52AB"/>
          </a:solidFill>
          <a:ln w="12700">
            <a:solidFill>
              <a:srgbClr val="7B52AB"/>
            </a:solidFill>
            <a:prstDash val="solid"/>
          </a:ln>
        </p:spPr>
      </p:sp>
      <p:pic>
        <p:nvPicPr>
          <p:cNvPr id="21" name="Image 2" descr="preencoded.png">    </p:cNvPr>
          <p:cNvPicPr>
            <a:picLocks noChangeAspect="1"/>
          </p:cNvPicPr>
          <p:nvPr/>
        </p:nvPicPr>
        <p:blipFill>
          <a:blip r:embed="rId3"/>
          <a:stretch>
            <a:fillRect/>
          </a:stretch>
        </p:blipFill>
        <p:spPr>
          <a:xfrm>
            <a:off x="4864608" y="941832"/>
            <a:ext cx="219456" cy="219456"/>
          </a:xfrm>
          <a:prstGeom prst="rect">
            <a:avLst/>
          </a:prstGeom>
        </p:spPr>
      </p:pic>
      <p:sp>
        <p:nvSpPr>
          <p:cNvPr id="22" name="Text 17"/>
          <p:cNvSpPr/>
          <p:nvPr/>
        </p:nvSpPr>
        <p:spPr>
          <a:xfrm>
            <a:off x="5138928" y="896112"/>
            <a:ext cx="3749040" cy="310896"/>
          </a:xfrm>
          <a:prstGeom prst="rect">
            <a:avLst/>
          </a:prstGeom>
          <a:noFill/>
          <a:ln/>
        </p:spPr>
        <p:txBody>
          <a:bodyPr wrap="square" lIns="0" tIns="0" rIns="0" bIns="0" rtlCol="0" anchor="ctr"/>
          <a:lstStyle/>
          <a:p>
            <a:pPr indent="0" marL="0">
              <a:buNone/>
            </a:pPr>
            <a:r>
              <a:rPr lang="en-US" sz="1000" b="1" dirty="0">
                <a:solidFill>
                  <a:srgbClr val="FFFFFF"/>
                </a:solidFill>
              </a:rPr>
              <a:t>Stage 2 — TFT Model Training (Month 3)</a:t>
            </a:r>
            <a:endParaRPr lang="en-US" sz="1000" dirty="0"/>
          </a:p>
        </p:txBody>
      </p:sp>
      <p:sp>
        <p:nvSpPr>
          <p:cNvPr id="23" name="Text 18"/>
          <p:cNvSpPr/>
          <p:nvPr/>
        </p:nvSpPr>
        <p:spPr>
          <a:xfrm>
            <a:off x="4864608" y="1261872"/>
            <a:ext cx="960120" cy="320040"/>
          </a:xfrm>
          <a:prstGeom prst="rect">
            <a:avLst/>
          </a:prstGeom>
          <a:noFill/>
          <a:ln/>
        </p:spPr>
        <p:txBody>
          <a:bodyPr wrap="square" lIns="12700" tIns="12700" rIns="12700" bIns="12700" rtlCol="0" anchor="ctr"/>
          <a:lstStyle/>
          <a:p>
            <a:pPr indent="0" marL="0">
              <a:buNone/>
            </a:pPr>
            <a:r>
              <a:rPr lang="en-US" sz="850" b="1" dirty="0">
                <a:solidFill>
                  <a:srgbClr val="5B2D8E"/>
                </a:solidFill>
              </a:rPr>
              <a:t>Architecture:</a:t>
            </a:r>
            <a:endParaRPr lang="en-US" sz="850" dirty="0"/>
          </a:p>
        </p:txBody>
      </p:sp>
      <p:sp>
        <p:nvSpPr>
          <p:cNvPr id="24" name="Text 19"/>
          <p:cNvSpPr/>
          <p:nvPr/>
        </p:nvSpPr>
        <p:spPr>
          <a:xfrm>
            <a:off x="5833872" y="1261872"/>
            <a:ext cx="3017520" cy="320040"/>
          </a:xfrm>
          <a:prstGeom prst="rect">
            <a:avLst/>
          </a:prstGeom>
          <a:noFill/>
          <a:ln/>
        </p:spPr>
        <p:txBody>
          <a:bodyPr wrap="square" lIns="12700" tIns="12700" rIns="12700" bIns="12700" rtlCol="0" anchor="ctr"/>
          <a:lstStyle/>
          <a:p>
            <a:pPr indent="0" marL="0">
              <a:buNone/>
            </a:pPr>
            <a:r>
              <a:rPr lang="en-US" sz="850" dirty="0">
                <a:solidFill>
                  <a:srgbClr val="8899AA"/>
                </a:solidFill>
              </a:rPr>
              <a:t>PyTorch Forecasting TFT. LSTM hidden=128, attn heads=4, dropout=0.1, batch=64</a:t>
            </a:r>
            <a:endParaRPr lang="en-US" sz="850" dirty="0"/>
          </a:p>
        </p:txBody>
      </p:sp>
      <p:sp>
        <p:nvSpPr>
          <p:cNvPr id="25" name="Text 20"/>
          <p:cNvSpPr/>
          <p:nvPr/>
        </p:nvSpPr>
        <p:spPr>
          <a:xfrm>
            <a:off x="4864608" y="1609344"/>
            <a:ext cx="960120" cy="320040"/>
          </a:xfrm>
          <a:prstGeom prst="rect">
            <a:avLst/>
          </a:prstGeom>
          <a:noFill/>
          <a:ln/>
        </p:spPr>
        <p:txBody>
          <a:bodyPr wrap="square" lIns="12700" tIns="12700" rIns="12700" bIns="12700" rtlCol="0" anchor="ctr"/>
          <a:lstStyle/>
          <a:p>
            <a:pPr indent="0" marL="0">
              <a:buNone/>
            </a:pPr>
            <a:r>
              <a:rPr lang="en-US" sz="850" b="1" dirty="0">
                <a:solidFill>
                  <a:srgbClr val="5B2D8E"/>
                </a:solidFill>
              </a:rPr>
              <a:t>Optimizer:</a:t>
            </a:r>
            <a:endParaRPr lang="en-US" sz="850" dirty="0"/>
          </a:p>
        </p:txBody>
      </p:sp>
      <p:sp>
        <p:nvSpPr>
          <p:cNvPr id="26" name="Text 21"/>
          <p:cNvSpPr/>
          <p:nvPr/>
        </p:nvSpPr>
        <p:spPr>
          <a:xfrm>
            <a:off x="5833872" y="1609344"/>
            <a:ext cx="3017520" cy="320040"/>
          </a:xfrm>
          <a:prstGeom prst="rect">
            <a:avLst/>
          </a:prstGeom>
          <a:noFill/>
          <a:ln/>
        </p:spPr>
        <p:txBody>
          <a:bodyPr wrap="square" lIns="12700" tIns="12700" rIns="12700" bIns="12700" rtlCol="0" anchor="ctr"/>
          <a:lstStyle/>
          <a:p>
            <a:pPr indent="0" marL="0">
              <a:buNone/>
            </a:pPr>
            <a:r>
              <a:rPr lang="en-US" sz="850" dirty="0">
                <a:solidFill>
                  <a:srgbClr val="8899AA"/>
                </a:solidFill>
              </a:rPr>
              <a:t>Adam lr=1e-3 with ReduceLROnPlateau. Early stopping patience=10 on val QuantileLoss</a:t>
            </a:r>
            <a:endParaRPr lang="en-US" sz="850" dirty="0"/>
          </a:p>
        </p:txBody>
      </p:sp>
      <p:sp>
        <p:nvSpPr>
          <p:cNvPr id="27" name="Text 22"/>
          <p:cNvSpPr/>
          <p:nvPr/>
        </p:nvSpPr>
        <p:spPr>
          <a:xfrm>
            <a:off x="4864608" y="1956816"/>
            <a:ext cx="960120" cy="320040"/>
          </a:xfrm>
          <a:prstGeom prst="rect">
            <a:avLst/>
          </a:prstGeom>
          <a:noFill/>
          <a:ln/>
        </p:spPr>
        <p:txBody>
          <a:bodyPr wrap="square" lIns="12700" tIns="12700" rIns="12700" bIns="12700" rtlCol="0" anchor="ctr"/>
          <a:lstStyle/>
          <a:p>
            <a:pPr indent="0" marL="0">
              <a:buNone/>
            </a:pPr>
            <a:r>
              <a:rPr lang="en-US" sz="850" b="1" dirty="0">
                <a:solidFill>
                  <a:srgbClr val="5B2D8E"/>
                </a:solidFill>
              </a:rPr>
              <a:t>Training:</a:t>
            </a:r>
            <a:endParaRPr lang="en-US" sz="850" dirty="0"/>
          </a:p>
        </p:txBody>
      </p:sp>
      <p:sp>
        <p:nvSpPr>
          <p:cNvPr id="28" name="Text 23"/>
          <p:cNvSpPr/>
          <p:nvPr/>
        </p:nvSpPr>
        <p:spPr>
          <a:xfrm>
            <a:off x="5833872" y="1956816"/>
            <a:ext cx="3017520" cy="320040"/>
          </a:xfrm>
          <a:prstGeom prst="rect">
            <a:avLst/>
          </a:prstGeom>
          <a:noFill/>
          <a:ln/>
        </p:spPr>
        <p:txBody>
          <a:bodyPr wrap="square" lIns="12700" tIns="12700" rIns="12700" bIns="12700" rtlCol="0" anchor="ctr"/>
          <a:lstStyle/>
          <a:p>
            <a:pPr indent="0" marL="0">
              <a:buNone/>
            </a:pPr>
            <a:r>
              <a:rPr lang="en-US" sz="850" dirty="0">
                <a:solidFill>
                  <a:srgbClr val="8899AA"/>
                </a:solidFill>
              </a:rPr>
              <a:t>Google Colab Pro A100 (~4 hrs). MLflow tracks every run. Checkpoint every 5 epochs.</a:t>
            </a:r>
            <a:endParaRPr lang="en-US" sz="850" dirty="0"/>
          </a:p>
        </p:txBody>
      </p:sp>
      <p:sp>
        <p:nvSpPr>
          <p:cNvPr id="29" name="Text 24"/>
          <p:cNvSpPr/>
          <p:nvPr/>
        </p:nvSpPr>
        <p:spPr>
          <a:xfrm>
            <a:off x="4864608" y="2304288"/>
            <a:ext cx="960120" cy="320040"/>
          </a:xfrm>
          <a:prstGeom prst="rect">
            <a:avLst/>
          </a:prstGeom>
          <a:noFill/>
          <a:ln/>
        </p:spPr>
        <p:txBody>
          <a:bodyPr wrap="square" lIns="12700" tIns="12700" rIns="12700" bIns="12700" rtlCol="0" anchor="ctr"/>
          <a:lstStyle/>
          <a:p>
            <a:pPr indent="0" marL="0">
              <a:buNone/>
            </a:pPr>
            <a:r>
              <a:rPr lang="en-US" sz="850" b="1" dirty="0">
                <a:solidFill>
                  <a:srgbClr val="5B2D8E"/>
                </a:solidFill>
              </a:rPr>
              <a:t>Quantiles:</a:t>
            </a:r>
            <a:endParaRPr lang="en-US" sz="850" dirty="0"/>
          </a:p>
        </p:txBody>
      </p:sp>
      <p:sp>
        <p:nvSpPr>
          <p:cNvPr id="30" name="Text 25"/>
          <p:cNvSpPr/>
          <p:nvPr/>
        </p:nvSpPr>
        <p:spPr>
          <a:xfrm>
            <a:off x="5833872" y="2304288"/>
            <a:ext cx="3017520" cy="320040"/>
          </a:xfrm>
          <a:prstGeom prst="rect">
            <a:avLst/>
          </a:prstGeom>
          <a:noFill/>
          <a:ln/>
        </p:spPr>
        <p:txBody>
          <a:bodyPr wrap="square" lIns="12700" tIns="12700" rIns="12700" bIns="12700" rtlCol="0" anchor="ctr"/>
          <a:lstStyle/>
          <a:p>
            <a:pPr indent="0" marL="0">
              <a:buNone/>
            </a:pPr>
            <a:r>
              <a:rPr lang="en-US" sz="850" dirty="0">
                <a:solidFill>
                  <a:srgbClr val="8899AA"/>
                </a:solidFill>
              </a:rPr>
              <a:t>Output heads for P10/P50/P90 at 7, 14, 30, 45-day horizons simultaneously</a:t>
            </a:r>
            <a:endParaRPr lang="en-US" sz="850" dirty="0"/>
          </a:p>
        </p:txBody>
      </p:sp>
      <p:sp>
        <p:nvSpPr>
          <p:cNvPr id="31" name="Shape 26"/>
          <p:cNvSpPr/>
          <p:nvPr/>
        </p:nvSpPr>
        <p:spPr>
          <a:xfrm>
            <a:off x="182880" y="2834640"/>
            <a:ext cx="4206240" cy="1719072"/>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32" name="Shape 27"/>
          <p:cNvSpPr/>
          <p:nvPr/>
        </p:nvSpPr>
        <p:spPr>
          <a:xfrm>
            <a:off x="182880" y="2834640"/>
            <a:ext cx="4206240" cy="310896"/>
          </a:xfrm>
          <a:prstGeom prst="rect">
            <a:avLst/>
          </a:prstGeom>
          <a:solidFill>
            <a:srgbClr val="F0A500"/>
          </a:solidFill>
          <a:ln w="12700">
            <a:solidFill>
              <a:srgbClr val="F0A500"/>
            </a:solidFill>
            <a:prstDash val="solid"/>
          </a:ln>
        </p:spPr>
      </p:sp>
      <p:pic>
        <p:nvPicPr>
          <p:cNvPr id="33" name="Image 3" descr="preencoded.png">    </p:cNvPr>
          <p:cNvPicPr>
            <a:picLocks noChangeAspect="1"/>
          </p:cNvPicPr>
          <p:nvPr/>
        </p:nvPicPr>
        <p:blipFill>
          <a:blip r:embed="rId4"/>
          <a:stretch>
            <a:fillRect/>
          </a:stretch>
        </p:blipFill>
        <p:spPr>
          <a:xfrm>
            <a:off x="292608" y="2880360"/>
            <a:ext cx="219456" cy="219456"/>
          </a:xfrm>
          <a:prstGeom prst="rect">
            <a:avLst/>
          </a:prstGeom>
        </p:spPr>
      </p:pic>
      <p:sp>
        <p:nvSpPr>
          <p:cNvPr id="34" name="Text 28"/>
          <p:cNvSpPr/>
          <p:nvPr/>
        </p:nvSpPr>
        <p:spPr>
          <a:xfrm>
            <a:off x="566928" y="2834640"/>
            <a:ext cx="3749040" cy="310896"/>
          </a:xfrm>
          <a:prstGeom prst="rect">
            <a:avLst/>
          </a:prstGeom>
          <a:noFill/>
          <a:ln/>
        </p:spPr>
        <p:txBody>
          <a:bodyPr wrap="square" lIns="0" tIns="0" rIns="0" bIns="0" rtlCol="0" anchor="ctr"/>
          <a:lstStyle/>
          <a:p>
            <a:pPr indent="0" marL="0">
              <a:buNone/>
            </a:pPr>
            <a:r>
              <a:rPr lang="en-US" sz="1000" b="1" dirty="0">
                <a:solidFill>
                  <a:srgbClr val="0A1628"/>
                </a:solidFill>
              </a:rPr>
              <a:t>Stage 3 — Supplier Graph Training (Month 3)</a:t>
            </a:r>
            <a:endParaRPr lang="en-US" sz="1000" dirty="0"/>
          </a:p>
        </p:txBody>
      </p:sp>
      <p:sp>
        <p:nvSpPr>
          <p:cNvPr id="35" name="Text 29"/>
          <p:cNvSpPr/>
          <p:nvPr/>
        </p:nvSpPr>
        <p:spPr>
          <a:xfrm>
            <a:off x="292608" y="3218688"/>
            <a:ext cx="960120" cy="347472"/>
          </a:xfrm>
          <a:prstGeom prst="rect">
            <a:avLst/>
          </a:prstGeom>
          <a:noFill/>
          <a:ln/>
        </p:spPr>
        <p:txBody>
          <a:bodyPr wrap="square" lIns="12700" tIns="12700" rIns="12700" bIns="12700" rtlCol="0" anchor="ctr"/>
          <a:lstStyle/>
          <a:p>
            <a:pPr indent="0" marL="0">
              <a:buNone/>
            </a:pPr>
            <a:r>
              <a:rPr lang="en-US" sz="850" b="1" dirty="0">
                <a:solidFill>
                  <a:srgbClr val="C47A1E"/>
                </a:solidFill>
              </a:rPr>
              <a:t>Graph build:</a:t>
            </a:r>
            <a:endParaRPr lang="en-US" sz="850" dirty="0"/>
          </a:p>
        </p:txBody>
      </p:sp>
      <p:sp>
        <p:nvSpPr>
          <p:cNvPr id="36" name="Text 30"/>
          <p:cNvSpPr/>
          <p:nvPr/>
        </p:nvSpPr>
        <p:spPr>
          <a:xfrm>
            <a:off x="1261872" y="3218688"/>
            <a:ext cx="3017520" cy="347472"/>
          </a:xfrm>
          <a:prstGeom prst="rect">
            <a:avLst/>
          </a:prstGeom>
          <a:noFill/>
          <a:ln/>
        </p:spPr>
        <p:txBody>
          <a:bodyPr wrap="square" lIns="12700" tIns="12700" rIns="12700" bIns="12700" rtlCol="0" anchor="ctr"/>
          <a:lstStyle/>
          <a:p>
            <a:pPr indent="0" marL="0">
              <a:buNone/>
            </a:pPr>
            <a:r>
              <a:rPr lang="en-US" sz="850" dirty="0">
                <a:solidFill>
                  <a:srgbClr val="8899AA"/>
                </a:solidFill>
              </a:rPr>
              <a:t>Nodes: drugs, suppliers, manufacturers. Edges: supply relationships with lead-time + reliability attributes</a:t>
            </a:r>
            <a:endParaRPr lang="en-US" sz="850" dirty="0"/>
          </a:p>
        </p:txBody>
      </p:sp>
      <p:sp>
        <p:nvSpPr>
          <p:cNvPr id="37" name="Text 31"/>
          <p:cNvSpPr/>
          <p:nvPr/>
        </p:nvSpPr>
        <p:spPr>
          <a:xfrm>
            <a:off x="292608" y="3602736"/>
            <a:ext cx="960120" cy="347472"/>
          </a:xfrm>
          <a:prstGeom prst="rect">
            <a:avLst/>
          </a:prstGeom>
          <a:noFill/>
          <a:ln/>
        </p:spPr>
        <p:txBody>
          <a:bodyPr wrap="square" lIns="12700" tIns="12700" rIns="12700" bIns="12700" rtlCol="0" anchor="ctr"/>
          <a:lstStyle/>
          <a:p>
            <a:pPr indent="0" marL="0">
              <a:buNone/>
            </a:pPr>
            <a:r>
              <a:rPr lang="en-US" sz="850" b="1" dirty="0">
                <a:solidFill>
                  <a:srgbClr val="C47A1E"/>
                </a:solidFill>
              </a:rPr>
              <a:t>Model:</a:t>
            </a:r>
            <a:endParaRPr lang="en-US" sz="850" dirty="0"/>
          </a:p>
        </p:txBody>
      </p:sp>
      <p:sp>
        <p:nvSpPr>
          <p:cNvPr id="38" name="Text 32"/>
          <p:cNvSpPr/>
          <p:nvPr/>
        </p:nvSpPr>
        <p:spPr>
          <a:xfrm>
            <a:off x="1261872" y="3602736"/>
            <a:ext cx="3017520" cy="347472"/>
          </a:xfrm>
          <a:prstGeom prst="rect">
            <a:avLst/>
          </a:prstGeom>
          <a:noFill/>
          <a:ln/>
        </p:spPr>
        <p:txBody>
          <a:bodyPr wrap="square" lIns="12700" tIns="12700" rIns="12700" bIns="12700" rtlCol="0" anchor="ctr"/>
          <a:lstStyle/>
          <a:p>
            <a:pPr indent="0" marL="0">
              <a:buNone/>
            </a:pPr>
            <a:r>
              <a:rPr lang="en-US" sz="850" dirty="0">
                <a:solidFill>
                  <a:srgbClr val="8899AA"/>
                </a:solidFill>
              </a:rPr>
              <a:t>GraphSAGE with 2 message-passing layers. Node classification task: supplier distress probability per node</a:t>
            </a:r>
            <a:endParaRPr lang="en-US" sz="850" dirty="0"/>
          </a:p>
        </p:txBody>
      </p:sp>
      <p:sp>
        <p:nvSpPr>
          <p:cNvPr id="39" name="Text 33"/>
          <p:cNvSpPr/>
          <p:nvPr/>
        </p:nvSpPr>
        <p:spPr>
          <a:xfrm>
            <a:off x="292608" y="3986784"/>
            <a:ext cx="960120" cy="347472"/>
          </a:xfrm>
          <a:prstGeom prst="rect">
            <a:avLst/>
          </a:prstGeom>
          <a:noFill/>
          <a:ln/>
        </p:spPr>
        <p:txBody>
          <a:bodyPr wrap="square" lIns="12700" tIns="12700" rIns="12700" bIns="12700" rtlCol="0" anchor="ctr"/>
          <a:lstStyle/>
          <a:p>
            <a:pPr indent="0" marL="0">
              <a:buNone/>
            </a:pPr>
            <a:r>
              <a:rPr lang="en-US" sz="850" b="1" dirty="0">
                <a:solidFill>
                  <a:srgbClr val="C47A1E"/>
                </a:solidFill>
              </a:rPr>
              <a:t>Disruption sim:</a:t>
            </a:r>
            <a:endParaRPr lang="en-US" sz="850" dirty="0"/>
          </a:p>
        </p:txBody>
      </p:sp>
      <p:sp>
        <p:nvSpPr>
          <p:cNvPr id="40" name="Text 34"/>
          <p:cNvSpPr/>
          <p:nvPr/>
        </p:nvSpPr>
        <p:spPr>
          <a:xfrm>
            <a:off x="1261872" y="3986784"/>
            <a:ext cx="3017520" cy="347472"/>
          </a:xfrm>
          <a:prstGeom prst="rect">
            <a:avLst/>
          </a:prstGeom>
          <a:noFill/>
          <a:ln/>
        </p:spPr>
        <p:txBody>
          <a:bodyPr wrap="square" lIns="12700" tIns="12700" rIns="12700" bIns="12700" rtlCol="0" anchor="ctr"/>
          <a:lstStyle/>
          <a:p>
            <a:pPr indent="0" marL="0">
              <a:buNone/>
            </a:pPr>
            <a:r>
              <a:rPr lang="en-US" sz="850" dirty="0">
                <a:solidFill>
                  <a:srgbClr val="8899AA"/>
                </a:solidFill>
              </a:rPr>
              <a:t>Mask a supplier node, propagate risk delta to downstream drug nodes. Validates on known shortage events</a:t>
            </a:r>
            <a:endParaRPr lang="en-US" sz="850" dirty="0"/>
          </a:p>
        </p:txBody>
      </p:sp>
      <p:sp>
        <p:nvSpPr>
          <p:cNvPr id="41" name="Shape 35"/>
          <p:cNvSpPr/>
          <p:nvPr/>
        </p:nvSpPr>
        <p:spPr>
          <a:xfrm>
            <a:off x="4754880" y="2834640"/>
            <a:ext cx="4206240" cy="1719072"/>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42" name="Shape 36"/>
          <p:cNvSpPr/>
          <p:nvPr/>
        </p:nvSpPr>
        <p:spPr>
          <a:xfrm>
            <a:off x="4754880" y="2834640"/>
            <a:ext cx="4206240" cy="310896"/>
          </a:xfrm>
          <a:prstGeom prst="rect">
            <a:avLst/>
          </a:prstGeom>
          <a:solidFill>
            <a:srgbClr val="27AE60"/>
          </a:solidFill>
          <a:ln w="12700">
            <a:solidFill>
              <a:srgbClr val="27AE60"/>
            </a:solidFill>
            <a:prstDash val="solid"/>
          </a:ln>
        </p:spPr>
      </p:sp>
      <p:pic>
        <p:nvPicPr>
          <p:cNvPr id="43" name="Image 4" descr="preencoded.png">    </p:cNvPr>
          <p:cNvPicPr>
            <a:picLocks noChangeAspect="1"/>
          </p:cNvPicPr>
          <p:nvPr/>
        </p:nvPicPr>
        <p:blipFill>
          <a:blip r:embed="rId5"/>
          <a:stretch>
            <a:fillRect/>
          </a:stretch>
        </p:blipFill>
        <p:spPr>
          <a:xfrm>
            <a:off x="4864608" y="2880360"/>
            <a:ext cx="219456" cy="219456"/>
          </a:xfrm>
          <a:prstGeom prst="rect">
            <a:avLst/>
          </a:prstGeom>
        </p:spPr>
      </p:pic>
      <p:sp>
        <p:nvSpPr>
          <p:cNvPr id="44" name="Text 37"/>
          <p:cNvSpPr/>
          <p:nvPr/>
        </p:nvSpPr>
        <p:spPr>
          <a:xfrm>
            <a:off x="5138928" y="2834640"/>
            <a:ext cx="3749040" cy="310896"/>
          </a:xfrm>
          <a:prstGeom prst="rect">
            <a:avLst/>
          </a:prstGeom>
          <a:noFill/>
          <a:ln/>
        </p:spPr>
        <p:txBody>
          <a:bodyPr wrap="square" lIns="0" tIns="0" rIns="0" bIns="0" rtlCol="0" anchor="ctr"/>
          <a:lstStyle/>
          <a:p>
            <a:pPr indent="0" marL="0">
              <a:buNone/>
            </a:pPr>
            <a:r>
              <a:rPr lang="en-US" sz="1000" b="1" dirty="0">
                <a:solidFill>
                  <a:srgbClr val="FFFFFF"/>
                </a:solidFill>
              </a:rPr>
              <a:t>Stage 4 — Ablation Study (Month 4)</a:t>
            </a:r>
            <a:endParaRPr lang="en-US" sz="1000" dirty="0"/>
          </a:p>
        </p:txBody>
      </p:sp>
      <p:sp>
        <p:nvSpPr>
          <p:cNvPr id="45" name="Shape 38"/>
          <p:cNvSpPr/>
          <p:nvPr/>
        </p:nvSpPr>
        <p:spPr>
          <a:xfrm>
            <a:off x="4846320" y="3200400"/>
            <a:ext cx="320040" cy="237744"/>
          </a:xfrm>
          <a:prstGeom prst="rect">
            <a:avLst/>
          </a:prstGeom>
          <a:solidFill>
            <a:srgbClr val="1A6B3C"/>
          </a:solidFill>
          <a:ln w="12700">
            <a:solidFill>
              <a:srgbClr val="1A6B3C"/>
            </a:solidFill>
            <a:prstDash val="solid"/>
          </a:ln>
        </p:spPr>
      </p:sp>
      <p:sp>
        <p:nvSpPr>
          <p:cNvPr id="46" name="Text 39"/>
          <p:cNvSpPr/>
          <p:nvPr/>
        </p:nvSpPr>
        <p:spPr>
          <a:xfrm>
            <a:off x="4846320" y="3200400"/>
            <a:ext cx="320040" cy="237744"/>
          </a:xfrm>
          <a:prstGeom prst="rect">
            <a:avLst/>
          </a:prstGeom>
          <a:noFill/>
          <a:ln/>
        </p:spPr>
        <p:txBody>
          <a:bodyPr wrap="square" lIns="0" tIns="0" rIns="0" bIns="0" rtlCol="0" anchor="ctr"/>
          <a:lstStyle/>
          <a:p>
            <a:pPr algn="ctr" indent="0" marL="0">
              <a:buNone/>
            </a:pPr>
            <a:r>
              <a:rPr lang="en-US" sz="800" b="1" dirty="0">
                <a:solidFill>
                  <a:srgbClr val="FFFFFF"/>
                </a:solidFill>
              </a:rPr>
              <a:t>Config</a:t>
            </a:r>
            <a:endParaRPr lang="en-US" sz="800" dirty="0"/>
          </a:p>
        </p:txBody>
      </p:sp>
      <p:sp>
        <p:nvSpPr>
          <p:cNvPr id="47" name="Shape 40"/>
          <p:cNvSpPr/>
          <p:nvPr/>
        </p:nvSpPr>
        <p:spPr>
          <a:xfrm>
            <a:off x="5166360" y="3200400"/>
            <a:ext cx="2331720" cy="237744"/>
          </a:xfrm>
          <a:prstGeom prst="rect">
            <a:avLst/>
          </a:prstGeom>
          <a:solidFill>
            <a:srgbClr val="1A6B3C"/>
          </a:solidFill>
          <a:ln w="12700">
            <a:solidFill>
              <a:srgbClr val="1A6B3C"/>
            </a:solidFill>
            <a:prstDash val="solid"/>
          </a:ln>
        </p:spPr>
      </p:sp>
      <p:sp>
        <p:nvSpPr>
          <p:cNvPr id="48" name="Text 41"/>
          <p:cNvSpPr/>
          <p:nvPr/>
        </p:nvSpPr>
        <p:spPr>
          <a:xfrm>
            <a:off x="5166360" y="3200400"/>
            <a:ext cx="2331720" cy="237744"/>
          </a:xfrm>
          <a:prstGeom prst="rect">
            <a:avLst/>
          </a:prstGeom>
          <a:noFill/>
          <a:ln/>
        </p:spPr>
        <p:txBody>
          <a:bodyPr wrap="square" lIns="0" tIns="0" rIns="0" bIns="0" rtlCol="0" anchor="ctr"/>
          <a:lstStyle/>
          <a:p>
            <a:pPr algn="ctr" indent="0" marL="0">
              <a:buNone/>
            </a:pPr>
            <a:r>
              <a:rPr lang="en-US" sz="800" b="1" dirty="0">
                <a:solidFill>
                  <a:srgbClr val="FFFFFF"/>
                </a:solidFill>
              </a:rPr>
              <a:t>Components</a:t>
            </a:r>
            <a:endParaRPr lang="en-US" sz="800" dirty="0"/>
          </a:p>
        </p:txBody>
      </p:sp>
      <p:sp>
        <p:nvSpPr>
          <p:cNvPr id="49" name="Shape 42"/>
          <p:cNvSpPr/>
          <p:nvPr/>
        </p:nvSpPr>
        <p:spPr>
          <a:xfrm>
            <a:off x="7498080" y="3200400"/>
            <a:ext cx="777240" cy="237744"/>
          </a:xfrm>
          <a:prstGeom prst="rect">
            <a:avLst/>
          </a:prstGeom>
          <a:solidFill>
            <a:srgbClr val="1A6B3C"/>
          </a:solidFill>
          <a:ln w="12700">
            <a:solidFill>
              <a:srgbClr val="1A6B3C"/>
            </a:solidFill>
            <a:prstDash val="solid"/>
          </a:ln>
        </p:spPr>
      </p:sp>
      <p:sp>
        <p:nvSpPr>
          <p:cNvPr id="50" name="Text 43"/>
          <p:cNvSpPr/>
          <p:nvPr/>
        </p:nvSpPr>
        <p:spPr>
          <a:xfrm>
            <a:off x="7498080" y="3200400"/>
            <a:ext cx="777240" cy="237744"/>
          </a:xfrm>
          <a:prstGeom prst="rect">
            <a:avLst/>
          </a:prstGeom>
          <a:noFill/>
          <a:ln/>
        </p:spPr>
        <p:txBody>
          <a:bodyPr wrap="square" lIns="0" tIns="0" rIns="0" bIns="0" rtlCol="0" anchor="ctr"/>
          <a:lstStyle/>
          <a:p>
            <a:pPr algn="ctr" indent="0" marL="0">
              <a:buNone/>
            </a:pPr>
            <a:r>
              <a:rPr lang="en-US" sz="800" b="1" dirty="0">
                <a:solidFill>
                  <a:srgbClr val="FFFFFF"/>
                </a:solidFill>
              </a:rPr>
              <a:t>Acc.</a:t>
            </a:r>
            <a:endParaRPr lang="en-US" sz="800" dirty="0"/>
          </a:p>
        </p:txBody>
      </p:sp>
      <p:sp>
        <p:nvSpPr>
          <p:cNvPr id="51" name="Shape 44"/>
          <p:cNvSpPr/>
          <p:nvPr/>
        </p:nvSpPr>
        <p:spPr>
          <a:xfrm>
            <a:off x="4846320" y="3456432"/>
            <a:ext cx="320040" cy="274320"/>
          </a:xfrm>
          <a:prstGeom prst="rect">
            <a:avLst/>
          </a:prstGeom>
          <a:solidFill>
            <a:srgbClr val="F9FAFB"/>
          </a:solidFill>
          <a:ln w="5080">
            <a:solidFill>
              <a:srgbClr val="C8D6E5"/>
            </a:solidFill>
            <a:prstDash val="solid"/>
          </a:ln>
        </p:spPr>
      </p:sp>
      <p:sp>
        <p:nvSpPr>
          <p:cNvPr id="52" name="Text 45"/>
          <p:cNvSpPr/>
          <p:nvPr/>
        </p:nvSpPr>
        <p:spPr>
          <a:xfrm>
            <a:off x="4882896" y="3456432"/>
            <a:ext cx="246888" cy="274320"/>
          </a:xfrm>
          <a:prstGeom prst="rect">
            <a:avLst/>
          </a:prstGeom>
          <a:noFill/>
          <a:ln/>
        </p:spPr>
        <p:txBody>
          <a:bodyPr wrap="square" lIns="12700" tIns="12700" rIns="12700" bIns="12700" rtlCol="0" anchor="ctr"/>
          <a:lstStyle/>
          <a:p>
            <a:pPr algn="l" indent="0" marL="0">
              <a:buNone/>
            </a:pPr>
            <a:r>
              <a:rPr lang="en-US" sz="850" b="1" dirty="0">
                <a:solidFill>
                  <a:srgbClr val="C47A1E"/>
                </a:solidFill>
              </a:rPr>
              <a:t>A</a:t>
            </a:r>
            <a:endParaRPr lang="en-US" sz="850" dirty="0"/>
          </a:p>
        </p:txBody>
      </p:sp>
      <p:sp>
        <p:nvSpPr>
          <p:cNvPr id="53" name="Shape 46"/>
          <p:cNvSpPr/>
          <p:nvPr/>
        </p:nvSpPr>
        <p:spPr>
          <a:xfrm>
            <a:off x="5166360" y="3456432"/>
            <a:ext cx="2331720" cy="274320"/>
          </a:xfrm>
          <a:prstGeom prst="rect">
            <a:avLst/>
          </a:prstGeom>
          <a:solidFill>
            <a:srgbClr val="F9FAFB"/>
          </a:solidFill>
          <a:ln w="5080">
            <a:solidFill>
              <a:srgbClr val="C8D6E5"/>
            </a:solidFill>
            <a:prstDash val="solid"/>
          </a:ln>
        </p:spPr>
      </p:sp>
      <p:sp>
        <p:nvSpPr>
          <p:cNvPr id="54" name="Text 47"/>
          <p:cNvSpPr/>
          <p:nvPr/>
        </p:nvSpPr>
        <p:spPr>
          <a:xfrm>
            <a:off x="5202936" y="3456432"/>
            <a:ext cx="2258568" cy="274320"/>
          </a:xfrm>
          <a:prstGeom prst="rect">
            <a:avLst/>
          </a:prstGeom>
          <a:noFill/>
          <a:ln/>
        </p:spPr>
        <p:txBody>
          <a:bodyPr wrap="square" lIns="12700" tIns="12700" rIns="12700" bIns="12700" rtlCol="0" anchor="ctr"/>
          <a:lstStyle/>
          <a:p>
            <a:pPr algn="l" indent="0" marL="0">
              <a:buNone/>
            </a:pPr>
            <a:r>
              <a:rPr lang="en-US" sz="850" dirty="0">
                <a:solidFill>
                  <a:srgbClr val="8899AA"/>
                </a:solidFill>
              </a:rPr>
              <a:t>Basic ML (LightGBM)</a:t>
            </a:r>
            <a:endParaRPr lang="en-US" sz="850" dirty="0"/>
          </a:p>
        </p:txBody>
      </p:sp>
      <p:sp>
        <p:nvSpPr>
          <p:cNvPr id="55" name="Shape 48"/>
          <p:cNvSpPr/>
          <p:nvPr/>
        </p:nvSpPr>
        <p:spPr>
          <a:xfrm>
            <a:off x="7498080" y="3456432"/>
            <a:ext cx="777240" cy="274320"/>
          </a:xfrm>
          <a:prstGeom prst="rect">
            <a:avLst/>
          </a:prstGeom>
          <a:solidFill>
            <a:srgbClr val="F9FAFB"/>
          </a:solidFill>
          <a:ln w="5080">
            <a:solidFill>
              <a:srgbClr val="C8D6E5"/>
            </a:solidFill>
            <a:prstDash val="solid"/>
          </a:ln>
        </p:spPr>
      </p:sp>
      <p:sp>
        <p:nvSpPr>
          <p:cNvPr id="56" name="Text 49"/>
          <p:cNvSpPr/>
          <p:nvPr/>
        </p:nvSpPr>
        <p:spPr>
          <a:xfrm>
            <a:off x="7534656" y="3456432"/>
            <a:ext cx="704088" cy="274320"/>
          </a:xfrm>
          <a:prstGeom prst="rect">
            <a:avLst/>
          </a:prstGeom>
          <a:noFill/>
          <a:ln/>
        </p:spPr>
        <p:txBody>
          <a:bodyPr wrap="square" lIns="12700" tIns="12700" rIns="12700" bIns="12700" rtlCol="0" anchor="ctr"/>
          <a:lstStyle/>
          <a:p>
            <a:pPr algn="ctr" indent="0" marL="0">
              <a:buNone/>
            </a:pPr>
            <a:r>
              <a:rPr lang="en-US" sz="850" dirty="0">
                <a:solidFill>
                  <a:srgbClr val="8899AA"/>
                </a:solidFill>
              </a:rPr>
              <a:t>~69%</a:t>
            </a:r>
            <a:endParaRPr lang="en-US" sz="850" dirty="0"/>
          </a:p>
        </p:txBody>
      </p:sp>
      <p:sp>
        <p:nvSpPr>
          <p:cNvPr id="57" name="Shape 50"/>
          <p:cNvSpPr/>
          <p:nvPr/>
        </p:nvSpPr>
        <p:spPr>
          <a:xfrm>
            <a:off x="4846320" y="3749040"/>
            <a:ext cx="320040" cy="274320"/>
          </a:xfrm>
          <a:prstGeom prst="rect">
            <a:avLst/>
          </a:prstGeom>
          <a:solidFill>
            <a:srgbClr val="FFFFFF"/>
          </a:solidFill>
          <a:ln w="5080">
            <a:solidFill>
              <a:srgbClr val="C8D6E5"/>
            </a:solidFill>
            <a:prstDash val="solid"/>
          </a:ln>
        </p:spPr>
      </p:sp>
      <p:sp>
        <p:nvSpPr>
          <p:cNvPr id="58" name="Text 51"/>
          <p:cNvSpPr/>
          <p:nvPr/>
        </p:nvSpPr>
        <p:spPr>
          <a:xfrm>
            <a:off x="4882896" y="3749040"/>
            <a:ext cx="246888" cy="274320"/>
          </a:xfrm>
          <a:prstGeom prst="rect">
            <a:avLst/>
          </a:prstGeom>
          <a:noFill/>
          <a:ln/>
        </p:spPr>
        <p:txBody>
          <a:bodyPr wrap="square" lIns="12700" tIns="12700" rIns="12700" bIns="12700" rtlCol="0" anchor="ctr"/>
          <a:lstStyle/>
          <a:p>
            <a:pPr algn="l" indent="0" marL="0">
              <a:buNone/>
            </a:pPr>
            <a:r>
              <a:rPr lang="en-US" sz="850" b="1" dirty="0">
                <a:solidFill>
                  <a:srgbClr val="C47A1E"/>
                </a:solidFill>
              </a:rPr>
              <a:t>B</a:t>
            </a:r>
            <a:endParaRPr lang="en-US" sz="850" dirty="0"/>
          </a:p>
        </p:txBody>
      </p:sp>
      <p:sp>
        <p:nvSpPr>
          <p:cNvPr id="59" name="Shape 52"/>
          <p:cNvSpPr/>
          <p:nvPr/>
        </p:nvSpPr>
        <p:spPr>
          <a:xfrm>
            <a:off x="5166360" y="3749040"/>
            <a:ext cx="2331720" cy="274320"/>
          </a:xfrm>
          <a:prstGeom prst="rect">
            <a:avLst/>
          </a:prstGeom>
          <a:solidFill>
            <a:srgbClr val="FFFFFF"/>
          </a:solidFill>
          <a:ln w="5080">
            <a:solidFill>
              <a:srgbClr val="C8D6E5"/>
            </a:solidFill>
            <a:prstDash val="solid"/>
          </a:ln>
        </p:spPr>
      </p:sp>
      <p:sp>
        <p:nvSpPr>
          <p:cNvPr id="60" name="Text 53"/>
          <p:cNvSpPr/>
          <p:nvPr/>
        </p:nvSpPr>
        <p:spPr>
          <a:xfrm>
            <a:off x="5202936" y="3749040"/>
            <a:ext cx="2258568" cy="274320"/>
          </a:xfrm>
          <a:prstGeom prst="rect">
            <a:avLst/>
          </a:prstGeom>
          <a:noFill/>
          <a:ln/>
        </p:spPr>
        <p:txBody>
          <a:bodyPr wrap="square" lIns="12700" tIns="12700" rIns="12700" bIns="12700" rtlCol="0" anchor="ctr"/>
          <a:lstStyle/>
          <a:p>
            <a:pPr algn="l" indent="0" marL="0">
              <a:buNone/>
            </a:pPr>
            <a:r>
              <a:rPr lang="en-US" sz="850" dirty="0">
                <a:solidFill>
                  <a:srgbClr val="8899AA"/>
                </a:solidFill>
              </a:rPr>
              <a:t>TFT + CSV only</a:t>
            </a:r>
            <a:endParaRPr lang="en-US" sz="850" dirty="0"/>
          </a:p>
        </p:txBody>
      </p:sp>
      <p:sp>
        <p:nvSpPr>
          <p:cNvPr id="61" name="Shape 54"/>
          <p:cNvSpPr/>
          <p:nvPr/>
        </p:nvSpPr>
        <p:spPr>
          <a:xfrm>
            <a:off x="7498080" y="3749040"/>
            <a:ext cx="777240" cy="274320"/>
          </a:xfrm>
          <a:prstGeom prst="rect">
            <a:avLst/>
          </a:prstGeom>
          <a:solidFill>
            <a:srgbClr val="FFFFFF"/>
          </a:solidFill>
          <a:ln w="5080">
            <a:solidFill>
              <a:srgbClr val="C8D6E5"/>
            </a:solidFill>
            <a:prstDash val="solid"/>
          </a:ln>
        </p:spPr>
      </p:sp>
      <p:sp>
        <p:nvSpPr>
          <p:cNvPr id="62" name="Text 55"/>
          <p:cNvSpPr/>
          <p:nvPr/>
        </p:nvSpPr>
        <p:spPr>
          <a:xfrm>
            <a:off x="7534656" y="3749040"/>
            <a:ext cx="704088" cy="274320"/>
          </a:xfrm>
          <a:prstGeom prst="rect">
            <a:avLst/>
          </a:prstGeom>
          <a:noFill/>
          <a:ln/>
        </p:spPr>
        <p:txBody>
          <a:bodyPr wrap="square" lIns="12700" tIns="12700" rIns="12700" bIns="12700" rtlCol="0" anchor="ctr"/>
          <a:lstStyle/>
          <a:p>
            <a:pPr algn="ctr" indent="0" marL="0">
              <a:buNone/>
            </a:pPr>
            <a:r>
              <a:rPr lang="en-US" sz="850" dirty="0">
                <a:solidFill>
                  <a:srgbClr val="8899AA"/>
                </a:solidFill>
              </a:rPr>
              <a:t>~76%</a:t>
            </a:r>
            <a:endParaRPr lang="en-US" sz="850" dirty="0"/>
          </a:p>
        </p:txBody>
      </p:sp>
      <p:sp>
        <p:nvSpPr>
          <p:cNvPr id="63" name="Shape 56"/>
          <p:cNvSpPr/>
          <p:nvPr/>
        </p:nvSpPr>
        <p:spPr>
          <a:xfrm>
            <a:off x="4846320" y="4041648"/>
            <a:ext cx="320040" cy="274320"/>
          </a:xfrm>
          <a:prstGeom prst="rect">
            <a:avLst/>
          </a:prstGeom>
          <a:solidFill>
            <a:srgbClr val="F9FAFB"/>
          </a:solidFill>
          <a:ln w="5080">
            <a:solidFill>
              <a:srgbClr val="C8D6E5"/>
            </a:solidFill>
            <a:prstDash val="solid"/>
          </a:ln>
        </p:spPr>
      </p:sp>
      <p:sp>
        <p:nvSpPr>
          <p:cNvPr id="64" name="Text 57"/>
          <p:cNvSpPr/>
          <p:nvPr/>
        </p:nvSpPr>
        <p:spPr>
          <a:xfrm>
            <a:off x="4882896" y="4041648"/>
            <a:ext cx="246888" cy="274320"/>
          </a:xfrm>
          <a:prstGeom prst="rect">
            <a:avLst/>
          </a:prstGeom>
          <a:noFill/>
          <a:ln/>
        </p:spPr>
        <p:txBody>
          <a:bodyPr wrap="square" lIns="12700" tIns="12700" rIns="12700" bIns="12700" rtlCol="0" anchor="ctr"/>
          <a:lstStyle/>
          <a:p>
            <a:pPr algn="l" indent="0" marL="0">
              <a:buNone/>
            </a:pPr>
            <a:r>
              <a:rPr lang="en-US" sz="850" b="1" dirty="0">
                <a:solidFill>
                  <a:srgbClr val="C47A1E"/>
                </a:solidFill>
              </a:rPr>
              <a:t>C</a:t>
            </a:r>
            <a:endParaRPr lang="en-US" sz="850" dirty="0"/>
          </a:p>
        </p:txBody>
      </p:sp>
      <p:sp>
        <p:nvSpPr>
          <p:cNvPr id="65" name="Shape 58"/>
          <p:cNvSpPr/>
          <p:nvPr/>
        </p:nvSpPr>
        <p:spPr>
          <a:xfrm>
            <a:off x="5166360" y="4041648"/>
            <a:ext cx="2331720" cy="274320"/>
          </a:xfrm>
          <a:prstGeom prst="rect">
            <a:avLst/>
          </a:prstGeom>
          <a:solidFill>
            <a:srgbClr val="F9FAFB"/>
          </a:solidFill>
          <a:ln w="5080">
            <a:solidFill>
              <a:srgbClr val="C8D6E5"/>
            </a:solidFill>
            <a:prstDash val="solid"/>
          </a:ln>
        </p:spPr>
      </p:sp>
      <p:sp>
        <p:nvSpPr>
          <p:cNvPr id="66" name="Text 59"/>
          <p:cNvSpPr/>
          <p:nvPr/>
        </p:nvSpPr>
        <p:spPr>
          <a:xfrm>
            <a:off x="5202936" y="4041648"/>
            <a:ext cx="2258568" cy="274320"/>
          </a:xfrm>
          <a:prstGeom prst="rect">
            <a:avLst/>
          </a:prstGeom>
          <a:noFill/>
          <a:ln/>
        </p:spPr>
        <p:txBody>
          <a:bodyPr wrap="square" lIns="12700" tIns="12700" rIns="12700" bIns="12700" rtlCol="0" anchor="ctr"/>
          <a:lstStyle/>
          <a:p>
            <a:pPr algn="l" indent="0" marL="0">
              <a:buNone/>
            </a:pPr>
            <a:r>
              <a:rPr lang="en-US" sz="850" dirty="0">
                <a:solidFill>
                  <a:srgbClr val="8899AA"/>
                </a:solidFill>
              </a:rPr>
              <a:t>TFT + CSV + Graph</a:t>
            </a:r>
            <a:endParaRPr lang="en-US" sz="850" dirty="0"/>
          </a:p>
        </p:txBody>
      </p:sp>
      <p:sp>
        <p:nvSpPr>
          <p:cNvPr id="67" name="Shape 60"/>
          <p:cNvSpPr/>
          <p:nvPr/>
        </p:nvSpPr>
        <p:spPr>
          <a:xfrm>
            <a:off x="7498080" y="4041648"/>
            <a:ext cx="777240" cy="274320"/>
          </a:xfrm>
          <a:prstGeom prst="rect">
            <a:avLst/>
          </a:prstGeom>
          <a:solidFill>
            <a:srgbClr val="F9FAFB"/>
          </a:solidFill>
          <a:ln w="5080">
            <a:solidFill>
              <a:srgbClr val="C8D6E5"/>
            </a:solidFill>
            <a:prstDash val="solid"/>
          </a:ln>
        </p:spPr>
      </p:sp>
      <p:sp>
        <p:nvSpPr>
          <p:cNvPr id="68" name="Text 61"/>
          <p:cNvSpPr/>
          <p:nvPr/>
        </p:nvSpPr>
        <p:spPr>
          <a:xfrm>
            <a:off x="7534656" y="4041648"/>
            <a:ext cx="704088" cy="274320"/>
          </a:xfrm>
          <a:prstGeom prst="rect">
            <a:avLst/>
          </a:prstGeom>
          <a:noFill/>
          <a:ln/>
        </p:spPr>
        <p:txBody>
          <a:bodyPr wrap="square" lIns="12700" tIns="12700" rIns="12700" bIns="12700" rtlCol="0" anchor="ctr"/>
          <a:lstStyle/>
          <a:p>
            <a:pPr algn="ctr" indent="0" marL="0">
              <a:buNone/>
            </a:pPr>
            <a:r>
              <a:rPr lang="en-US" sz="850" dirty="0">
                <a:solidFill>
                  <a:srgbClr val="8899AA"/>
                </a:solidFill>
              </a:rPr>
              <a:t>~80%</a:t>
            </a:r>
            <a:endParaRPr lang="en-US" sz="850" dirty="0"/>
          </a:p>
        </p:txBody>
      </p:sp>
      <p:sp>
        <p:nvSpPr>
          <p:cNvPr id="69" name="Shape 62"/>
          <p:cNvSpPr/>
          <p:nvPr/>
        </p:nvSpPr>
        <p:spPr>
          <a:xfrm>
            <a:off x="4846320" y="4334256"/>
            <a:ext cx="320040" cy="274320"/>
          </a:xfrm>
          <a:prstGeom prst="rect">
            <a:avLst/>
          </a:prstGeom>
          <a:solidFill>
            <a:srgbClr val="ECFDF5"/>
          </a:solidFill>
          <a:ln w="5080">
            <a:solidFill>
              <a:srgbClr val="C8D6E5"/>
            </a:solidFill>
            <a:prstDash val="solid"/>
          </a:ln>
        </p:spPr>
      </p:sp>
      <p:sp>
        <p:nvSpPr>
          <p:cNvPr id="70" name="Text 63"/>
          <p:cNvSpPr/>
          <p:nvPr/>
        </p:nvSpPr>
        <p:spPr>
          <a:xfrm>
            <a:off x="4882896" y="4334256"/>
            <a:ext cx="246888" cy="274320"/>
          </a:xfrm>
          <a:prstGeom prst="rect">
            <a:avLst/>
          </a:prstGeom>
          <a:noFill/>
          <a:ln/>
        </p:spPr>
        <p:txBody>
          <a:bodyPr wrap="square" lIns="12700" tIns="12700" rIns="12700" bIns="12700" rtlCol="0" anchor="ctr"/>
          <a:lstStyle/>
          <a:p>
            <a:pPr algn="l" indent="0" marL="0">
              <a:buNone/>
            </a:pPr>
            <a:r>
              <a:rPr lang="en-US" sz="850" b="1" dirty="0">
                <a:solidFill>
                  <a:srgbClr val="C47A1E"/>
                </a:solidFill>
              </a:rPr>
              <a:t>D</a:t>
            </a:r>
            <a:endParaRPr lang="en-US" sz="850" dirty="0"/>
          </a:p>
        </p:txBody>
      </p:sp>
      <p:sp>
        <p:nvSpPr>
          <p:cNvPr id="71" name="Shape 64"/>
          <p:cNvSpPr/>
          <p:nvPr/>
        </p:nvSpPr>
        <p:spPr>
          <a:xfrm>
            <a:off x="5166360" y="4334256"/>
            <a:ext cx="2331720" cy="274320"/>
          </a:xfrm>
          <a:prstGeom prst="rect">
            <a:avLst/>
          </a:prstGeom>
          <a:solidFill>
            <a:srgbClr val="ECFDF5"/>
          </a:solidFill>
          <a:ln w="5080">
            <a:solidFill>
              <a:srgbClr val="C8D6E5"/>
            </a:solidFill>
            <a:prstDash val="solid"/>
          </a:ln>
        </p:spPr>
      </p:sp>
      <p:sp>
        <p:nvSpPr>
          <p:cNvPr id="72" name="Text 65"/>
          <p:cNvSpPr/>
          <p:nvPr/>
        </p:nvSpPr>
        <p:spPr>
          <a:xfrm>
            <a:off x="5202936" y="4334256"/>
            <a:ext cx="2258568" cy="274320"/>
          </a:xfrm>
          <a:prstGeom prst="rect">
            <a:avLst/>
          </a:prstGeom>
          <a:noFill/>
          <a:ln/>
        </p:spPr>
        <p:txBody>
          <a:bodyPr wrap="square" lIns="12700" tIns="12700" rIns="12700" bIns="12700" rtlCol="0" anchor="ctr"/>
          <a:lstStyle/>
          <a:p>
            <a:pPr algn="l" indent="0" marL="0">
              <a:buNone/>
            </a:pPr>
            <a:r>
              <a:rPr lang="en-US" sz="850" b="1" dirty="0">
                <a:solidFill>
                  <a:srgbClr val="8899AA"/>
                </a:solidFill>
              </a:rPr>
              <a:t>Full system (TFT+Graph+Conformal)</a:t>
            </a:r>
            <a:endParaRPr lang="en-US" sz="850" dirty="0"/>
          </a:p>
        </p:txBody>
      </p:sp>
      <p:sp>
        <p:nvSpPr>
          <p:cNvPr id="73" name="Shape 66"/>
          <p:cNvSpPr/>
          <p:nvPr/>
        </p:nvSpPr>
        <p:spPr>
          <a:xfrm>
            <a:off x="7498080" y="4334256"/>
            <a:ext cx="777240" cy="274320"/>
          </a:xfrm>
          <a:prstGeom prst="rect">
            <a:avLst/>
          </a:prstGeom>
          <a:solidFill>
            <a:srgbClr val="ECFDF5"/>
          </a:solidFill>
          <a:ln w="5080">
            <a:solidFill>
              <a:srgbClr val="C8D6E5"/>
            </a:solidFill>
            <a:prstDash val="solid"/>
          </a:ln>
        </p:spPr>
      </p:sp>
      <p:sp>
        <p:nvSpPr>
          <p:cNvPr id="74" name="Text 67"/>
          <p:cNvSpPr/>
          <p:nvPr/>
        </p:nvSpPr>
        <p:spPr>
          <a:xfrm>
            <a:off x="7534656" y="4334256"/>
            <a:ext cx="704088" cy="274320"/>
          </a:xfrm>
          <a:prstGeom prst="rect">
            <a:avLst/>
          </a:prstGeom>
          <a:noFill/>
          <a:ln/>
        </p:spPr>
        <p:txBody>
          <a:bodyPr wrap="square" lIns="12700" tIns="12700" rIns="12700" bIns="12700" rtlCol="0" anchor="ctr"/>
          <a:lstStyle/>
          <a:p>
            <a:pPr algn="ctr" indent="0" marL="0">
              <a:buNone/>
            </a:pPr>
            <a:r>
              <a:rPr lang="en-US" sz="850" b="1" dirty="0">
                <a:solidFill>
                  <a:srgbClr val="1A6B3C"/>
                </a:solidFill>
              </a:rPr>
              <a:t>&gt;82%</a:t>
            </a:r>
            <a:endParaRPr lang="en-US" sz="850" dirty="0"/>
          </a:p>
        </p:txBody>
      </p:sp>
      <p:sp>
        <p:nvSpPr>
          <p:cNvPr id="75" name="Text 68"/>
          <p:cNvSpPr/>
          <p:nvPr/>
        </p:nvSpPr>
        <p:spPr>
          <a:xfrm>
            <a:off x="4828032" y="4645152"/>
            <a:ext cx="4059936" cy="256032"/>
          </a:xfrm>
          <a:prstGeom prst="rect">
            <a:avLst/>
          </a:prstGeom>
          <a:noFill/>
          <a:ln/>
        </p:spPr>
        <p:txBody>
          <a:bodyPr wrap="square" lIns="0" tIns="0" rIns="0" bIns="0" rtlCol="0" anchor="ctr"/>
          <a:lstStyle/>
          <a:p>
            <a:pPr indent="0" marL="0">
              <a:buNone/>
            </a:pPr>
            <a:r>
              <a:rPr lang="en-US" sz="800" i="1" dirty="0">
                <a:solidFill>
                  <a:srgbClr val="8899AA"/>
                </a:solidFill>
              </a:rPr>
              <a:t>Each config run on identical held-out test set. Proves contribution of each module.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12240"/>
          </a:solidFill>
          <a:ln w="12700">
            <a:solidFill>
              <a:srgbClr val="112240"/>
            </a:solidFill>
            <a:prstDash val="solid"/>
          </a:ln>
        </p:spPr>
      </p:sp>
      <p:sp>
        <p:nvSpPr>
          <p:cNvPr id="3" name="Shape 1"/>
          <p:cNvSpPr/>
          <p:nvPr/>
        </p:nvSpPr>
        <p:spPr>
          <a:xfrm>
            <a:off x="0" y="0"/>
            <a:ext cx="54864" cy="804672"/>
          </a:xfrm>
          <a:prstGeom prst="rect">
            <a:avLst/>
          </a:prstGeom>
          <a:solidFill>
            <a:srgbClr val="27AE60"/>
          </a:solidFill>
          <a:ln w="12700">
            <a:solidFill>
              <a:srgbClr val="27AE60"/>
            </a:solidFill>
            <a:prstDash val="solid"/>
          </a:ln>
        </p:spPr>
      </p:sp>
      <p:pic>
        <p:nvPicPr>
          <p:cNvPr id="4" name="Image 0" descr="preencoded.png">    </p:cNvPr>
          <p:cNvPicPr>
            <a:picLocks noChangeAspect="1"/>
          </p:cNvPicPr>
          <p:nvPr/>
        </p:nvPicPr>
        <p:blipFill>
          <a:blip r:embed="rId1"/>
          <a:stretch>
            <a:fillRect/>
          </a:stretch>
        </p:blipFill>
        <p:spPr>
          <a:xfrm>
            <a:off x="182880" y="182880"/>
            <a:ext cx="420624" cy="420624"/>
          </a:xfrm>
          <a:prstGeom prst="rect">
            <a:avLst/>
          </a:prstGeom>
        </p:spPr>
      </p:pic>
      <p:sp>
        <p:nvSpPr>
          <p:cNvPr id="5" name="Text 2"/>
          <p:cNvSpPr/>
          <p:nvPr/>
        </p:nvSpPr>
        <p:spPr>
          <a:xfrm>
            <a:off x="749808" y="54864"/>
            <a:ext cx="7315200" cy="329184"/>
          </a:xfrm>
          <a:prstGeom prst="rect">
            <a:avLst/>
          </a:prstGeom>
          <a:noFill/>
          <a:ln/>
        </p:spPr>
        <p:txBody>
          <a:bodyPr wrap="square" lIns="0" tIns="0" rIns="0" bIns="0" rtlCol="0" anchor="ctr"/>
          <a:lstStyle/>
          <a:p>
            <a:pPr indent="0" marL="0">
              <a:buNone/>
            </a:pPr>
            <a:r>
              <a:rPr lang="en-US" sz="1100" b="1" spc="400" kern="0" dirty="0">
                <a:solidFill>
                  <a:srgbClr val="27AE60"/>
                </a:solidFill>
              </a:rPr>
              <a:t>EVALUATION METRICS</a:t>
            </a:r>
            <a:endParaRPr lang="en-US" sz="1100" dirty="0"/>
          </a:p>
        </p:txBody>
      </p:sp>
      <p:sp>
        <p:nvSpPr>
          <p:cNvPr id="6" name="Text 3"/>
          <p:cNvSpPr/>
          <p:nvPr/>
        </p:nvSpPr>
        <p:spPr>
          <a:xfrm>
            <a:off x="749808" y="402336"/>
            <a:ext cx="8229600" cy="292608"/>
          </a:xfrm>
          <a:prstGeom prst="rect">
            <a:avLst/>
          </a:prstGeom>
          <a:noFill/>
          <a:ln/>
        </p:spPr>
        <p:txBody>
          <a:bodyPr wrap="square" lIns="0" tIns="0" rIns="0" bIns="0" rtlCol="0" anchor="ctr"/>
          <a:lstStyle/>
          <a:p>
            <a:pPr indent="0" marL="0">
              <a:buNone/>
            </a:pPr>
            <a:r>
              <a:rPr lang="en-US" sz="1200" dirty="0">
                <a:solidFill>
                  <a:srgbClr val="C8D6E5"/>
                </a:solidFill>
              </a:rPr>
              <a:t>Every metric has a published baseline to beat — making novelty claims scientifically defensible</a:t>
            </a:r>
            <a:endParaRPr lang="en-US" sz="1200" dirty="0"/>
          </a:p>
        </p:txBody>
      </p:sp>
      <p:sp>
        <p:nvSpPr>
          <p:cNvPr id="7" name="Shape 4"/>
          <p:cNvSpPr/>
          <p:nvPr/>
        </p:nvSpPr>
        <p:spPr>
          <a:xfrm>
            <a:off x="201168" y="877824"/>
            <a:ext cx="2377440" cy="292608"/>
          </a:xfrm>
          <a:prstGeom prst="rect">
            <a:avLst/>
          </a:prstGeom>
          <a:solidFill>
            <a:srgbClr val="0D9B8A"/>
          </a:solidFill>
          <a:ln w="12700">
            <a:solidFill>
              <a:srgbClr val="0D9B8A"/>
            </a:solidFill>
            <a:prstDash val="solid"/>
          </a:ln>
        </p:spPr>
      </p:sp>
      <p:sp>
        <p:nvSpPr>
          <p:cNvPr id="8" name="Text 5"/>
          <p:cNvSpPr/>
          <p:nvPr/>
        </p:nvSpPr>
        <p:spPr>
          <a:xfrm>
            <a:off x="201168" y="877824"/>
            <a:ext cx="2377440" cy="292608"/>
          </a:xfrm>
          <a:prstGeom prst="rect">
            <a:avLst/>
          </a:prstGeom>
          <a:noFill/>
          <a:ln/>
        </p:spPr>
        <p:txBody>
          <a:bodyPr wrap="square" lIns="12700" tIns="12700" rIns="12700" bIns="12700" rtlCol="0" anchor="ctr"/>
          <a:lstStyle/>
          <a:p>
            <a:pPr algn="ctr" indent="0" marL="0">
              <a:buNone/>
            </a:pPr>
            <a:r>
              <a:rPr lang="en-US" sz="900" b="1" dirty="0">
                <a:solidFill>
                  <a:srgbClr val="FFFFFF"/>
                </a:solidFill>
              </a:rPr>
              <a:t>Metric</a:t>
            </a:r>
            <a:endParaRPr lang="en-US" sz="900" dirty="0"/>
          </a:p>
        </p:txBody>
      </p:sp>
      <p:sp>
        <p:nvSpPr>
          <p:cNvPr id="9" name="Shape 6"/>
          <p:cNvSpPr/>
          <p:nvPr/>
        </p:nvSpPr>
        <p:spPr>
          <a:xfrm>
            <a:off x="2578608" y="877824"/>
            <a:ext cx="1234440" cy="292608"/>
          </a:xfrm>
          <a:prstGeom prst="rect">
            <a:avLst/>
          </a:prstGeom>
          <a:solidFill>
            <a:srgbClr val="0D9B8A"/>
          </a:solidFill>
          <a:ln w="12700">
            <a:solidFill>
              <a:srgbClr val="0D9B8A"/>
            </a:solidFill>
            <a:prstDash val="solid"/>
          </a:ln>
        </p:spPr>
      </p:sp>
      <p:sp>
        <p:nvSpPr>
          <p:cNvPr id="10" name="Text 7"/>
          <p:cNvSpPr/>
          <p:nvPr/>
        </p:nvSpPr>
        <p:spPr>
          <a:xfrm>
            <a:off x="2578608" y="877824"/>
            <a:ext cx="1234440" cy="292608"/>
          </a:xfrm>
          <a:prstGeom prst="rect">
            <a:avLst/>
          </a:prstGeom>
          <a:noFill/>
          <a:ln/>
        </p:spPr>
        <p:txBody>
          <a:bodyPr wrap="square" lIns="12700" tIns="12700" rIns="12700" bIns="12700" rtlCol="0" anchor="ctr"/>
          <a:lstStyle/>
          <a:p>
            <a:pPr algn="ctr" indent="0" marL="0">
              <a:buNone/>
            </a:pPr>
            <a:r>
              <a:rPr lang="en-US" sz="900" b="1" dirty="0">
                <a:solidFill>
                  <a:srgbClr val="FFFFFF"/>
                </a:solidFill>
              </a:rPr>
              <a:t>Module</a:t>
            </a:r>
            <a:endParaRPr lang="en-US" sz="900" dirty="0"/>
          </a:p>
        </p:txBody>
      </p:sp>
      <p:sp>
        <p:nvSpPr>
          <p:cNvPr id="11" name="Shape 8"/>
          <p:cNvSpPr/>
          <p:nvPr/>
        </p:nvSpPr>
        <p:spPr>
          <a:xfrm>
            <a:off x="3813048" y="877824"/>
            <a:ext cx="1005840" cy="292608"/>
          </a:xfrm>
          <a:prstGeom prst="rect">
            <a:avLst/>
          </a:prstGeom>
          <a:solidFill>
            <a:srgbClr val="0D9B8A"/>
          </a:solidFill>
          <a:ln w="12700">
            <a:solidFill>
              <a:srgbClr val="0D9B8A"/>
            </a:solidFill>
            <a:prstDash val="solid"/>
          </a:ln>
        </p:spPr>
      </p:sp>
      <p:sp>
        <p:nvSpPr>
          <p:cNvPr id="12" name="Text 9"/>
          <p:cNvSpPr/>
          <p:nvPr/>
        </p:nvSpPr>
        <p:spPr>
          <a:xfrm>
            <a:off x="3813048" y="877824"/>
            <a:ext cx="1005840" cy="292608"/>
          </a:xfrm>
          <a:prstGeom prst="rect">
            <a:avLst/>
          </a:prstGeom>
          <a:noFill/>
          <a:ln/>
        </p:spPr>
        <p:txBody>
          <a:bodyPr wrap="square" lIns="12700" tIns="12700" rIns="12700" bIns="12700" rtlCol="0" anchor="ctr"/>
          <a:lstStyle/>
          <a:p>
            <a:pPr algn="ctr" indent="0" marL="0">
              <a:buNone/>
            </a:pPr>
            <a:r>
              <a:rPr lang="en-US" sz="900" b="1" dirty="0">
                <a:solidFill>
                  <a:srgbClr val="FFFFFF"/>
                </a:solidFill>
              </a:rPr>
              <a:t>Target</a:t>
            </a:r>
            <a:endParaRPr lang="en-US" sz="900" dirty="0"/>
          </a:p>
        </p:txBody>
      </p:sp>
      <p:sp>
        <p:nvSpPr>
          <p:cNvPr id="13" name="Shape 10"/>
          <p:cNvSpPr/>
          <p:nvPr/>
        </p:nvSpPr>
        <p:spPr>
          <a:xfrm>
            <a:off x="4818888" y="877824"/>
            <a:ext cx="1691640" cy="292608"/>
          </a:xfrm>
          <a:prstGeom prst="rect">
            <a:avLst/>
          </a:prstGeom>
          <a:solidFill>
            <a:srgbClr val="0D9B8A"/>
          </a:solidFill>
          <a:ln w="12700">
            <a:solidFill>
              <a:srgbClr val="0D9B8A"/>
            </a:solidFill>
            <a:prstDash val="solid"/>
          </a:ln>
        </p:spPr>
      </p:sp>
      <p:sp>
        <p:nvSpPr>
          <p:cNvPr id="14" name="Text 11"/>
          <p:cNvSpPr/>
          <p:nvPr/>
        </p:nvSpPr>
        <p:spPr>
          <a:xfrm>
            <a:off x="4818888" y="877824"/>
            <a:ext cx="1691640" cy="292608"/>
          </a:xfrm>
          <a:prstGeom prst="rect">
            <a:avLst/>
          </a:prstGeom>
          <a:noFill/>
          <a:ln/>
        </p:spPr>
        <p:txBody>
          <a:bodyPr wrap="square" lIns="12700" tIns="12700" rIns="12700" bIns="12700" rtlCol="0" anchor="ctr"/>
          <a:lstStyle/>
          <a:p>
            <a:pPr algn="ctr" indent="0" marL="0">
              <a:buNone/>
            </a:pPr>
            <a:r>
              <a:rPr lang="en-US" sz="900" b="1" dirty="0">
                <a:solidFill>
                  <a:srgbClr val="FFFFFF"/>
                </a:solidFill>
              </a:rPr>
              <a:t>Baseline</a:t>
            </a:r>
            <a:endParaRPr lang="en-US" sz="900" dirty="0"/>
          </a:p>
        </p:txBody>
      </p:sp>
      <p:sp>
        <p:nvSpPr>
          <p:cNvPr id="15" name="Shape 12"/>
          <p:cNvSpPr/>
          <p:nvPr/>
        </p:nvSpPr>
        <p:spPr>
          <a:xfrm>
            <a:off x="6510528" y="877824"/>
            <a:ext cx="2578608" cy="292608"/>
          </a:xfrm>
          <a:prstGeom prst="rect">
            <a:avLst/>
          </a:prstGeom>
          <a:solidFill>
            <a:srgbClr val="0D9B8A"/>
          </a:solidFill>
          <a:ln w="12700">
            <a:solidFill>
              <a:srgbClr val="0D9B8A"/>
            </a:solidFill>
            <a:prstDash val="solid"/>
          </a:ln>
        </p:spPr>
      </p:sp>
      <p:sp>
        <p:nvSpPr>
          <p:cNvPr id="16" name="Text 13"/>
          <p:cNvSpPr/>
          <p:nvPr/>
        </p:nvSpPr>
        <p:spPr>
          <a:xfrm>
            <a:off x="6510528" y="877824"/>
            <a:ext cx="2578608" cy="292608"/>
          </a:xfrm>
          <a:prstGeom prst="rect">
            <a:avLst/>
          </a:prstGeom>
          <a:noFill/>
          <a:ln/>
        </p:spPr>
        <p:txBody>
          <a:bodyPr wrap="square" lIns="12700" tIns="12700" rIns="12700" bIns="12700" rtlCol="0" anchor="ctr"/>
          <a:lstStyle/>
          <a:p>
            <a:pPr algn="ctr" indent="0" marL="0">
              <a:buNone/>
            </a:pPr>
            <a:r>
              <a:rPr lang="en-US" sz="900" b="1" dirty="0">
                <a:solidFill>
                  <a:srgbClr val="FFFFFF"/>
                </a:solidFill>
              </a:rPr>
              <a:t>Why It Matters</a:t>
            </a:r>
            <a:endParaRPr lang="en-US" sz="900" dirty="0"/>
          </a:p>
        </p:txBody>
      </p:sp>
      <p:sp>
        <p:nvSpPr>
          <p:cNvPr id="17" name="Shape 14"/>
          <p:cNvSpPr/>
          <p:nvPr/>
        </p:nvSpPr>
        <p:spPr>
          <a:xfrm>
            <a:off x="201168" y="1170432"/>
            <a:ext cx="2377440" cy="457200"/>
          </a:xfrm>
          <a:prstGeom prst="rect">
            <a:avLst/>
          </a:prstGeom>
          <a:solidFill>
            <a:srgbClr val="F0FDF4"/>
          </a:solidFill>
          <a:ln w="5080">
            <a:solidFill>
              <a:srgbClr val="C8D6E5"/>
            </a:solidFill>
            <a:prstDash val="solid"/>
          </a:ln>
        </p:spPr>
      </p:sp>
      <p:sp>
        <p:nvSpPr>
          <p:cNvPr id="18" name="Shape 15"/>
          <p:cNvSpPr/>
          <p:nvPr/>
        </p:nvSpPr>
        <p:spPr>
          <a:xfrm>
            <a:off x="201168" y="1170432"/>
            <a:ext cx="54864" cy="457200"/>
          </a:xfrm>
          <a:prstGeom prst="rect">
            <a:avLst/>
          </a:prstGeom>
          <a:solidFill>
            <a:srgbClr val="27AE60"/>
          </a:solidFill>
          <a:ln w="12700">
            <a:solidFill>
              <a:srgbClr val="27AE60"/>
            </a:solidFill>
            <a:prstDash val="solid"/>
          </a:ln>
        </p:spPr>
      </p:sp>
      <p:sp>
        <p:nvSpPr>
          <p:cNvPr id="19" name="Text 16"/>
          <p:cNvSpPr/>
          <p:nvPr/>
        </p:nvSpPr>
        <p:spPr>
          <a:xfrm>
            <a:off x="292608" y="1170432"/>
            <a:ext cx="2249424" cy="457200"/>
          </a:xfrm>
          <a:prstGeom prst="rect">
            <a:avLst/>
          </a:prstGeom>
          <a:noFill/>
          <a:ln/>
        </p:spPr>
        <p:txBody>
          <a:bodyPr wrap="square" lIns="25400" tIns="25400" rIns="25400" bIns="25400" rtlCol="0" anchor="ctr"/>
          <a:lstStyle/>
          <a:p>
            <a:pPr algn="l" indent="0" marL="0">
              <a:buNone/>
            </a:pPr>
            <a:r>
              <a:rPr lang="en-US" sz="880" dirty="0">
                <a:solidFill>
                  <a:srgbClr val="1A2B42"/>
                </a:solidFill>
              </a:rPr>
              <a:t>Stockout prediction accuracy</a:t>
            </a:r>
            <a:endParaRPr lang="en-US" sz="880" dirty="0"/>
          </a:p>
          <a:p>
            <a:pPr algn="l" indent="0" marL="0">
              <a:buNone/>
            </a:pPr>
            <a:r>
              <a:rPr lang="en-US" sz="880" dirty="0">
                <a:solidFill>
                  <a:srgbClr val="1A2B42"/>
                </a:solidFill>
              </a:rPr>
              <a:t>(45-day horizon)</a:t>
            </a:r>
            <a:endParaRPr lang="en-US" sz="880" dirty="0"/>
          </a:p>
        </p:txBody>
      </p:sp>
      <p:sp>
        <p:nvSpPr>
          <p:cNvPr id="20" name="Shape 17"/>
          <p:cNvSpPr/>
          <p:nvPr/>
        </p:nvSpPr>
        <p:spPr>
          <a:xfrm>
            <a:off x="2578608" y="1170432"/>
            <a:ext cx="1234440" cy="457200"/>
          </a:xfrm>
          <a:prstGeom prst="rect">
            <a:avLst/>
          </a:prstGeom>
          <a:solidFill>
            <a:srgbClr val="FAFBFC"/>
          </a:solidFill>
          <a:ln w="5080">
            <a:solidFill>
              <a:srgbClr val="C8D6E5"/>
            </a:solidFill>
            <a:prstDash val="solid"/>
          </a:ln>
        </p:spPr>
      </p:sp>
      <p:sp>
        <p:nvSpPr>
          <p:cNvPr id="21" name="Text 18"/>
          <p:cNvSpPr/>
          <p:nvPr/>
        </p:nvSpPr>
        <p:spPr>
          <a:xfrm>
            <a:off x="2615184" y="1170432"/>
            <a:ext cx="1161288" cy="457200"/>
          </a:xfrm>
          <a:prstGeom prst="rect">
            <a:avLst/>
          </a:prstGeom>
          <a:noFill/>
          <a:ln/>
        </p:spPr>
        <p:txBody>
          <a:bodyPr wrap="square" lIns="12700" tIns="12700" rIns="12700" bIns="12700" rtlCol="0" anchor="ctr"/>
          <a:lstStyle/>
          <a:p>
            <a:pPr algn="l" indent="0" marL="0">
              <a:buNone/>
            </a:pPr>
            <a:r>
              <a:rPr lang="en-US" sz="880" dirty="0">
                <a:solidFill>
                  <a:srgbClr val="1A2B42"/>
                </a:solidFill>
              </a:rPr>
              <a:t>TFT</a:t>
            </a:r>
            <a:endParaRPr lang="en-US" sz="880" dirty="0"/>
          </a:p>
        </p:txBody>
      </p:sp>
      <p:sp>
        <p:nvSpPr>
          <p:cNvPr id="22" name="Shape 19"/>
          <p:cNvSpPr/>
          <p:nvPr/>
        </p:nvSpPr>
        <p:spPr>
          <a:xfrm>
            <a:off x="3813048" y="1170432"/>
            <a:ext cx="1005840" cy="457200"/>
          </a:xfrm>
          <a:prstGeom prst="rect">
            <a:avLst/>
          </a:prstGeom>
          <a:solidFill>
            <a:srgbClr val="FAFBFC"/>
          </a:solidFill>
          <a:ln w="5080">
            <a:solidFill>
              <a:srgbClr val="C8D6E5"/>
            </a:solidFill>
            <a:prstDash val="solid"/>
          </a:ln>
        </p:spPr>
      </p:sp>
      <p:sp>
        <p:nvSpPr>
          <p:cNvPr id="23" name="Text 20"/>
          <p:cNvSpPr/>
          <p:nvPr/>
        </p:nvSpPr>
        <p:spPr>
          <a:xfrm>
            <a:off x="3849624" y="1170432"/>
            <a:ext cx="932688" cy="457200"/>
          </a:xfrm>
          <a:prstGeom prst="rect">
            <a:avLst/>
          </a:prstGeom>
          <a:noFill/>
          <a:ln/>
        </p:spPr>
        <p:txBody>
          <a:bodyPr wrap="square" lIns="12700" tIns="12700" rIns="12700" bIns="12700" rtlCol="0" anchor="ctr"/>
          <a:lstStyle/>
          <a:p>
            <a:pPr algn="ctr" indent="0" marL="0">
              <a:buNone/>
            </a:pPr>
            <a:r>
              <a:rPr lang="en-US" sz="880" b="1" dirty="0">
                <a:solidFill>
                  <a:srgbClr val="1A6B3C"/>
                </a:solidFill>
              </a:rPr>
              <a:t>&gt;82%</a:t>
            </a:r>
            <a:endParaRPr lang="en-US" sz="880" dirty="0"/>
          </a:p>
        </p:txBody>
      </p:sp>
      <p:sp>
        <p:nvSpPr>
          <p:cNvPr id="24" name="Shape 21"/>
          <p:cNvSpPr/>
          <p:nvPr/>
        </p:nvSpPr>
        <p:spPr>
          <a:xfrm>
            <a:off x="4818888" y="1170432"/>
            <a:ext cx="1691640" cy="457200"/>
          </a:xfrm>
          <a:prstGeom prst="rect">
            <a:avLst/>
          </a:prstGeom>
          <a:solidFill>
            <a:srgbClr val="FAFBFC"/>
          </a:solidFill>
          <a:ln w="5080">
            <a:solidFill>
              <a:srgbClr val="C8D6E5"/>
            </a:solidFill>
            <a:prstDash val="solid"/>
          </a:ln>
        </p:spPr>
      </p:sp>
      <p:sp>
        <p:nvSpPr>
          <p:cNvPr id="25" name="Text 22"/>
          <p:cNvSpPr/>
          <p:nvPr/>
        </p:nvSpPr>
        <p:spPr>
          <a:xfrm>
            <a:off x="4855464" y="1170432"/>
            <a:ext cx="1618488" cy="457200"/>
          </a:xfrm>
          <a:prstGeom prst="rect">
            <a:avLst/>
          </a:prstGeom>
          <a:noFill/>
          <a:ln/>
        </p:spPr>
        <p:txBody>
          <a:bodyPr wrap="square" lIns="12700" tIns="12700" rIns="12700" bIns="12700" rtlCol="0" anchor="ctr"/>
          <a:lstStyle/>
          <a:p>
            <a:pPr algn="ctr" indent="0" marL="0">
              <a:buNone/>
            </a:pPr>
            <a:r>
              <a:rPr lang="en-US" sz="880" dirty="0">
                <a:solidFill>
                  <a:srgbClr val="8899AA"/>
                </a:solidFill>
              </a:rPr>
              <a:t>69% (2023)</a:t>
            </a:r>
            <a:endParaRPr lang="en-US" sz="880" dirty="0"/>
          </a:p>
        </p:txBody>
      </p:sp>
      <p:sp>
        <p:nvSpPr>
          <p:cNvPr id="26" name="Shape 23"/>
          <p:cNvSpPr/>
          <p:nvPr/>
        </p:nvSpPr>
        <p:spPr>
          <a:xfrm>
            <a:off x="6510528" y="1170432"/>
            <a:ext cx="2578608" cy="457200"/>
          </a:xfrm>
          <a:prstGeom prst="rect">
            <a:avLst/>
          </a:prstGeom>
          <a:solidFill>
            <a:srgbClr val="FAFBFC"/>
          </a:solidFill>
          <a:ln w="5080">
            <a:solidFill>
              <a:srgbClr val="C8D6E5"/>
            </a:solidFill>
            <a:prstDash val="solid"/>
          </a:ln>
        </p:spPr>
      </p:sp>
      <p:sp>
        <p:nvSpPr>
          <p:cNvPr id="27" name="Text 24"/>
          <p:cNvSpPr/>
          <p:nvPr/>
        </p:nvSpPr>
        <p:spPr>
          <a:xfrm>
            <a:off x="6547104" y="1170432"/>
            <a:ext cx="2505456" cy="457200"/>
          </a:xfrm>
          <a:prstGeom prst="rect">
            <a:avLst/>
          </a:prstGeom>
          <a:noFill/>
          <a:ln/>
        </p:spPr>
        <p:txBody>
          <a:bodyPr wrap="square" lIns="12700" tIns="12700" rIns="12700" bIns="12700" rtlCol="0" anchor="ctr"/>
          <a:lstStyle/>
          <a:p>
            <a:pPr algn="l" indent="0" marL="0">
              <a:buNone/>
            </a:pPr>
            <a:r>
              <a:rPr lang="en-US" sz="880" dirty="0">
                <a:solidFill>
                  <a:srgbClr val="1A2B42"/>
                </a:solidFill>
              </a:rPr>
              <a:t>Core claim — beats published SOTA directly</a:t>
            </a:r>
            <a:endParaRPr lang="en-US" sz="880" dirty="0"/>
          </a:p>
        </p:txBody>
      </p:sp>
      <p:sp>
        <p:nvSpPr>
          <p:cNvPr id="28" name="Shape 25"/>
          <p:cNvSpPr/>
          <p:nvPr/>
        </p:nvSpPr>
        <p:spPr>
          <a:xfrm>
            <a:off x="201168" y="1645920"/>
            <a:ext cx="2377440" cy="457200"/>
          </a:xfrm>
          <a:prstGeom prst="rect">
            <a:avLst/>
          </a:prstGeom>
          <a:solidFill>
            <a:srgbClr val="FFFFFF"/>
          </a:solidFill>
          <a:ln w="5080">
            <a:solidFill>
              <a:srgbClr val="C8D6E5"/>
            </a:solidFill>
            <a:prstDash val="solid"/>
          </a:ln>
        </p:spPr>
      </p:sp>
      <p:sp>
        <p:nvSpPr>
          <p:cNvPr id="29" name="Shape 26"/>
          <p:cNvSpPr/>
          <p:nvPr/>
        </p:nvSpPr>
        <p:spPr>
          <a:xfrm>
            <a:off x="201168" y="1645920"/>
            <a:ext cx="54864" cy="457200"/>
          </a:xfrm>
          <a:prstGeom prst="rect">
            <a:avLst/>
          </a:prstGeom>
          <a:solidFill>
            <a:srgbClr val="27AE60"/>
          </a:solidFill>
          <a:ln w="12700">
            <a:solidFill>
              <a:srgbClr val="27AE60"/>
            </a:solidFill>
            <a:prstDash val="solid"/>
          </a:ln>
        </p:spPr>
      </p:sp>
      <p:sp>
        <p:nvSpPr>
          <p:cNvPr id="30" name="Text 27"/>
          <p:cNvSpPr/>
          <p:nvPr/>
        </p:nvSpPr>
        <p:spPr>
          <a:xfrm>
            <a:off x="292608" y="1645920"/>
            <a:ext cx="2249424" cy="457200"/>
          </a:xfrm>
          <a:prstGeom prst="rect">
            <a:avLst/>
          </a:prstGeom>
          <a:noFill/>
          <a:ln/>
        </p:spPr>
        <p:txBody>
          <a:bodyPr wrap="square" lIns="25400" tIns="25400" rIns="25400" bIns="25400" rtlCol="0" anchor="ctr"/>
          <a:lstStyle/>
          <a:p>
            <a:pPr algn="l" indent="0" marL="0">
              <a:buNone/>
            </a:pPr>
            <a:r>
              <a:rPr lang="en-US" sz="880" dirty="0">
                <a:solidFill>
                  <a:srgbClr val="1A2B42"/>
                </a:solidFill>
              </a:rPr>
              <a:t>AUROC for critical drugs</a:t>
            </a:r>
            <a:endParaRPr lang="en-US" sz="880" dirty="0"/>
          </a:p>
          <a:p>
            <a:pPr algn="l" indent="0" marL="0">
              <a:buNone/>
            </a:pPr>
            <a:r>
              <a:rPr lang="en-US" sz="880" dirty="0">
                <a:solidFill>
                  <a:srgbClr val="1A2B42"/>
                </a:solidFill>
              </a:rPr>
              <a:t>(insulin, antibiotics)</a:t>
            </a:r>
            <a:endParaRPr lang="en-US" sz="880" dirty="0"/>
          </a:p>
        </p:txBody>
      </p:sp>
      <p:sp>
        <p:nvSpPr>
          <p:cNvPr id="31" name="Shape 28"/>
          <p:cNvSpPr/>
          <p:nvPr/>
        </p:nvSpPr>
        <p:spPr>
          <a:xfrm>
            <a:off x="2578608" y="1645920"/>
            <a:ext cx="1234440" cy="457200"/>
          </a:xfrm>
          <a:prstGeom prst="rect">
            <a:avLst/>
          </a:prstGeom>
          <a:solidFill>
            <a:srgbClr val="FFFFFF"/>
          </a:solidFill>
          <a:ln w="5080">
            <a:solidFill>
              <a:srgbClr val="C8D6E5"/>
            </a:solidFill>
            <a:prstDash val="solid"/>
          </a:ln>
        </p:spPr>
      </p:sp>
      <p:sp>
        <p:nvSpPr>
          <p:cNvPr id="32" name="Text 29"/>
          <p:cNvSpPr/>
          <p:nvPr/>
        </p:nvSpPr>
        <p:spPr>
          <a:xfrm>
            <a:off x="2615184" y="1645920"/>
            <a:ext cx="1161288" cy="457200"/>
          </a:xfrm>
          <a:prstGeom prst="rect">
            <a:avLst/>
          </a:prstGeom>
          <a:noFill/>
          <a:ln/>
        </p:spPr>
        <p:txBody>
          <a:bodyPr wrap="square" lIns="12700" tIns="12700" rIns="12700" bIns="12700" rtlCol="0" anchor="ctr"/>
          <a:lstStyle/>
          <a:p>
            <a:pPr algn="l" indent="0" marL="0">
              <a:buNone/>
            </a:pPr>
            <a:r>
              <a:rPr lang="en-US" sz="880" dirty="0">
                <a:solidFill>
                  <a:srgbClr val="1A2B42"/>
                </a:solidFill>
              </a:rPr>
              <a:t>TFT</a:t>
            </a:r>
            <a:endParaRPr lang="en-US" sz="880" dirty="0"/>
          </a:p>
        </p:txBody>
      </p:sp>
      <p:sp>
        <p:nvSpPr>
          <p:cNvPr id="33" name="Shape 30"/>
          <p:cNvSpPr/>
          <p:nvPr/>
        </p:nvSpPr>
        <p:spPr>
          <a:xfrm>
            <a:off x="3813048" y="1645920"/>
            <a:ext cx="1005840" cy="457200"/>
          </a:xfrm>
          <a:prstGeom prst="rect">
            <a:avLst/>
          </a:prstGeom>
          <a:solidFill>
            <a:srgbClr val="FFFFFF"/>
          </a:solidFill>
          <a:ln w="5080">
            <a:solidFill>
              <a:srgbClr val="C8D6E5"/>
            </a:solidFill>
            <a:prstDash val="solid"/>
          </a:ln>
        </p:spPr>
      </p:sp>
      <p:sp>
        <p:nvSpPr>
          <p:cNvPr id="34" name="Text 31"/>
          <p:cNvSpPr/>
          <p:nvPr/>
        </p:nvSpPr>
        <p:spPr>
          <a:xfrm>
            <a:off x="3849624" y="1645920"/>
            <a:ext cx="932688" cy="457200"/>
          </a:xfrm>
          <a:prstGeom prst="rect">
            <a:avLst/>
          </a:prstGeom>
          <a:noFill/>
          <a:ln/>
        </p:spPr>
        <p:txBody>
          <a:bodyPr wrap="square" lIns="12700" tIns="12700" rIns="12700" bIns="12700" rtlCol="0" anchor="ctr"/>
          <a:lstStyle/>
          <a:p>
            <a:pPr algn="ctr" indent="0" marL="0">
              <a:buNone/>
            </a:pPr>
            <a:r>
              <a:rPr lang="en-US" sz="880" b="1" dirty="0">
                <a:solidFill>
                  <a:srgbClr val="1A6B3C"/>
                </a:solidFill>
              </a:rPr>
              <a:t>&gt;0.88</a:t>
            </a:r>
            <a:endParaRPr lang="en-US" sz="880" dirty="0"/>
          </a:p>
        </p:txBody>
      </p:sp>
      <p:sp>
        <p:nvSpPr>
          <p:cNvPr id="35" name="Shape 32"/>
          <p:cNvSpPr/>
          <p:nvPr/>
        </p:nvSpPr>
        <p:spPr>
          <a:xfrm>
            <a:off x="4818888" y="1645920"/>
            <a:ext cx="1691640" cy="457200"/>
          </a:xfrm>
          <a:prstGeom prst="rect">
            <a:avLst/>
          </a:prstGeom>
          <a:solidFill>
            <a:srgbClr val="FFFFFF"/>
          </a:solidFill>
          <a:ln w="5080">
            <a:solidFill>
              <a:srgbClr val="C8D6E5"/>
            </a:solidFill>
            <a:prstDash val="solid"/>
          </a:ln>
        </p:spPr>
      </p:sp>
      <p:sp>
        <p:nvSpPr>
          <p:cNvPr id="36" name="Text 33"/>
          <p:cNvSpPr/>
          <p:nvPr/>
        </p:nvSpPr>
        <p:spPr>
          <a:xfrm>
            <a:off x="4855464" y="1645920"/>
            <a:ext cx="1618488" cy="457200"/>
          </a:xfrm>
          <a:prstGeom prst="rect">
            <a:avLst/>
          </a:prstGeom>
          <a:noFill/>
          <a:ln/>
        </p:spPr>
        <p:txBody>
          <a:bodyPr wrap="square" lIns="12700" tIns="12700" rIns="12700" bIns="12700" rtlCol="0" anchor="ctr"/>
          <a:lstStyle/>
          <a:p>
            <a:pPr algn="ctr" indent="0" marL="0">
              <a:buNone/>
            </a:pPr>
            <a:r>
              <a:rPr lang="en-US" sz="880" dirty="0">
                <a:solidFill>
                  <a:srgbClr val="8899AA"/>
                </a:solidFill>
              </a:rPr>
              <a:t>Not reported</a:t>
            </a:r>
            <a:endParaRPr lang="en-US" sz="880" dirty="0"/>
          </a:p>
        </p:txBody>
      </p:sp>
      <p:sp>
        <p:nvSpPr>
          <p:cNvPr id="37" name="Shape 34"/>
          <p:cNvSpPr/>
          <p:nvPr/>
        </p:nvSpPr>
        <p:spPr>
          <a:xfrm>
            <a:off x="6510528" y="1645920"/>
            <a:ext cx="2578608" cy="457200"/>
          </a:xfrm>
          <a:prstGeom prst="rect">
            <a:avLst/>
          </a:prstGeom>
          <a:solidFill>
            <a:srgbClr val="FFFFFF"/>
          </a:solidFill>
          <a:ln w="5080">
            <a:solidFill>
              <a:srgbClr val="C8D6E5"/>
            </a:solidFill>
            <a:prstDash val="solid"/>
          </a:ln>
        </p:spPr>
      </p:sp>
      <p:sp>
        <p:nvSpPr>
          <p:cNvPr id="38" name="Text 35"/>
          <p:cNvSpPr/>
          <p:nvPr/>
        </p:nvSpPr>
        <p:spPr>
          <a:xfrm>
            <a:off x="6547104" y="1645920"/>
            <a:ext cx="2505456" cy="457200"/>
          </a:xfrm>
          <a:prstGeom prst="rect">
            <a:avLst/>
          </a:prstGeom>
          <a:noFill/>
          <a:ln/>
        </p:spPr>
        <p:txBody>
          <a:bodyPr wrap="square" lIns="12700" tIns="12700" rIns="12700" bIns="12700" rtlCol="0" anchor="ctr"/>
          <a:lstStyle/>
          <a:p>
            <a:pPr algn="l" indent="0" marL="0">
              <a:buNone/>
            </a:pPr>
            <a:r>
              <a:rPr lang="en-US" sz="880" dirty="0">
                <a:solidFill>
                  <a:srgbClr val="1A2B42"/>
                </a:solidFill>
              </a:rPr>
              <a:t>Clinically most important class of drugs</a:t>
            </a:r>
            <a:endParaRPr lang="en-US" sz="880" dirty="0"/>
          </a:p>
        </p:txBody>
      </p:sp>
      <p:sp>
        <p:nvSpPr>
          <p:cNvPr id="39" name="Shape 36"/>
          <p:cNvSpPr/>
          <p:nvPr/>
        </p:nvSpPr>
        <p:spPr>
          <a:xfrm>
            <a:off x="201168" y="2121408"/>
            <a:ext cx="2377440" cy="457200"/>
          </a:xfrm>
          <a:prstGeom prst="rect">
            <a:avLst/>
          </a:prstGeom>
          <a:solidFill>
            <a:srgbClr val="F5F3FF"/>
          </a:solidFill>
          <a:ln w="5080">
            <a:solidFill>
              <a:srgbClr val="C8D6E5"/>
            </a:solidFill>
            <a:prstDash val="solid"/>
          </a:ln>
        </p:spPr>
      </p:sp>
      <p:sp>
        <p:nvSpPr>
          <p:cNvPr id="40" name="Shape 37"/>
          <p:cNvSpPr/>
          <p:nvPr/>
        </p:nvSpPr>
        <p:spPr>
          <a:xfrm>
            <a:off x="201168" y="2121408"/>
            <a:ext cx="54864" cy="457200"/>
          </a:xfrm>
          <a:prstGeom prst="rect">
            <a:avLst/>
          </a:prstGeom>
          <a:solidFill>
            <a:srgbClr val="7B52AB"/>
          </a:solidFill>
          <a:ln w="12700">
            <a:solidFill>
              <a:srgbClr val="7B52AB"/>
            </a:solidFill>
            <a:prstDash val="solid"/>
          </a:ln>
        </p:spPr>
      </p:sp>
      <p:sp>
        <p:nvSpPr>
          <p:cNvPr id="41" name="Text 38"/>
          <p:cNvSpPr/>
          <p:nvPr/>
        </p:nvSpPr>
        <p:spPr>
          <a:xfrm>
            <a:off x="292608" y="2121408"/>
            <a:ext cx="2249424" cy="457200"/>
          </a:xfrm>
          <a:prstGeom prst="rect">
            <a:avLst/>
          </a:prstGeom>
          <a:noFill/>
          <a:ln/>
        </p:spPr>
        <p:txBody>
          <a:bodyPr wrap="square" lIns="25400" tIns="25400" rIns="25400" bIns="25400" rtlCol="0" anchor="ctr"/>
          <a:lstStyle/>
          <a:p>
            <a:pPr algn="l" indent="0" marL="0">
              <a:buNone/>
            </a:pPr>
            <a:r>
              <a:rPr lang="en-US" sz="880" dirty="0">
                <a:solidFill>
                  <a:srgbClr val="1A2B42"/>
                </a:solidFill>
              </a:rPr>
              <a:t>Quantile calibration</a:t>
            </a:r>
            <a:endParaRPr lang="en-US" sz="880" dirty="0"/>
          </a:p>
          <a:p>
            <a:pPr algn="l" indent="0" marL="0">
              <a:buNone/>
            </a:pPr>
            <a:r>
              <a:rPr lang="en-US" sz="880" dirty="0">
                <a:solidFill>
                  <a:srgbClr val="1A2B42"/>
                </a:solidFill>
              </a:rPr>
              <a:t>(P90 coverage ≥ 90%)</a:t>
            </a:r>
            <a:endParaRPr lang="en-US" sz="880" dirty="0"/>
          </a:p>
        </p:txBody>
      </p:sp>
      <p:sp>
        <p:nvSpPr>
          <p:cNvPr id="42" name="Shape 39"/>
          <p:cNvSpPr/>
          <p:nvPr/>
        </p:nvSpPr>
        <p:spPr>
          <a:xfrm>
            <a:off x="2578608" y="2121408"/>
            <a:ext cx="1234440" cy="457200"/>
          </a:xfrm>
          <a:prstGeom prst="rect">
            <a:avLst/>
          </a:prstGeom>
          <a:solidFill>
            <a:srgbClr val="FAFBFC"/>
          </a:solidFill>
          <a:ln w="5080">
            <a:solidFill>
              <a:srgbClr val="C8D6E5"/>
            </a:solidFill>
            <a:prstDash val="solid"/>
          </a:ln>
        </p:spPr>
      </p:sp>
      <p:sp>
        <p:nvSpPr>
          <p:cNvPr id="43" name="Text 40"/>
          <p:cNvSpPr/>
          <p:nvPr/>
        </p:nvSpPr>
        <p:spPr>
          <a:xfrm>
            <a:off x="2615184" y="2121408"/>
            <a:ext cx="1161288" cy="457200"/>
          </a:xfrm>
          <a:prstGeom prst="rect">
            <a:avLst/>
          </a:prstGeom>
          <a:noFill/>
          <a:ln/>
        </p:spPr>
        <p:txBody>
          <a:bodyPr wrap="square" lIns="12700" tIns="12700" rIns="12700" bIns="12700" rtlCol="0" anchor="ctr"/>
          <a:lstStyle/>
          <a:p>
            <a:pPr algn="l" indent="0" marL="0">
              <a:buNone/>
            </a:pPr>
            <a:r>
              <a:rPr lang="en-US" sz="880" dirty="0">
                <a:solidFill>
                  <a:srgbClr val="1A2B42"/>
                </a:solidFill>
              </a:rPr>
              <a:t>TFT</a:t>
            </a:r>
            <a:endParaRPr lang="en-US" sz="880" dirty="0"/>
          </a:p>
        </p:txBody>
      </p:sp>
      <p:sp>
        <p:nvSpPr>
          <p:cNvPr id="44" name="Shape 41"/>
          <p:cNvSpPr/>
          <p:nvPr/>
        </p:nvSpPr>
        <p:spPr>
          <a:xfrm>
            <a:off x="3813048" y="2121408"/>
            <a:ext cx="1005840" cy="457200"/>
          </a:xfrm>
          <a:prstGeom prst="rect">
            <a:avLst/>
          </a:prstGeom>
          <a:solidFill>
            <a:srgbClr val="FAFBFC"/>
          </a:solidFill>
          <a:ln w="5080">
            <a:solidFill>
              <a:srgbClr val="C8D6E5"/>
            </a:solidFill>
            <a:prstDash val="solid"/>
          </a:ln>
        </p:spPr>
      </p:sp>
      <p:sp>
        <p:nvSpPr>
          <p:cNvPr id="45" name="Text 42"/>
          <p:cNvSpPr/>
          <p:nvPr/>
        </p:nvSpPr>
        <p:spPr>
          <a:xfrm>
            <a:off x="3849624" y="2121408"/>
            <a:ext cx="932688" cy="457200"/>
          </a:xfrm>
          <a:prstGeom prst="rect">
            <a:avLst/>
          </a:prstGeom>
          <a:noFill/>
          <a:ln/>
        </p:spPr>
        <p:txBody>
          <a:bodyPr wrap="square" lIns="12700" tIns="12700" rIns="12700" bIns="12700" rtlCol="0" anchor="ctr"/>
          <a:lstStyle/>
          <a:p>
            <a:pPr algn="ctr" indent="0" marL="0">
              <a:buNone/>
            </a:pPr>
            <a:r>
              <a:rPr lang="en-US" sz="880" b="1" dirty="0">
                <a:solidFill>
                  <a:srgbClr val="1A6B3C"/>
                </a:solidFill>
              </a:rPr>
              <a:t>&gt;88%</a:t>
            </a:r>
            <a:endParaRPr lang="en-US" sz="880" dirty="0"/>
          </a:p>
        </p:txBody>
      </p:sp>
      <p:sp>
        <p:nvSpPr>
          <p:cNvPr id="46" name="Shape 43"/>
          <p:cNvSpPr/>
          <p:nvPr/>
        </p:nvSpPr>
        <p:spPr>
          <a:xfrm>
            <a:off x="4818888" y="2121408"/>
            <a:ext cx="1691640" cy="457200"/>
          </a:xfrm>
          <a:prstGeom prst="rect">
            <a:avLst/>
          </a:prstGeom>
          <a:solidFill>
            <a:srgbClr val="FAFBFC"/>
          </a:solidFill>
          <a:ln w="5080">
            <a:solidFill>
              <a:srgbClr val="C8D6E5"/>
            </a:solidFill>
            <a:prstDash val="solid"/>
          </a:ln>
        </p:spPr>
      </p:sp>
      <p:sp>
        <p:nvSpPr>
          <p:cNvPr id="47" name="Text 44"/>
          <p:cNvSpPr/>
          <p:nvPr/>
        </p:nvSpPr>
        <p:spPr>
          <a:xfrm>
            <a:off x="4855464" y="2121408"/>
            <a:ext cx="1618488" cy="457200"/>
          </a:xfrm>
          <a:prstGeom prst="rect">
            <a:avLst/>
          </a:prstGeom>
          <a:noFill/>
          <a:ln/>
        </p:spPr>
        <p:txBody>
          <a:bodyPr wrap="square" lIns="12700" tIns="12700" rIns="12700" bIns="12700" rtlCol="0" anchor="ctr"/>
          <a:lstStyle/>
          <a:p>
            <a:pPr algn="ctr" indent="0" marL="0">
              <a:buNone/>
            </a:pPr>
            <a:r>
              <a:rPr lang="en-US" sz="880" dirty="0">
                <a:solidFill>
                  <a:srgbClr val="8899AA"/>
                </a:solidFill>
              </a:rPr>
              <a:t>N/A (point est.)</a:t>
            </a:r>
            <a:endParaRPr lang="en-US" sz="880" dirty="0"/>
          </a:p>
        </p:txBody>
      </p:sp>
      <p:sp>
        <p:nvSpPr>
          <p:cNvPr id="48" name="Shape 45"/>
          <p:cNvSpPr/>
          <p:nvPr/>
        </p:nvSpPr>
        <p:spPr>
          <a:xfrm>
            <a:off x="6510528" y="2121408"/>
            <a:ext cx="2578608" cy="457200"/>
          </a:xfrm>
          <a:prstGeom prst="rect">
            <a:avLst/>
          </a:prstGeom>
          <a:solidFill>
            <a:srgbClr val="FAFBFC"/>
          </a:solidFill>
          <a:ln w="5080">
            <a:solidFill>
              <a:srgbClr val="C8D6E5"/>
            </a:solidFill>
            <a:prstDash val="solid"/>
          </a:ln>
        </p:spPr>
      </p:sp>
      <p:sp>
        <p:nvSpPr>
          <p:cNvPr id="49" name="Text 46"/>
          <p:cNvSpPr/>
          <p:nvPr/>
        </p:nvSpPr>
        <p:spPr>
          <a:xfrm>
            <a:off x="6547104" y="2121408"/>
            <a:ext cx="2505456" cy="457200"/>
          </a:xfrm>
          <a:prstGeom prst="rect">
            <a:avLst/>
          </a:prstGeom>
          <a:noFill/>
          <a:ln/>
        </p:spPr>
        <p:txBody>
          <a:bodyPr wrap="square" lIns="12700" tIns="12700" rIns="12700" bIns="12700" rtlCol="0" anchor="ctr"/>
          <a:lstStyle/>
          <a:p>
            <a:pPr algn="l" indent="0" marL="0">
              <a:buNone/>
            </a:pPr>
            <a:r>
              <a:rPr lang="en-US" sz="880" dirty="0">
                <a:solidFill>
                  <a:srgbClr val="1A2B42"/>
                </a:solidFill>
              </a:rPr>
              <a:t>Proves probabilistic output is trustworthy</a:t>
            </a:r>
            <a:endParaRPr lang="en-US" sz="880" dirty="0"/>
          </a:p>
        </p:txBody>
      </p:sp>
      <p:sp>
        <p:nvSpPr>
          <p:cNvPr id="50" name="Shape 47"/>
          <p:cNvSpPr/>
          <p:nvPr/>
        </p:nvSpPr>
        <p:spPr>
          <a:xfrm>
            <a:off x="201168" y="2596896"/>
            <a:ext cx="2377440" cy="457200"/>
          </a:xfrm>
          <a:prstGeom prst="rect">
            <a:avLst/>
          </a:prstGeom>
          <a:solidFill>
            <a:srgbClr val="FFFFFF"/>
          </a:solidFill>
          <a:ln w="5080">
            <a:solidFill>
              <a:srgbClr val="C8D6E5"/>
            </a:solidFill>
            <a:prstDash val="solid"/>
          </a:ln>
        </p:spPr>
      </p:sp>
      <p:sp>
        <p:nvSpPr>
          <p:cNvPr id="51" name="Shape 48"/>
          <p:cNvSpPr/>
          <p:nvPr/>
        </p:nvSpPr>
        <p:spPr>
          <a:xfrm>
            <a:off x="201168" y="2596896"/>
            <a:ext cx="54864" cy="457200"/>
          </a:xfrm>
          <a:prstGeom prst="rect">
            <a:avLst/>
          </a:prstGeom>
          <a:solidFill>
            <a:srgbClr val="7B52AB"/>
          </a:solidFill>
          <a:ln w="12700">
            <a:solidFill>
              <a:srgbClr val="7B52AB"/>
            </a:solidFill>
            <a:prstDash val="solid"/>
          </a:ln>
        </p:spPr>
      </p:sp>
      <p:sp>
        <p:nvSpPr>
          <p:cNvPr id="52" name="Text 49"/>
          <p:cNvSpPr/>
          <p:nvPr/>
        </p:nvSpPr>
        <p:spPr>
          <a:xfrm>
            <a:off x="292608" y="2596896"/>
            <a:ext cx="2249424" cy="457200"/>
          </a:xfrm>
          <a:prstGeom prst="rect">
            <a:avLst/>
          </a:prstGeom>
          <a:noFill/>
          <a:ln/>
        </p:spPr>
        <p:txBody>
          <a:bodyPr wrap="square" lIns="25400" tIns="25400" rIns="25400" bIns="25400" rtlCol="0" anchor="ctr"/>
          <a:lstStyle/>
          <a:p>
            <a:pPr algn="l" indent="0" marL="0">
              <a:buNone/>
            </a:pPr>
            <a:r>
              <a:rPr lang="en-US" sz="880" dirty="0">
                <a:solidFill>
                  <a:srgbClr val="1A2B42"/>
                </a:solidFill>
              </a:rPr>
              <a:t>Mean Abs. Error on</a:t>
            </a:r>
            <a:endParaRPr lang="en-US" sz="880" dirty="0"/>
          </a:p>
          <a:p>
            <a:pPr algn="l" indent="0" marL="0">
              <a:buNone/>
            </a:pPr>
            <a:r>
              <a:rPr lang="en-US" sz="880" dirty="0">
                <a:solidFill>
                  <a:srgbClr val="1A2B42"/>
                </a:solidFill>
              </a:rPr>
              <a:t>stockout timing (days)</a:t>
            </a:r>
            <a:endParaRPr lang="en-US" sz="880" dirty="0"/>
          </a:p>
        </p:txBody>
      </p:sp>
      <p:sp>
        <p:nvSpPr>
          <p:cNvPr id="53" name="Shape 50"/>
          <p:cNvSpPr/>
          <p:nvPr/>
        </p:nvSpPr>
        <p:spPr>
          <a:xfrm>
            <a:off x="2578608" y="2596896"/>
            <a:ext cx="1234440" cy="457200"/>
          </a:xfrm>
          <a:prstGeom prst="rect">
            <a:avLst/>
          </a:prstGeom>
          <a:solidFill>
            <a:srgbClr val="FFFFFF"/>
          </a:solidFill>
          <a:ln w="5080">
            <a:solidFill>
              <a:srgbClr val="C8D6E5"/>
            </a:solidFill>
            <a:prstDash val="solid"/>
          </a:ln>
        </p:spPr>
      </p:sp>
      <p:sp>
        <p:nvSpPr>
          <p:cNvPr id="54" name="Text 51"/>
          <p:cNvSpPr/>
          <p:nvPr/>
        </p:nvSpPr>
        <p:spPr>
          <a:xfrm>
            <a:off x="2615184" y="2596896"/>
            <a:ext cx="1161288" cy="457200"/>
          </a:xfrm>
          <a:prstGeom prst="rect">
            <a:avLst/>
          </a:prstGeom>
          <a:noFill/>
          <a:ln/>
        </p:spPr>
        <p:txBody>
          <a:bodyPr wrap="square" lIns="12700" tIns="12700" rIns="12700" bIns="12700" rtlCol="0" anchor="ctr"/>
          <a:lstStyle/>
          <a:p>
            <a:pPr algn="l" indent="0" marL="0">
              <a:buNone/>
            </a:pPr>
            <a:r>
              <a:rPr lang="en-US" sz="880" dirty="0">
                <a:solidFill>
                  <a:srgbClr val="1A2B42"/>
                </a:solidFill>
              </a:rPr>
              <a:t>TFT</a:t>
            </a:r>
            <a:endParaRPr lang="en-US" sz="880" dirty="0"/>
          </a:p>
        </p:txBody>
      </p:sp>
      <p:sp>
        <p:nvSpPr>
          <p:cNvPr id="55" name="Shape 52"/>
          <p:cNvSpPr/>
          <p:nvPr/>
        </p:nvSpPr>
        <p:spPr>
          <a:xfrm>
            <a:off x="3813048" y="2596896"/>
            <a:ext cx="1005840" cy="457200"/>
          </a:xfrm>
          <a:prstGeom prst="rect">
            <a:avLst/>
          </a:prstGeom>
          <a:solidFill>
            <a:srgbClr val="FFFFFF"/>
          </a:solidFill>
          <a:ln w="5080">
            <a:solidFill>
              <a:srgbClr val="C8D6E5"/>
            </a:solidFill>
            <a:prstDash val="solid"/>
          </a:ln>
        </p:spPr>
      </p:sp>
      <p:sp>
        <p:nvSpPr>
          <p:cNvPr id="56" name="Text 53"/>
          <p:cNvSpPr/>
          <p:nvPr/>
        </p:nvSpPr>
        <p:spPr>
          <a:xfrm>
            <a:off x="3849624" y="2596896"/>
            <a:ext cx="932688" cy="457200"/>
          </a:xfrm>
          <a:prstGeom prst="rect">
            <a:avLst/>
          </a:prstGeom>
          <a:noFill/>
          <a:ln/>
        </p:spPr>
        <p:txBody>
          <a:bodyPr wrap="square" lIns="12700" tIns="12700" rIns="12700" bIns="12700" rtlCol="0" anchor="ctr"/>
          <a:lstStyle/>
          <a:p>
            <a:pPr algn="ctr" indent="0" marL="0">
              <a:buNone/>
            </a:pPr>
            <a:r>
              <a:rPr lang="en-US" sz="880" b="1" dirty="0">
                <a:solidFill>
                  <a:srgbClr val="1A6B3C"/>
                </a:solidFill>
              </a:rPr>
              <a:t>&lt;3.2 days</a:t>
            </a:r>
            <a:endParaRPr lang="en-US" sz="880" dirty="0"/>
          </a:p>
        </p:txBody>
      </p:sp>
      <p:sp>
        <p:nvSpPr>
          <p:cNvPr id="57" name="Shape 54"/>
          <p:cNvSpPr/>
          <p:nvPr/>
        </p:nvSpPr>
        <p:spPr>
          <a:xfrm>
            <a:off x="4818888" y="2596896"/>
            <a:ext cx="1691640" cy="457200"/>
          </a:xfrm>
          <a:prstGeom prst="rect">
            <a:avLst/>
          </a:prstGeom>
          <a:solidFill>
            <a:srgbClr val="FFFFFF"/>
          </a:solidFill>
          <a:ln w="5080">
            <a:solidFill>
              <a:srgbClr val="C8D6E5"/>
            </a:solidFill>
            <a:prstDash val="solid"/>
          </a:ln>
        </p:spPr>
      </p:sp>
      <p:sp>
        <p:nvSpPr>
          <p:cNvPr id="58" name="Text 55"/>
          <p:cNvSpPr/>
          <p:nvPr/>
        </p:nvSpPr>
        <p:spPr>
          <a:xfrm>
            <a:off x="4855464" y="2596896"/>
            <a:ext cx="1618488" cy="457200"/>
          </a:xfrm>
          <a:prstGeom prst="rect">
            <a:avLst/>
          </a:prstGeom>
          <a:noFill/>
          <a:ln/>
        </p:spPr>
        <p:txBody>
          <a:bodyPr wrap="square" lIns="12700" tIns="12700" rIns="12700" bIns="12700" rtlCol="0" anchor="ctr"/>
          <a:lstStyle/>
          <a:p>
            <a:pPr algn="ctr" indent="0" marL="0">
              <a:buNone/>
            </a:pPr>
            <a:r>
              <a:rPr lang="en-US" sz="880" dirty="0">
                <a:solidFill>
                  <a:srgbClr val="8899AA"/>
                </a:solidFill>
              </a:rPr>
              <a:t>Not measured</a:t>
            </a:r>
            <a:endParaRPr lang="en-US" sz="880" dirty="0"/>
          </a:p>
        </p:txBody>
      </p:sp>
      <p:sp>
        <p:nvSpPr>
          <p:cNvPr id="59" name="Shape 56"/>
          <p:cNvSpPr/>
          <p:nvPr/>
        </p:nvSpPr>
        <p:spPr>
          <a:xfrm>
            <a:off x="6510528" y="2596896"/>
            <a:ext cx="2578608" cy="457200"/>
          </a:xfrm>
          <a:prstGeom prst="rect">
            <a:avLst/>
          </a:prstGeom>
          <a:solidFill>
            <a:srgbClr val="FFFFFF"/>
          </a:solidFill>
          <a:ln w="5080">
            <a:solidFill>
              <a:srgbClr val="C8D6E5"/>
            </a:solidFill>
            <a:prstDash val="solid"/>
          </a:ln>
        </p:spPr>
      </p:sp>
      <p:sp>
        <p:nvSpPr>
          <p:cNvPr id="60" name="Text 57"/>
          <p:cNvSpPr/>
          <p:nvPr/>
        </p:nvSpPr>
        <p:spPr>
          <a:xfrm>
            <a:off x="6547104" y="2596896"/>
            <a:ext cx="2505456" cy="457200"/>
          </a:xfrm>
          <a:prstGeom prst="rect">
            <a:avLst/>
          </a:prstGeom>
          <a:noFill/>
          <a:ln/>
        </p:spPr>
        <p:txBody>
          <a:bodyPr wrap="square" lIns="12700" tIns="12700" rIns="12700" bIns="12700" rtlCol="0" anchor="ctr"/>
          <a:lstStyle/>
          <a:p>
            <a:pPr algn="l" indent="0" marL="0">
              <a:buNone/>
            </a:pPr>
            <a:r>
              <a:rPr lang="en-US" sz="880" dirty="0">
                <a:solidFill>
                  <a:srgbClr val="1A2B42"/>
                </a:solidFill>
              </a:rPr>
              <a:t>Tells pharmacist when to act, not just if</a:t>
            </a:r>
            <a:endParaRPr lang="en-US" sz="880" dirty="0"/>
          </a:p>
        </p:txBody>
      </p:sp>
      <p:sp>
        <p:nvSpPr>
          <p:cNvPr id="61" name="Shape 58"/>
          <p:cNvSpPr/>
          <p:nvPr/>
        </p:nvSpPr>
        <p:spPr>
          <a:xfrm>
            <a:off x="201168" y="3072384"/>
            <a:ext cx="2377440" cy="457200"/>
          </a:xfrm>
          <a:prstGeom prst="rect">
            <a:avLst/>
          </a:prstGeom>
          <a:solidFill>
            <a:srgbClr val="FFFBEB"/>
          </a:solidFill>
          <a:ln w="5080">
            <a:solidFill>
              <a:srgbClr val="C8D6E5"/>
            </a:solidFill>
            <a:prstDash val="solid"/>
          </a:ln>
        </p:spPr>
      </p:sp>
      <p:sp>
        <p:nvSpPr>
          <p:cNvPr id="62" name="Shape 59"/>
          <p:cNvSpPr/>
          <p:nvPr/>
        </p:nvSpPr>
        <p:spPr>
          <a:xfrm>
            <a:off x="201168" y="3072384"/>
            <a:ext cx="54864" cy="457200"/>
          </a:xfrm>
          <a:prstGeom prst="rect">
            <a:avLst/>
          </a:prstGeom>
          <a:solidFill>
            <a:srgbClr val="F0A500"/>
          </a:solidFill>
          <a:ln w="12700">
            <a:solidFill>
              <a:srgbClr val="F0A500"/>
            </a:solidFill>
            <a:prstDash val="solid"/>
          </a:ln>
        </p:spPr>
      </p:sp>
      <p:sp>
        <p:nvSpPr>
          <p:cNvPr id="63" name="Text 60"/>
          <p:cNvSpPr/>
          <p:nvPr/>
        </p:nvSpPr>
        <p:spPr>
          <a:xfrm>
            <a:off x="292608" y="3072384"/>
            <a:ext cx="2249424" cy="457200"/>
          </a:xfrm>
          <a:prstGeom prst="rect">
            <a:avLst/>
          </a:prstGeom>
          <a:noFill/>
          <a:ln/>
        </p:spPr>
        <p:txBody>
          <a:bodyPr wrap="square" lIns="25400" tIns="25400" rIns="25400" bIns="25400" rtlCol="0" anchor="ctr"/>
          <a:lstStyle/>
          <a:p>
            <a:pPr algn="l" indent="0" marL="0">
              <a:buNone/>
            </a:pPr>
            <a:r>
              <a:rPr lang="en-US" sz="880" dirty="0">
                <a:solidFill>
                  <a:srgbClr val="1A2B42"/>
                </a:solidFill>
              </a:rPr>
              <a:t>Supplier disruption</a:t>
            </a:r>
            <a:endParaRPr lang="en-US" sz="880" dirty="0"/>
          </a:p>
          <a:p>
            <a:pPr algn="l" indent="0" marL="0">
              <a:buNone/>
            </a:pPr>
            <a:r>
              <a:rPr lang="en-US" sz="880" dirty="0">
                <a:solidFill>
                  <a:srgbClr val="1A2B42"/>
                </a:solidFill>
              </a:rPr>
              <a:t>propagation accuracy</a:t>
            </a:r>
            <a:endParaRPr lang="en-US" sz="880" dirty="0"/>
          </a:p>
        </p:txBody>
      </p:sp>
      <p:sp>
        <p:nvSpPr>
          <p:cNvPr id="64" name="Shape 61"/>
          <p:cNvSpPr/>
          <p:nvPr/>
        </p:nvSpPr>
        <p:spPr>
          <a:xfrm>
            <a:off x="2578608" y="3072384"/>
            <a:ext cx="1234440" cy="457200"/>
          </a:xfrm>
          <a:prstGeom prst="rect">
            <a:avLst/>
          </a:prstGeom>
          <a:solidFill>
            <a:srgbClr val="FAFBFC"/>
          </a:solidFill>
          <a:ln w="5080">
            <a:solidFill>
              <a:srgbClr val="C8D6E5"/>
            </a:solidFill>
            <a:prstDash val="solid"/>
          </a:ln>
        </p:spPr>
      </p:sp>
      <p:sp>
        <p:nvSpPr>
          <p:cNvPr id="65" name="Text 62"/>
          <p:cNvSpPr/>
          <p:nvPr/>
        </p:nvSpPr>
        <p:spPr>
          <a:xfrm>
            <a:off x="2615184" y="3072384"/>
            <a:ext cx="1161288" cy="457200"/>
          </a:xfrm>
          <a:prstGeom prst="rect">
            <a:avLst/>
          </a:prstGeom>
          <a:noFill/>
          <a:ln/>
        </p:spPr>
        <p:txBody>
          <a:bodyPr wrap="square" lIns="12700" tIns="12700" rIns="12700" bIns="12700" rtlCol="0" anchor="ctr"/>
          <a:lstStyle/>
          <a:p>
            <a:pPr algn="l" indent="0" marL="0">
              <a:buNone/>
            </a:pPr>
            <a:r>
              <a:rPr lang="en-US" sz="880" dirty="0">
                <a:solidFill>
                  <a:srgbClr val="1A2B42"/>
                </a:solidFill>
              </a:rPr>
              <a:t>Graph</a:t>
            </a:r>
            <a:endParaRPr lang="en-US" sz="880" dirty="0"/>
          </a:p>
        </p:txBody>
      </p:sp>
      <p:sp>
        <p:nvSpPr>
          <p:cNvPr id="66" name="Shape 63"/>
          <p:cNvSpPr/>
          <p:nvPr/>
        </p:nvSpPr>
        <p:spPr>
          <a:xfrm>
            <a:off x="3813048" y="3072384"/>
            <a:ext cx="1005840" cy="457200"/>
          </a:xfrm>
          <a:prstGeom prst="rect">
            <a:avLst/>
          </a:prstGeom>
          <a:solidFill>
            <a:srgbClr val="FAFBFC"/>
          </a:solidFill>
          <a:ln w="5080">
            <a:solidFill>
              <a:srgbClr val="C8D6E5"/>
            </a:solidFill>
            <a:prstDash val="solid"/>
          </a:ln>
        </p:spPr>
      </p:sp>
      <p:sp>
        <p:nvSpPr>
          <p:cNvPr id="67" name="Text 64"/>
          <p:cNvSpPr/>
          <p:nvPr/>
        </p:nvSpPr>
        <p:spPr>
          <a:xfrm>
            <a:off x="3849624" y="3072384"/>
            <a:ext cx="932688" cy="457200"/>
          </a:xfrm>
          <a:prstGeom prst="rect">
            <a:avLst/>
          </a:prstGeom>
          <a:noFill/>
          <a:ln/>
        </p:spPr>
        <p:txBody>
          <a:bodyPr wrap="square" lIns="12700" tIns="12700" rIns="12700" bIns="12700" rtlCol="0" anchor="ctr"/>
          <a:lstStyle/>
          <a:p>
            <a:pPr algn="ctr" indent="0" marL="0">
              <a:buNone/>
            </a:pPr>
            <a:r>
              <a:rPr lang="en-US" sz="880" b="1" dirty="0">
                <a:solidFill>
                  <a:srgbClr val="1A6B3C"/>
                </a:solidFill>
              </a:rPr>
              <a:t>&gt;78%</a:t>
            </a:r>
            <a:endParaRPr lang="en-US" sz="880" dirty="0"/>
          </a:p>
        </p:txBody>
      </p:sp>
      <p:sp>
        <p:nvSpPr>
          <p:cNvPr id="68" name="Shape 65"/>
          <p:cNvSpPr/>
          <p:nvPr/>
        </p:nvSpPr>
        <p:spPr>
          <a:xfrm>
            <a:off x="4818888" y="3072384"/>
            <a:ext cx="1691640" cy="457200"/>
          </a:xfrm>
          <a:prstGeom prst="rect">
            <a:avLst/>
          </a:prstGeom>
          <a:solidFill>
            <a:srgbClr val="FAFBFC"/>
          </a:solidFill>
          <a:ln w="5080">
            <a:solidFill>
              <a:srgbClr val="C8D6E5"/>
            </a:solidFill>
            <a:prstDash val="solid"/>
          </a:ln>
        </p:spPr>
      </p:sp>
      <p:sp>
        <p:nvSpPr>
          <p:cNvPr id="69" name="Text 66"/>
          <p:cNvSpPr/>
          <p:nvPr/>
        </p:nvSpPr>
        <p:spPr>
          <a:xfrm>
            <a:off x="4855464" y="3072384"/>
            <a:ext cx="1618488" cy="457200"/>
          </a:xfrm>
          <a:prstGeom prst="rect">
            <a:avLst/>
          </a:prstGeom>
          <a:noFill/>
          <a:ln/>
        </p:spPr>
        <p:txBody>
          <a:bodyPr wrap="square" lIns="12700" tIns="12700" rIns="12700" bIns="12700" rtlCol="0" anchor="ctr"/>
          <a:lstStyle/>
          <a:p>
            <a:pPr algn="ctr" indent="0" marL="0">
              <a:buNone/>
            </a:pPr>
            <a:r>
              <a:rPr lang="en-US" sz="880" dirty="0">
                <a:solidFill>
                  <a:srgbClr val="8899AA"/>
                </a:solidFill>
              </a:rPr>
              <a:t>No baseline</a:t>
            </a:r>
            <a:endParaRPr lang="en-US" sz="880" dirty="0"/>
          </a:p>
        </p:txBody>
      </p:sp>
      <p:sp>
        <p:nvSpPr>
          <p:cNvPr id="70" name="Shape 67"/>
          <p:cNvSpPr/>
          <p:nvPr/>
        </p:nvSpPr>
        <p:spPr>
          <a:xfrm>
            <a:off x="6510528" y="3072384"/>
            <a:ext cx="2578608" cy="457200"/>
          </a:xfrm>
          <a:prstGeom prst="rect">
            <a:avLst/>
          </a:prstGeom>
          <a:solidFill>
            <a:srgbClr val="FAFBFC"/>
          </a:solidFill>
          <a:ln w="5080">
            <a:solidFill>
              <a:srgbClr val="C8D6E5"/>
            </a:solidFill>
            <a:prstDash val="solid"/>
          </a:ln>
        </p:spPr>
      </p:sp>
      <p:sp>
        <p:nvSpPr>
          <p:cNvPr id="71" name="Text 68"/>
          <p:cNvSpPr/>
          <p:nvPr/>
        </p:nvSpPr>
        <p:spPr>
          <a:xfrm>
            <a:off x="6547104" y="3072384"/>
            <a:ext cx="2505456" cy="457200"/>
          </a:xfrm>
          <a:prstGeom prst="rect">
            <a:avLst/>
          </a:prstGeom>
          <a:noFill/>
          <a:ln/>
        </p:spPr>
        <p:txBody>
          <a:bodyPr wrap="square" lIns="12700" tIns="12700" rIns="12700" bIns="12700" rtlCol="0" anchor="ctr"/>
          <a:lstStyle/>
          <a:p>
            <a:pPr algn="l" indent="0" marL="0">
              <a:buNone/>
            </a:pPr>
            <a:r>
              <a:rPr lang="en-US" sz="880" dirty="0">
                <a:solidFill>
                  <a:srgbClr val="1A2B42"/>
                </a:solidFill>
              </a:rPr>
              <a:t>Novel graph module validation</a:t>
            </a:r>
            <a:endParaRPr lang="en-US" sz="880" dirty="0"/>
          </a:p>
        </p:txBody>
      </p:sp>
      <p:sp>
        <p:nvSpPr>
          <p:cNvPr id="72" name="Shape 69"/>
          <p:cNvSpPr/>
          <p:nvPr/>
        </p:nvSpPr>
        <p:spPr>
          <a:xfrm>
            <a:off x="201168" y="3547872"/>
            <a:ext cx="2377440" cy="457200"/>
          </a:xfrm>
          <a:prstGeom prst="rect">
            <a:avLst/>
          </a:prstGeom>
          <a:solidFill>
            <a:srgbClr val="FFFFFF"/>
          </a:solidFill>
          <a:ln w="5080">
            <a:solidFill>
              <a:srgbClr val="C8D6E5"/>
            </a:solidFill>
            <a:prstDash val="solid"/>
          </a:ln>
        </p:spPr>
      </p:sp>
      <p:sp>
        <p:nvSpPr>
          <p:cNvPr id="73" name="Shape 70"/>
          <p:cNvSpPr/>
          <p:nvPr/>
        </p:nvSpPr>
        <p:spPr>
          <a:xfrm>
            <a:off x="201168" y="3547872"/>
            <a:ext cx="54864" cy="457200"/>
          </a:xfrm>
          <a:prstGeom prst="rect">
            <a:avLst/>
          </a:prstGeom>
          <a:solidFill>
            <a:srgbClr val="F0A500"/>
          </a:solidFill>
          <a:ln w="12700">
            <a:solidFill>
              <a:srgbClr val="F0A500"/>
            </a:solidFill>
            <a:prstDash val="solid"/>
          </a:ln>
        </p:spPr>
      </p:sp>
      <p:sp>
        <p:nvSpPr>
          <p:cNvPr id="74" name="Text 71"/>
          <p:cNvSpPr/>
          <p:nvPr/>
        </p:nvSpPr>
        <p:spPr>
          <a:xfrm>
            <a:off x="292608" y="3547872"/>
            <a:ext cx="2249424" cy="457200"/>
          </a:xfrm>
          <a:prstGeom prst="rect">
            <a:avLst/>
          </a:prstGeom>
          <a:noFill/>
          <a:ln/>
        </p:spPr>
        <p:txBody>
          <a:bodyPr wrap="square" lIns="25400" tIns="25400" rIns="25400" bIns="25400" rtlCol="0" anchor="ctr"/>
          <a:lstStyle/>
          <a:p>
            <a:pPr algn="l" indent="0" marL="0">
              <a:buNone/>
            </a:pPr>
            <a:r>
              <a:rPr lang="en-US" sz="880" dirty="0">
                <a:solidFill>
                  <a:srgbClr val="1A2B42"/>
                </a:solidFill>
              </a:rPr>
              <a:t>Prediction improvement</a:t>
            </a:r>
            <a:endParaRPr lang="en-US" sz="880" dirty="0"/>
          </a:p>
          <a:p>
            <a:pPr algn="l" indent="0" marL="0">
              <a:buNone/>
            </a:pPr>
            <a:r>
              <a:rPr lang="en-US" sz="880" dirty="0">
                <a:solidFill>
                  <a:srgbClr val="1A2B42"/>
                </a:solidFill>
              </a:rPr>
              <a:t>vs CSV-only (ablation)</a:t>
            </a:r>
            <a:endParaRPr lang="en-US" sz="880" dirty="0"/>
          </a:p>
        </p:txBody>
      </p:sp>
      <p:sp>
        <p:nvSpPr>
          <p:cNvPr id="75" name="Shape 72"/>
          <p:cNvSpPr/>
          <p:nvPr/>
        </p:nvSpPr>
        <p:spPr>
          <a:xfrm>
            <a:off x="2578608" y="3547872"/>
            <a:ext cx="1234440" cy="457200"/>
          </a:xfrm>
          <a:prstGeom prst="rect">
            <a:avLst/>
          </a:prstGeom>
          <a:solidFill>
            <a:srgbClr val="FFFFFF"/>
          </a:solidFill>
          <a:ln w="5080">
            <a:solidFill>
              <a:srgbClr val="C8D6E5"/>
            </a:solidFill>
            <a:prstDash val="solid"/>
          </a:ln>
        </p:spPr>
      </p:sp>
      <p:sp>
        <p:nvSpPr>
          <p:cNvPr id="76" name="Text 73"/>
          <p:cNvSpPr/>
          <p:nvPr/>
        </p:nvSpPr>
        <p:spPr>
          <a:xfrm>
            <a:off x="2615184" y="3547872"/>
            <a:ext cx="1161288" cy="457200"/>
          </a:xfrm>
          <a:prstGeom prst="rect">
            <a:avLst/>
          </a:prstGeom>
          <a:noFill/>
          <a:ln/>
        </p:spPr>
        <p:txBody>
          <a:bodyPr wrap="square" lIns="12700" tIns="12700" rIns="12700" bIns="12700" rtlCol="0" anchor="ctr"/>
          <a:lstStyle/>
          <a:p>
            <a:pPr algn="l" indent="0" marL="0">
              <a:buNone/>
            </a:pPr>
            <a:r>
              <a:rPr lang="en-US" sz="880" dirty="0">
                <a:solidFill>
                  <a:srgbClr val="1A2B42"/>
                </a:solidFill>
              </a:rPr>
              <a:t>Fusion</a:t>
            </a:r>
            <a:endParaRPr lang="en-US" sz="880" dirty="0"/>
          </a:p>
        </p:txBody>
      </p:sp>
      <p:sp>
        <p:nvSpPr>
          <p:cNvPr id="77" name="Shape 74"/>
          <p:cNvSpPr/>
          <p:nvPr/>
        </p:nvSpPr>
        <p:spPr>
          <a:xfrm>
            <a:off x="3813048" y="3547872"/>
            <a:ext cx="1005840" cy="457200"/>
          </a:xfrm>
          <a:prstGeom prst="rect">
            <a:avLst/>
          </a:prstGeom>
          <a:solidFill>
            <a:srgbClr val="FFFFFF"/>
          </a:solidFill>
          <a:ln w="5080">
            <a:solidFill>
              <a:srgbClr val="C8D6E5"/>
            </a:solidFill>
            <a:prstDash val="solid"/>
          </a:ln>
        </p:spPr>
      </p:sp>
      <p:sp>
        <p:nvSpPr>
          <p:cNvPr id="78" name="Text 75"/>
          <p:cNvSpPr/>
          <p:nvPr/>
        </p:nvSpPr>
        <p:spPr>
          <a:xfrm>
            <a:off x="3849624" y="3547872"/>
            <a:ext cx="932688" cy="457200"/>
          </a:xfrm>
          <a:prstGeom prst="rect">
            <a:avLst/>
          </a:prstGeom>
          <a:noFill/>
          <a:ln/>
        </p:spPr>
        <p:txBody>
          <a:bodyPr wrap="square" lIns="12700" tIns="12700" rIns="12700" bIns="12700" rtlCol="0" anchor="ctr"/>
          <a:lstStyle/>
          <a:p>
            <a:pPr algn="ctr" indent="0" marL="0">
              <a:buNone/>
            </a:pPr>
            <a:r>
              <a:rPr lang="en-US" sz="880" b="1" dirty="0">
                <a:solidFill>
                  <a:srgbClr val="1A6B3C"/>
                </a:solidFill>
              </a:rPr>
              <a:t>&gt;6% abs.</a:t>
            </a:r>
            <a:endParaRPr lang="en-US" sz="880" dirty="0"/>
          </a:p>
        </p:txBody>
      </p:sp>
      <p:sp>
        <p:nvSpPr>
          <p:cNvPr id="79" name="Shape 76"/>
          <p:cNvSpPr/>
          <p:nvPr/>
        </p:nvSpPr>
        <p:spPr>
          <a:xfrm>
            <a:off x="4818888" y="3547872"/>
            <a:ext cx="1691640" cy="457200"/>
          </a:xfrm>
          <a:prstGeom prst="rect">
            <a:avLst/>
          </a:prstGeom>
          <a:solidFill>
            <a:srgbClr val="FFFFFF"/>
          </a:solidFill>
          <a:ln w="5080">
            <a:solidFill>
              <a:srgbClr val="C8D6E5"/>
            </a:solidFill>
            <a:prstDash val="solid"/>
          </a:ln>
        </p:spPr>
      </p:sp>
      <p:sp>
        <p:nvSpPr>
          <p:cNvPr id="80" name="Text 77"/>
          <p:cNvSpPr/>
          <p:nvPr/>
        </p:nvSpPr>
        <p:spPr>
          <a:xfrm>
            <a:off x="4855464" y="3547872"/>
            <a:ext cx="1618488" cy="457200"/>
          </a:xfrm>
          <a:prstGeom prst="rect">
            <a:avLst/>
          </a:prstGeom>
          <a:noFill/>
          <a:ln/>
        </p:spPr>
        <p:txBody>
          <a:bodyPr wrap="square" lIns="12700" tIns="12700" rIns="12700" bIns="12700" rtlCol="0" anchor="ctr"/>
          <a:lstStyle/>
          <a:p>
            <a:pPr algn="ctr" indent="0" marL="0">
              <a:buNone/>
            </a:pPr>
            <a:r>
              <a:rPr lang="en-US" sz="880" dirty="0">
                <a:solidFill>
                  <a:srgbClr val="8899AA"/>
                </a:solidFill>
              </a:rPr>
              <a:t>N/A</a:t>
            </a:r>
            <a:endParaRPr lang="en-US" sz="880" dirty="0"/>
          </a:p>
        </p:txBody>
      </p:sp>
      <p:sp>
        <p:nvSpPr>
          <p:cNvPr id="81" name="Shape 78"/>
          <p:cNvSpPr/>
          <p:nvPr/>
        </p:nvSpPr>
        <p:spPr>
          <a:xfrm>
            <a:off x="6510528" y="3547872"/>
            <a:ext cx="2578608" cy="457200"/>
          </a:xfrm>
          <a:prstGeom prst="rect">
            <a:avLst/>
          </a:prstGeom>
          <a:solidFill>
            <a:srgbClr val="FFFFFF"/>
          </a:solidFill>
          <a:ln w="5080">
            <a:solidFill>
              <a:srgbClr val="C8D6E5"/>
            </a:solidFill>
            <a:prstDash val="solid"/>
          </a:ln>
        </p:spPr>
      </p:sp>
      <p:sp>
        <p:nvSpPr>
          <p:cNvPr id="82" name="Text 79"/>
          <p:cNvSpPr/>
          <p:nvPr/>
        </p:nvSpPr>
        <p:spPr>
          <a:xfrm>
            <a:off x="6547104" y="3547872"/>
            <a:ext cx="2505456" cy="457200"/>
          </a:xfrm>
          <a:prstGeom prst="rect">
            <a:avLst/>
          </a:prstGeom>
          <a:noFill/>
          <a:ln/>
        </p:spPr>
        <p:txBody>
          <a:bodyPr wrap="square" lIns="12700" tIns="12700" rIns="12700" bIns="12700" rtlCol="0" anchor="ctr"/>
          <a:lstStyle/>
          <a:p>
            <a:pPr algn="l" indent="0" marL="0">
              <a:buNone/>
            </a:pPr>
            <a:r>
              <a:rPr lang="en-US" sz="880" dirty="0">
                <a:solidFill>
                  <a:srgbClr val="1A2B42"/>
                </a:solidFill>
              </a:rPr>
              <a:t>Quantifies graph module's contribution</a:t>
            </a:r>
            <a:endParaRPr lang="en-US" sz="880" dirty="0"/>
          </a:p>
        </p:txBody>
      </p:sp>
      <p:sp>
        <p:nvSpPr>
          <p:cNvPr id="83" name="Shape 80"/>
          <p:cNvSpPr/>
          <p:nvPr/>
        </p:nvSpPr>
        <p:spPr>
          <a:xfrm>
            <a:off x="201168" y="4023360"/>
            <a:ext cx="2377440" cy="457200"/>
          </a:xfrm>
          <a:prstGeom prst="rect">
            <a:avLst/>
          </a:prstGeom>
          <a:solidFill>
            <a:srgbClr val="EFF6FF"/>
          </a:solidFill>
          <a:ln w="5080">
            <a:solidFill>
              <a:srgbClr val="C8D6E5"/>
            </a:solidFill>
            <a:prstDash val="solid"/>
          </a:ln>
        </p:spPr>
      </p:sp>
      <p:sp>
        <p:nvSpPr>
          <p:cNvPr id="84" name="Shape 81"/>
          <p:cNvSpPr/>
          <p:nvPr/>
        </p:nvSpPr>
        <p:spPr>
          <a:xfrm>
            <a:off x="201168" y="4023360"/>
            <a:ext cx="54864" cy="457200"/>
          </a:xfrm>
          <a:prstGeom prst="rect">
            <a:avLst/>
          </a:prstGeom>
          <a:solidFill>
            <a:srgbClr val="2E86DE"/>
          </a:solidFill>
          <a:ln w="12700">
            <a:solidFill>
              <a:srgbClr val="2E86DE"/>
            </a:solidFill>
            <a:prstDash val="solid"/>
          </a:ln>
        </p:spPr>
      </p:sp>
      <p:sp>
        <p:nvSpPr>
          <p:cNvPr id="85" name="Text 82"/>
          <p:cNvSpPr/>
          <p:nvPr/>
        </p:nvSpPr>
        <p:spPr>
          <a:xfrm>
            <a:off x="292608" y="4023360"/>
            <a:ext cx="2249424" cy="457200"/>
          </a:xfrm>
          <a:prstGeom prst="rect">
            <a:avLst/>
          </a:prstGeom>
          <a:noFill/>
          <a:ln/>
        </p:spPr>
        <p:txBody>
          <a:bodyPr wrap="square" lIns="25400" tIns="25400" rIns="25400" bIns="25400" rtlCol="0" anchor="ctr"/>
          <a:lstStyle/>
          <a:p>
            <a:pPr algn="l" indent="0" marL="0">
              <a:buNone/>
            </a:pPr>
            <a:r>
              <a:rPr lang="en-US" sz="880" dirty="0">
                <a:solidFill>
                  <a:srgbClr val="1A2B42"/>
                </a:solidFill>
              </a:rPr>
              <a:t>End-to-end inference</a:t>
            </a:r>
            <a:endParaRPr lang="en-US" sz="880" dirty="0"/>
          </a:p>
          <a:p>
            <a:pPr algn="l" indent="0" marL="0">
              <a:buNone/>
            </a:pPr>
            <a:r>
              <a:rPr lang="en-US" sz="880" dirty="0">
                <a:solidFill>
                  <a:srgbClr val="1A2B42"/>
                </a:solidFill>
              </a:rPr>
              <a:t>time (CSV → forecast)</a:t>
            </a:r>
            <a:endParaRPr lang="en-US" sz="880" dirty="0"/>
          </a:p>
        </p:txBody>
      </p:sp>
      <p:sp>
        <p:nvSpPr>
          <p:cNvPr id="86" name="Shape 83"/>
          <p:cNvSpPr/>
          <p:nvPr/>
        </p:nvSpPr>
        <p:spPr>
          <a:xfrm>
            <a:off x="2578608" y="4023360"/>
            <a:ext cx="1234440" cy="457200"/>
          </a:xfrm>
          <a:prstGeom prst="rect">
            <a:avLst/>
          </a:prstGeom>
          <a:solidFill>
            <a:srgbClr val="FAFBFC"/>
          </a:solidFill>
          <a:ln w="5080">
            <a:solidFill>
              <a:srgbClr val="C8D6E5"/>
            </a:solidFill>
            <a:prstDash val="solid"/>
          </a:ln>
        </p:spPr>
      </p:sp>
      <p:sp>
        <p:nvSpPr>
          <p:cNvPr id="87" name="Text 84"/>
          <p:cNvSpPr/>
          <p:nvPr/>
        </p:nvSpPr>
        <p:spPr>
          <a:xfrm>
            <a:off x="2615184" y="4023360"/>
            <a:ext cx="1161288" cy="457200"/>
          </a:xfrm>
          <a:prstGeom prst="rect">
            <a:avLst/>
          </a:prstGeom>
          <a:noFill/>
          <a:ln/>
        </p:spPr>
        <p:txBody>
          <a:bodyPr wrap="square" lIns="12700" tIns="12700" rIns="12700" bIns="12700" rtlCol="0" anchor="ctr"/>
          <a:lstStyle/>
          <a:p>
            <a:pPr algn="l" indent="0" marL="0">
              <a:buNone/>
            </a:pPr>
            <a:r>
              <a:rPr lang="en-US" sz="880" dirty="0">
                <a:solidFill>
                  <a:srgbClr val="1A2B42"/>
                </a:solidFill>
              </a:rPr>
              <a:t>System</a:t>
            </a:r>
            <a:endParaRPr lang="en-US" sz="880" dirty="0"/>
          </a:p>
        </p:txBody>
      </p:sp>
      <p:sp>
        <p:nvSpPr>
          <p:cNvPr id="88" name="Shape 85"/>
          <p:cNvSpPr/>
          <p:nvPr/>
        </p:nvSpPr>
        <p:spPr>
          <a:xfrm>
            <a:off x="3813048" y="4023360"/>
            <a:ext cx="1005840" cy="457200"/>
          </a:xfrm>
          <a:prstGeom prst="rect">
            <a:avLst/>
          </a:prstGeom>
          <a:solidFill>
            <a:srgbClr val="FAFBFC"/>
          </a:solidFill>
          <a:ln w="5080">
            <a:solidFill>
              <a:srgbClr val="C8D6E5"/>
            </a:solidFill>
            <a:prstDash val="solid"/>
          </a:ln>
        </p:spPr>
      </p:sp>
      <p:sp>
        <p:nvSpPr>
          <p:cNvPr id="89" name="Text 86"/>
          <p:cNvSpPr/>
          <p:nvPr/>
        </p:nvSpPr>
        <p:spPr>
          <a:xfrm>
            <a:off x="3849624" y="4023360"/>
            <a:ext cx="932688" cy="457200"/>
          </a:xfrm>
          <a:prstGeom prst="rect">
            <a:avLst/>
          </a:prstGeom>
          <a:noFill/>
          <a:ln/>
        </p:spPr>
        <p:txBody>
          <a:bodyPr wrap="square" lIns="12700" tIns="12700" rIns="12700" bIns="12700" rtlCol="0" anchor="ctr"/>
          <a:lstStyle/>
          <a:p>
            <a:pPr algn="ctr" indent="0" marL="0">
              <a:buNone/>
            </a:pPr>
            <a:r>
              <a:rPr lang="en-US" sz="880" b="1" dirty="0">
                <a:solidFill>
                  <a:srgbClr val="1A6B3C"/>
                </a:solidFill>
              </a:rPr>
              <a:t>&lt;5 sec</a:t>
            </a:r>
            <a:endParaRPr lang="en-US" sz="880" dirty="0"/>
          </a:p>
        </p:txBody>
      </p:sp>
      <p:sp>
        <p:nvSpPr>
          <p:cNvPr id="90" name="Shape 87"/>
          <p:cNvSpPr/>
          <p:nvPr/>
        </p:nvSpPr>
        <p:spPr>
          <a:xfrm>
            <a:off x="4818888" y="4023360"/>
            <a:ext cx="1691640" cy="457200"/>
          </a:xfrm>
          <a:prstGeom prst="rect">
            <a:avLst/>
          </a:prstGeom>
          <a:solidFill>
            <a:srgbClr val="FAFBFC"/>
          </a:solidFill>
          <a:ln w="5080">
            <a:solidFill>
              <a:srgbClr val="C8D6E5"/>
            </a:solidFill>
            <a:prstDash val="solid"/>
          </a:ln>
        </p:spPr>
      </p:sp>
      <p:sp>
        <p:nvSpPr>
          <p:cNvPr id="91" name="Text 88"/>
          <p:cNvSpPr/>
          <p:nvPr/>
        </p:nvSpPr>
        <p:spPr>
          <a:xfrm>
            <a:off x="4855464" y="4023360"/>
            <a:ext cx="1618488" cy="457200"/>
          </a:xfrm>
          <a:prstGeom prst="rect">
            <a:avLst/>
          </a:prstGeom>
          <a:noFill/>
          <a:ln/>
        </p:spPr>
        <p:txBody>
          <a:bodyPr wrap="square" lIns="12700" tIns="12700" rIns="12700" bIns="12700" rtlCol="0" anchor="ctr"/>
          <a:lstStyle/>
          <a:p>
            <a:pPr algn="ctr" indent="0" marL="0">
              <a:buNone/>
            </a:pPr>
            <a:r>
              <a:rPr lang="en-US" sz="880" dirty="0">
                <a:solidFill>
                  <a:srgbClr val="8899AA"/>
                </a:solidFill>
              </a:rPr>
              <a:t>Demo req.</a:t>
            </a:r>
            <a:endParaRPr lang="en-US" sz="880" dirty="0"/>
          </a:p>
        </p:txBody>
      </p:sp>
      <p:sp>
        <p:nvSpPr>
          <p:cNvPr id="92" name="Shape 89"/>
          <p:cNvSpPr/>
          <p:nvPr/>
        </p:nvSpPr>
        <p:spPr>
          <a:xfrm>
            <a:off x="6510528" y="4023360"/>
            <a:ext cx="2578608" cy="457200"/>
          </a:xfrm>
          <a:prstGeom prst="rect">
            <a:avLst/>
          </a:prstGeom>
          <a:solidFill>
            <a:srgbClr val="FAFBFC"/>
          </a:solidFill>
          <a:ln w="5080">
            <a:solidFill>
              <a:srgbClr val="C8D6E5"/>
            </a:solidFill>
            <a:prstDash val="solid"/>
          </a:ln>
        </p:spPr>
      </p:sp>
      <p:sp>
        <p:nvSpPr>
          <p:cNvPr id="93" name="Text 90"/>
          <p:cNvSpPr/>
          <p:nvPr/>
        </p:nvSpPr>
        <p:spPr>
          <a:xfrm>
            <a:off x="6547104" y="4023360"/>
            <a:ext cx="2505456" cy="457200"/>
          </a:xfrm>
          <a:prstGeom prst="rect">
            <a:avLst/>
          </a:prstGeom>
          <a:noFill/>
          <a:ln/>
        </p:spPr>
        <p:txBody>
          <a:bodyPr wrap="square" lIns="12700" tIns="12700" rIns="12700" bIns="12700" rtlCol="0" anchor="ctr"/>
          <a:lstStyle/>
          <a:p>
            <a:pPr algn="l" indent="0" marL="0">
              <a:buNone/>
            </a:pPr>
            <a:r>
              <a:rPr lang="en-US" sz="880" dirty="0">
                <a:solidFill>
                  <a:srgbClr val="1A2B42"/>
                </a:solidFill>
              </a:rPr>
              <a:t>Usability — pharmacist workflow constraint</a:t>
            </a:r>
            <a:endParaRPr lang="en-US" sz="880" dirty="0"/>
          </a:p>
        </p:txBody>
      </p:sp>
      <p:sp>
        <p:nvSpPr>
          <p:cNvPr id="94" name="Shape 91"/>
          <p:cNvSpPr/>
          <p:nvPr/>
        </p:nvSpPr>
        <p:spPr>
          <a:xfrm>
            <a:off x="201168" y="4498848"/>
            <a:ext cx="2377440" cy="457200"/>
          </a:xfrm>
          <a:prstGeom prst="rect">
            <a:avLst/>
          </a:prstGeom>
          <a:solidFill>
            <a:srgbClr val="FFFFFF"/>
          </a:solidFill>
          <a:ln w="5080">
            <a:solidFill>
              <a:srgbClr val="C8D6E5"/>
            </a:solidFill>
            <a:prstDash val="solid"/>
          </a:ln>
        </p:spPr>
      </p:sp>
      <p:sp>
        <p:nvSpPr>
          <p:cNvPr id="95" name="Shape 92"/>
          <p:cNvSpPr/>
          <p:nvPr/>
        </p:nvSpPr>
        <p:spPr>
          <a:xfrm>
            <a:off x="201168" y="4498848"/>
            <a:ext cx="54864" cy="457200"/>
          </a:xfrm>
          <a:prstGeom prst="rect">
            <a:avLst/>
          </a:prstGeom>
          <a:solidFill>
            <a:srgbClr val="2E86DE"/>
          </a:solidFill>
          <a:ln w="12700">
            <a:solidFill>
              <a:srgbClr val="2E86DE"/>
            </a:solidFill>
            <a:prstDash val="solid"/>
          </a:ln>
        </p:spPr>
      </p:sp>
      <p:sp>
        <p:nvSpPr>
          <p:cNvPr id="96" name="Text 93"/>
          <p:cNvSpPr/>
          <p:nvPr/>
        </p:nvSpPr>
        <p:spPr>
          <a:xfrm>
            <a:off x="292608" y="4498848"/>
            <a:ext cx="2249424" cy="457200"/>
          </a:xfrm>
          <a:prstGeom prst="rect">
            <a:avLst/>
          </a:prstGeom>
          <a:noFill/>
          <a:ln/>
        </p:spPr>
        <p:txBody>
          <a:bodyPr wrap="square" lIns="25400" tIns="25400" rIns="25400" bIns="25400" rtlCol="0" anchor="ctr"/>
          <a:lstStyle/>
          <a:p>
            <a:pPr algn="l" indent="0" marL="0">
              <a:buNone/>
            </a:pPr>
            <a:r>
              <a:rPr lang="en-US" sz="880" dirty="0">
                <a:solidFill>
                  <a:srgbClr val="1A2B42"/>
                </a:solidFill>
              </a:rPr>
              <a:t>Reorder recommendation</a:t>
            </a:r>
            <a:endParaRPr lang="en-US" sz="880" dirty="0"/>
          </a:p>
          <a:p>
            <a:pPr algn="l" indent="0" marL="0">
              <a:buNone/>
            </a:pPr>
            <a:r>
              <a:rPr lang="en-US" sz="880" dirty="0">
                <a:solidFill>
                  <a:srgbClr val="1A2B42"/>
                </a:solidFill>
              </a:rPr>
              <a:t>precision (user study)</a:t>
            </a:r>
            <a:endParaRPr lang="en-US" sz="880" dirty="0"/>
          </a:p>
        </p:txBody>
      </p:sp>
      <p:sp>
        <p:nvSpPr>
          <p:cNvPr id="97" name="Shape 94"/>
          <p:cNvSpPr/>
          <p:nvPr/>
        </p:nvSpPr>
        <p:spPr>
          <a:xfrm>
            <a:off x="2578608" y="4498848"/>
            <a:ext cx="1234440" cy="457200"/>
          </a:xfrm>
          <a:prstGeom prst="rect">
            <a:avLst/>
          </a:prstGeom>
          <a:solidFill>
            <a:srgbClr val="FFFFFF"/>
          </a:solidFill>
          <a:ln w="5080">
            <a:solidFill>
              <a:srgbClr val="C8D6E5"/>
            </a:solidFill>
            <a:prstDash val="solid"/>
          </a:ln>
        </p:spPr>
      </p:sp>
      <p:sp>
        <p:nvSpPr>
          <p:cNvPr id="98" name="Text 95"/>
          <p:cNvSpPr/>
          <p:nvPr/>
        </p:nvSpPr>
        <p:spPr>
          <a:xfrm>
            <a:off x="2615184" y="4498848"/>
            <a:ext cx="1161288" cy="457200"/>
          </a:xfrm>
          <a:prstGeom prst="rect">
            <a:avLst/>
          </a:prstGeom>
          <a:noFill/>
          <a:ln/>
        </p:spPr>
        <p:txBody>
          <a:bodyPr wrap="square" lIns="12700" tIns="12700" rIns="12700" bIns="12700" rtlCol="0" anchor="ctr"/>
          <a:lstStyle/>
          <a:p>
            <a:pPr algn="l" indent="0" marL="0">
              <a:buNone/>
            </a:pPr>
            <a:r>
              <a:rPr lang="en-US" sz="880" dirty="0">
                <a:solidFill>
                  <a:srgbClr val="1A2B42"/>
                </a:solidFill>
              </a:rPr>
              <a:t>System</a:t>
            </a:r>
            <a:endParaRPr lang="en-US" sz="880" dirty="0"/>
          </a:p>
        </p:txBody>
      </p:sp>
      <p:sp>
        <p:nvSpPr>
          <p:cNvPr id="99" name="Shape 96"/>
          <p:cNvSpPr/>
          <p:nvPr/>
        </p:nvSpPr>
        <p:spPr>
          <a:xfrm>
            <a:off x="3813048" y="4498848"/>
            <a:ext cx="1005840" cy="457200"/>
          </a:xfrm>
          <a:prstGeom prst="rect">
            <a:avLst/>
          </a:prstGeom>
          <a:solidFill>
            <a:srgbClr val="FFFFFF"/>
          </a:solidFill>
          <a:ln w="5080">
            <a:solidFill>
              <a:srgbClr val="C8D6E5"/>
            </a:solidFill>
            <a:prstDash val="solid"/>
          </a:ln>
        </p:spPr>
      </p:sp>
      <p:sp>
        <p:nvSpPr>
          <p:cNvPr id="100" name="Text 97"/>
          <p:cNvSpPr/>
          <p:nvPr/>
        </p:nvSpPr>
        <p:spPr>
          <a:xfrm>
            <a:off x="3849624" y="4498848"/>
            <a:ext cx="932688" cy="457200"/>
          </a:xfrm>
          <a:prstGeom prst="rect">
            <a:avLst/>
          </a:prstGeom>
          <a:noFill/>
          <a:ln/>
        </p:spPr>
        <p:txBody>
          <a:bodyPr wrap="square" lIns="12700" tIns="12700" rIns="12700" bIns="12700" rtlCol="0" anchor="ctr"/>
          <a:lstStyle/>
          <a:p>
            <a:pPr algn="ctr" indent="0" marL="0">
              <a:buNone/>
            </a:pPr>
            <a:r>
              <a:rPr lang="en-US" sz="880" b="1" dirty="0">
                <a:solidFill>
                  <a:srgbClr val="1A6B3C"/>
                </a:solidFill>
              </a:rPr>
              <a:t>&gt;80%</a:t>
            </a:r>
            <a:endParaRPr lang="en-US" sz="880" dirty="0"/>
          </a:p>
        </p:txBody>
      </p:sp>
      <p:sp>
        <p:nvSpPr>
          <p:cNvPr id="101" name="Shape 98"/>
          <p:cNvSpPr/>
          <p:nvPr/>
        </p:nvSpPr>
        <p:spPr>
          <a:xfrm>
            <a:off x="4818888" y="4498848"/>
            <a:ext cx="1691640" cy="457200"/>
          </a:xfrm>
          <a:prstGeom prst="rect">
            <a:avLst/>
          </a:prstGeom>
          <a:solidFill>
            <a:srgbClr val="FFFFFF"/>
          </a:solidFill>
          <a:ln w="5080">
            <a:solidFill>
              <a:srgbClr val="C8D6E5"/>
            </a:solidFill>
            <a:prstDash val="solid"/>
          </a:ln>
        </p:spPr>
      </p:sp>
      <p:sp>
        <p:nvSpPr>
          <p:cNvPr id="102" name="Text 99"/>
          <p:cNvSpPr/>
          <p:nvPr/>
        </p:nvSpPr>
        <p:spPr>
          <a:xfrm>
            <a:off x="4855464" y="4498848"/>
            <a:ext cx="1618488" cy="457200"/>
          </a:xfrm>
          <a:prstGeom prst="rect">
            <a:avLst/>
          </a:prstGeom>
          <a:noFill/>
          <a:ln/>
        </p:spPr>
        <p:txBody>
          <a:bodyPr wrap="square" lIns="12700" tIns="12700" rIns="12700" bIns="12700" rtlCol="0" anchor="ctr"/>
          <a:lstStyle/>
          <a:p>
            <a:pPr algn="ctr" indent="0" marL="0">
              <a:buNone/>
            </a:pPr>
            <a:r>
              <a:rPr lang="en-US" sz="880" dirty="0">
                <a:solidFill>
                  <a:srgbClr val="8899AA"/>
                </a:solidFill>
              </a:rPr>
              <a:t>No baseline</a:t>
            </a:r>
            <a:endParaRPr lang="en-US" sz="880" dirty="0"/>
          </a:p>
        </p:txBody>
      </p:sp>
      <p:sp>
        <p:nvSpPr>
          <p:cNvPr id="103" name="Shape 100"/>
          <p:cNvSpPr/>
          <p:nvPr/>
        </p:nvSpPr>
        <p:spPr>
          <a:xfrm>
            <a:off x="6510528" y="4498848"/>
            <a:ext cx="2578608" cy="457200"/>
          </a:xfrm>
          <a:prstGeom prst="rect">
            <a:avLst/>
          </a:prstGeom>
          <a:solidFill>
            <a:srgbClr val="FFFFFF"/>
          </a:solidFill>
          <a:ln w="5080">
            <a:solidFill>
              <a:srgbClr val="C8D6E5"/>
            </a:solidFill>
            <a:prstDash val="solid"/>
          </a:ln>
        </p:spPr>
      </p:sp>
      <p:sp>
        <p:nvSpPr>
          <p:cNvPr id="104" name="Text 101"/>
          <p:cNvSpPr/>
          <p:nvPr/>
        </p:nvSpPr>
        <p:spPr>
          <a:xfrm>
            <a:off x="6547104" y="4498848"/>
            <a:ext cx="2505456" cy="457200"/>
          </a:xfrm>
          <a:prstGeom prst="rect">
            <a:avLst/>
          </a:prstGeom>
          <a:noFill/>
          <a:ln/>
        </p:spPr>
        <p:txBody>
          <a:bodyPr wrap="square" lIns="12700" tIns="12700" rIns="12700" bIns="12700" rtlCol="0" anchor="ctr"/>
          <a:lstStyle/>
          <a:p>
            <a:pPr algn="l" indent="0" marL="0">
              <a:buNone/>
            </a:pPr>
            <a:r>
              <a:rPr lang="en-US" sz="880" dirty="0">
                <a:solidFill>
                  <a:srgbClr val="1A2B42"/>
                </a:solidFill>
              </a:rPr>
              <a:t>Clinical utility — correct orders triggered</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2240"/>
          </a:solidFill>
          <a:ln w="12700">
            <a:solidFill>
              <a:srgbClr val="112240"/>
            </a:solidFill>
            <a:prstDash val="solid"/>
          </a:ln>
        </p:spPr>
      </p:sp>
      <p:sp>
        <p:nvSpPr>
          <p:cNvPr id="3" name="Shape 1"/>
          <p:cNvSpPr/>
          <p:nvPr/>
        </p:nvSpPr>
        <p:spPr>
          <a:xfrm>
            <a:off x="0" y="0"/>
            <a:ext cx="54864" cy="749808"/>
          </a:xfrm>
          <a:prstGeom prst="rect">
            <a:avLst/>
          </a:prstGeom>
          <a:solidFill>
            <a:srgbClr val="0D9B8A"/>
          </a:solidFill>
          <a:ln w="12700">
            <a:solidFill>
              <a:srgbClr val="0D9B8A"/>
            </a:solidFill>
            <a:prstDash val="solid"/>
          </a:ln>
        </p:spPr>
      </p:sp>
      <p:pic>
        <p:nvPicPr>
          <p:cNvPr id="4" name="Image 0" descr="preencoded.png">    </p:cNvPr>
          <p:cNvPicPr>
            <a:picLocks noChangeAspect="1"/>
          </p:cNvPicPr>
          <p:nvPr/>
        </p:nvPicPr>
        <p:blipFill>
          <a:blip r:embed="rId1"/>
          <a:stretch>
            <a:fillRect/>
          </a:stretch>
        </p:blipFill>
        <p:spPr>
          <a:xfrm>
            <a:off x="182880" y="164592"/>
            <a:ext cx="402336" cy="402336"/>
          </a:xfrm>
          <a:prstGeom prst="rect">
            <a:avLst/>
          </a:prstGeom>
        </p:spPr>
      </p:pic>
      <p:sp>
        <p:nvSpPr>
          <p:cNvPr id="5" name="Text 2"/>
          <p:cNvSpPr/>
          <p:nvPr/>
        </p:nvSpPr>
        <p:spPr>
          <a:xfrm>
            <a:off x="713232" y="54864"/>
            <a:ext cx="8229600" cy="329184"/>
          </a:xfrm>
          <a:prstGeom prst="rect">
            <a:avLst/>
          </a:prstGeom>
          <a:noFill/>
          <a:ln/>
        </p:spPr>
        <p:txBody>
          <a:bodyPr wrap="square" lIns="0" tIns="0" rIns="0" bIns="0" rtlCol="0" anchor="ctr"/>
          <a:lstStyle/>
          <a:p>
            <a:pPr indent="0" marL="0">
              <a:buNone/>
            </a:pPr>
            <a:r>
              <a:rPr lang="en-US" sz="1100" b="1" spc="400" kern="0" dirty="0">
                <a:solidFill>
                  <a:srgbClr val="0D9B8A"/>
                </a:solidFill>
              </a:rPr>
              <a:t>6-MONTH IMPLEMENTATION PLAN</a:t>
            </a:r>
            <a:endParaRPr lang="en-US" sz="1100" dirty="0"/>
          </a:p>
        </p:txBody>
      </p:sp>
      <p:sp>
        <p:nvSpPr>
          <p:cNvPr id="6" name="Text 3"/>
          <p:cNvSpPr/>
          <p:nvPr/>
        </p:nvSpPr>
        <p:spPr>
          <a:xfrm>
            <a:off x="713232" y="402336"/>
            <a:ext cx="8229600" cy="274320"/>
          </a:xfrm>
          <a:prstGeom prst="rect">
            <a:avLst/>
          </a:prstGeom>
          <a:noFill/>
          <a:ln/>
        </p:spPr>
        <p:txBody>
          <a:bodyPr wrap="square" lIns="0" tIns="0" rIns="0" bIns="0" rtlCol="0" anchor="ctr"/>
          <a:lstStyle/>
          <a:p>
            <a:pPr indent="0" marL="0">
              <a:buNone/>
            </a:pPr>
            <a:r>
              <a:rPr lang="en-US" sz="1100" dirty="0">
                <a:solidFill>
                  <a:srgbClr val="C8D6E5"/>
                </a:solidFill>
              </a:rPr>
              <a:t>Jan – Jun 2026  |  Critical path: Data → Feature Eng → TFT → Supplier Graph → Dashboard → Evaluation</a:t>
            </a:r>
            <a:endParaRPr lang="en-US" sz="1100" dirty="0"/>
          </a:p>
        </p:txBody>
      </p:sp>
      <p:sp>
        <p:nvSpPr>
          <p:cNvPr id="7" name="Shape 4"/>
          <p:cNvSpPr/>
          <p:nvPr/>
        </p:nvSpPr>
        <p:spPr>
          <a:xfrm>
            <a:off x="109728" y="868680"/>
            <a:ext cx="2880360" cy="2029968"/>
          </a:xfrm>
          <a:prstGeom prst="rect">
            <a:avLst/>
          </a:prstGeom>
          <a:solidFill>
            <a:srgbClr val="112240"/>
          </a:solidFill>
          <a:ln w="19050">
            <a:solidFill>
              <a:srgbClr val="0D9B8A"/>
            </a:solidFill>
            <a:prstDash val="solid"/>
          </a:ln>
        </p:spPr>
      </p:sp>
      <p:sp>
        <p:nvSpPr>
          <p:cNvPr id="8" name="Shape 5"/>
          <p:cNvSpPr/>
          <p:nvPr/>
        </p:nvSpPr>
        <p:spPr>
          <a:xfrm>
            <a:off x="109728" y="868680"/>
            <a:ext cx="2880360" cy="292608"/>
          </a:xfrm>
          <a:prstGeom prst="rect">
            <a:avLst/>
          </a:prstGeom>
          <a:solidFill>
            <a:srgbClr val="0D9B8A"/>
          </a:solidFill>
          <a:ln w="12700">
            <a:solidFill>
              <a:srgbClr val="0D9B8A"/>
            </a:solidFill>
            <a:prstDash val="solid"/>
          </a:ln>
        </p:spPr>
      </p:sp>
      <p:sp>
        <p:nvSpPr>
          <p:cNvPr id="9" name="Text 6"/>
          <p:cNvSpPr/>
          <p:nvPr/>
        </p:nvSpPr>
        <p:spPr>
          <a:xfrm>
            <a:off x="182880" y="868680"/>
            <a:ext cx="384048" cy="292608"/>
          </a:xfrm>
          <a:prstGeom prst="rect">
            <a:avLst/>
          </a:prstGeom>
          <a:noFill/>
          <a:ln/>
        </p:spPr>
        <p:txBody>
          <a:bodyPr wrap="square" lIns="0" tIns="0" rIns="0" bIns="0" rtlCol="0" anchor="ctr"/>
          <a:lstStyle/>
          <a:p>
            <a:pPr algn="ctr" indent="0" marL="0">
              <a:buNone/>
            </a:pPr>
            <a:r>
              <a:rPr lang="en-US" sz="1200" b="1" dirty="0">
                <a:solidFill>
                  <a:srgbClr val="0A1628"/>
                </a:solidFill>
              </a:rPr>
              <a:t>M1</a:t>
            </a:r>
            <a:endParaRPr lang="en-US" sz="1200" dirty="0"/>
          </a:p>
        </p:txBody>
      </p:sp>
      <p:sp>
        <p:nvSpPr>
          <p:cNvPr id="10" name="Text 7"/>
          <p:cNvSpPr/>
          <p:nvPr/>
        </p:nvSpPr>
        <p:spPr>
          <a:xfrm>
            <a:off x="603504" y="886968"/>
            <a:ext cx="2322576" cy="292608"/>
          </a:xfrm>
          <a:prstGeom prst="rect">
            <a:avLst/>
          </a:prstGeom>
          <a:noFill/>
          <a:ln/>
        </p:spPr>
        <p:txBody>
          <a:bodyPr wrap="square" lIns="0" tIns="0" rIns="0" bIns="0" rtlCol="0" anchor="ctr"/>
          <a:lstStyle/>
          <a:p>
            <a:pPr indent="0" marL="0">
              <a:buNone/>
            </a:pPr>
            <a:r>
              <a:rPr lang="en-US" sz="900" b="1" dirty="0">
                <a:solidFill>
                  <a:srgbClr val="0A1628"/>
                </a:solidFill>
              </a:rPr>
              <a:t>Data Pipeline  |  Jan 2026</a:t>
            </a:r>
            <a:endParaRPr lang="en-US" sz="900" dirty="0"/>
          </a:p>
        </p:txBody>
      </p:sp>
      <p:sp>
        <p:nvSpPr>
          <p:cNvPr id="11" name="Shape 8"/>
          <p:cNvSpPr/>
          <p:nvPr/>
        </p:nvSpPr>
        <p:spPr>
          <a:xfrm>
            <a:off x="237744" y="1271016"/>
            <a:ext cx="91440" cy="91440"/>
          </a:xfrm>
          <a:prstGeom prst="ellipse">
            <a:avLst/>
          </a:prstGeom>
          <a:solidFill>
            <a:srgbClr val="0D9B8A"/>
          </a:solidFill>
          <a:ln w="12700">
            <a:solidFill>
              <a:srgbClr val="0D9B8A"/>
            </a:solidFill>
            <a:prstDash val="solid"/>
          </a:ln>
        </p:spPr>
      </p:sp>
      <p:sp>
        <p:nvSpPr>
          <p:cNvPr id="12" name="Text 9"/>
          <p:cNvSpPr/>
          <p:nvPr/>
        </p:nvSpPr>
        <p:spPr>
          <a:xfrm>
            <a:off x="384048" y="1243584"/>
            <a:ext cx="2542032" cy="246888"/>
          </a:xfrm>
          <a:prstGeom prst="rect">
            <a:avLst/>
          </a:prstGeom>
          <a:noFill/>
          <a:ln/>
        </p:spPr>
        <p:txBody>
          <a:bodyPr wrap="square" lIns="0" tIns="0" rIns="0" bIns="0" rtlCol="0" anchor="ctr"/>
          <a:lstStyle/>
          <a:p>
            <a:pPr indent="0" marL="0">
              <a:buNone/>
            </a:pPr>
            <a:r>
              <a:rPr lang="en-US" sz="850" dirty="0">
                <a:solidFill>
                  <a:srgbClr val="C8D6E5"/>
                </a:solidFill>
              </a:rPr>
              <a:t>Apply for MIMIC-IV PhysioNet access (Week 1)</a:t>
            </a:r>
            <a:endParaRPr lang="en-US" sz="850" dirty="0"/>
          </a:p>
        </p:txBody>
      </p:sp>
      <p:sp>
        <p:nvSpPr>
          <p:cNvPr id="13" name="Shape 10"/>
          <p:cNvSpPr/>
          <p:nvPr/>
        </p:nvSpPr>
        <p:spPr>
          <a:xfrm>
            <a:off x="237744" y="1517904"/>
            <a:ext cx="91440" cy="91440"/>
          </a:xfrm>
          <a:prstGeom prst="ellipse">
            <a:avLst/>
          </a:prstGeom>
          <a:solidFill>
            <a:srgbClr val="0D9B8A"/>
          </a:solidFill>
          <a:ln w="12700">
            <a:solidFill>
              <a:srgbClr val="0D9B8A"/>
            </a:solidFill>
            <a:prstDash val="solid"/>
          </a:ln>
        </p:spPr>
      </p:sp>
      <p:sp>
        <p:nvSpPr>
          <p:cNvPr id="14" name="Text 11"/>
          <p:cNvSpPr/>
          <p:nvPr/>
        </p:nvSpPr>
        <p:spPr>
          <a:xfrm>
            <a:off x="384048" y="1490472"/>
            <a:ext cx="2542032" cy="246888"/>
          </a:xfrm>
          <a:prstGeom prst="rect">
            <a:avLst/>
          </a:prstGeom>
          <a:noFill/>
          <a:ln/>
        </p:spPr>
        <p:txBody>
          <a:bodyPr wrap="square" lIns="0" tIns="0" rIns="0" bIns="0" rtlCol="0" anchor="ctr"/>
          <a:lstStyle/>
          <a:p>
            <a:pPr indent="0" marL="0">
              <a:buNone/>
            </a:pPr>
            <a:r>
              <a:rPr lang="en-US" sz="850" dirty="0">
                <a:solidFill>
                  <a:srgbClr val="C8D6E5"/>
                </a:solidFill>
              </a:rPr>
              <a:t>Download + parse procurement CSV structure</a:t>
            </a:r>
            <a:endParaRPr lang="en-US" sz="850" dirty="0"/>
          </a:p>
        </p:txBody>
      </p:sp>
      <p:sp>
        <p:nvSpPr>
          <p:cNvPr id="15" name="Shape 12"/>
          <p:cNvSpPr/>
          <p:nvPr/>
        </p:nvSpPr>
        <p:spPr>
          <a:xfrm>
            <a:off x="237744" y="1764792"/>
            <a:ext cx="91440" cy="91440"/>
          </a:xfrm>
          <a:prstGeom prst="ellipse">
            <a:avLst/>
          </a:prstGeom>
          <a:solidFill>
            <a:srgbClr val="0D9B8A"/>
          </a:solidFill>
          <a:ln w="12700">
            <a:solidFill>
              <a:srgbClr val="0D9B8A"/>
            </a:solidFill>
            <a:prstDash val="solid"/>
          </a:ln>
        </p:spPr>
      </p:sp>
      <p:sp>
        <p:nvSpPr>
          <p:cNvPr id="16" name="Text 13"/>
          <p:cNvSpPr/>
          <p:nvPr/>
        </p:nvSpPr>
        <p:spPr>
          <a:xfrm>
            <a:off x="384048" y="1737360"/>
            <a:ext cx="2542032" cy="246888"/>
          </a:xfrm>
          <a:prstGeom prst="rect">
            <a:avLst/>
          </a:prstGeom>
          <a:noFill/>
          <a:ln/>
        </p:spPr>
        <p:txBody>
          <a:bodyPr wrap="square" lIns="0" tIns="0" rIns="0" bIns="0" rtlCol="0" anchor="ctr"/>
          <a:lstStyle/>
          <a:p>
            <a:pPr indent="0" marL="0">
              <a:buNone/>
            </a:pPr>
            <a:r>
              <a:rPr lang="en-US" sz="850" dirty="0">
                <a:solidFill>
                  <a:srgbClr val="C8D6E5"/>
                </a:solidFill>
              </a:rPr>
              <a:t>Build feature engineering pipeline (tsfresh)</a:t>
            </a:r>
            <a:endParaRPr lang="en-US" sz="850" dirty="0"/>
          </a:p>
        </p:txBody>
      </p:sp>
      <p:sp>
        <p:nvSpPr>
          <p:cNvPr id="17" name="Shape 14"/>
          <p:cNvSpPr/>
          <p:nvPr/>
        </p:nvSpPr>
        <p:spPr>
          <a:xfrm>
            <a:off x="237744" y="2011680"/>
            <a:ext cx="91440" cy="91440"/>
          </a:xfrm>
          <a:prstGeom prst="ellipse">
            <a:avLst/>
          </a:prstGeom>
          <a:solidFill>
            <a:srgbClr val="0D9B8A"/>
          </a:solidFill>
          <a:ln w="12700">
            <a:solidFill>
              <a:srgbClr val="0D9B8A"/>
            </a:solidFill>
            <a:prstDash val="solid"/>
          </a:ln>
        </p:spPr>
      </p:sp>
      <p:sp>
        <p:nvSpPr>
          <p:cNvPr id="18" name="Text 15"/>
          <p:cNvSpPr/>
          <p:nvPr/>
        </p:nvSpPr>
        <p:spPr>
          <a:xfrm>
            <a:off x="384048" y="1984248"/>
            <a:ext cx="2542032" cy="246888"/>
          </a:xfrm>
          <a:prstGeom prst="rect">
            <a:avLst/>
          </a:prstGeom>
          <a:noFill/>
          <a:ln/>
        </p:spPr>
        <p:txBody>
          <a:bodyPr wrap="square" lIns="0" tIns="0" rIns="0" bIns="0" rtlCol="0" anchor="ctr"/>
          <a:lstStyle/>
          <a:p>
            <a:pPr indent="0" marL="0">
              <a:buNone/>
            </a:pPr>
            <a:r>
              <a:rPr lang="en-US" sz="850" dirty="0">
                <a:solidFill>
                  <a:srgbClr val="C8D6E5"/>
                </a:solidFill>
              </a:rPr>
              <a:t>Baseline models: ARIMA, Prophet, LightGBM</a:t>
            </a:r>
            <a:endParaRPr lang="en-US" sz="850" dirty="0"/>
          </a:p>
        </p:txBody>
      </p:sp>
      <p:sp>
        <p:nvSpPr>
          <p:cNvPr id="19" name="Shape 16"/>
          <p:cNvSpPr/>
          <p:nvPr/>
        </p:nvSpPr>
        <p:spPr>
          <a:xfrm>
            <a:off x="237744" y="2258568"/>
            <a:ext cx="91440" cy="91440"/>
          </a:xfrm>
          <a:prstGeom prst="ellipse">
            <a:avLst/>
          </a:prstGeom>
          <a:solidFill>
            <a:srgbClr val="0D9B8A"/>
          </a:solidFill>
          <a:ln w="12700">
            <a:solidFill>
              <a:srgbClr val="0D9B8A"/>
            </a:solidFill>
            <a:prstDash val="solid"/>
          </a:ln>
        </p:spPr>
      </p:sp>
      <p:sp>
        <p:nvSpPr>
          <p:cNvPr id="20" name="Text 17"/>
          <p:cNvSpPr/>
          <p:nvPr/>
        </p:nvSpPr>
        <p:spPr>
          <a:xfrm>
            <a:off x="384048" y="2231136"/>
            <a:ext cx="2542032" cy="246888"/>
          </a:xfrm>
          <a:prstGeom prst="rect">
            <a:avLst/>
          </a:prstGeom>
          <a:noFill/>
          <a:ln/>
        </p:spPr>
        <p:txBody>
          <a:bodyPr wrap="square" lIns="0" tIns="0" rIns="0" bIns="0" rtlCol="0" anchor="ctr"/>
          <a:lstStyle/>
          <a:p>
            <a:pPr indent="0" marL="0">
              <a:buNone/>
            </a:pPr>
            <a:r>
              <a:rPr lang="en-US" sz="850" dirty="0">
                <a:solidFill>
                  <a:srgbClr val="C8D6E5"/>
                </a:solidFill>
              </a:rPr>
              <a:t>Docker environment + MLflow tracking setup</a:t>
            </a:r>
            <a:endParaRPr lang="en-US" sz="850" dirty="0"/>
          </a:p>
        </p:txBody>
      </p:sp>
      <p:sp>
        <p:nvSpPr>
          <p:cNvPr id="21" name="Shape 18"/>
          <p:cNvSpPr/>
          <p:nvPr/>
        </p:nvSpPr>
        <p:spPr>
          <a:xfrm>
            <a:off x="219456" y="2551176"/>
            <a:ext cx="2688336" cy="274320"/>
          </a:xfrm>
          <a:prstGeom prst="rect">
            <a:avLst/>
          </a:prstGeom>
          <a:solidFill>
            <a:srgbClr val="0D9B8A">
              <a:alpha val="16000"/>
            </a:srgbClr>
          </a:solidFill>
          <a:ln w="6350">
            <a:solidFill>
              <a:srgbClr val="0D9B8A"/>
            </a:solidFill>
            <a:prstDash val="solid"/>
          </a:ln>
        </p:spPr>
      </p:sp>
      <p:sp>
        <p:nvSpPr>
          <p:cNvPr id="22" name="Text 19"/>
          <p:cNvSpPr/>
          <p:nvPr/>
        </p:nvSpPr>
        <p:spPr>
          <a:xfrm>
            <a:off x="219456" y="2551176"/>
            <a:ext cx="2688336" cy="274320"/>
          </a:xfrm>
          <a:prstGeom prst="rect">
            <a:avLst/>
          </a:prstGeom>
          <a:noFill/>
          <a:ln/>
        </p:spPr>
        <p:txBody>
          <a:bodyPr wrap="square" lIns="12700" tIns="12700" rIns="12700" bIns="12700" rtlCol="0" anchor="ctr"/>
          <a:lstStyle/>
          <a:p>
            <a:pPr algn="ctr" indent="0" marL="0">
              <a:buNone/>
            </a:pPr>
            <a:r>
              <a:rPr lang="en-US" sz="800" b="1" dirty="0">
                <a:solidFill>
                  <a:srgbClr val="0D9B8A"/>
                </a:solidFill>
              </a:rPr>
              <a:t>Working data pipeline</a:t>
            </a:r>
            <a:endParaRPr lang="en-US" sz="800" dirty="0"/>
          </a:p>
          <a:p>
            <a:pPr algn="ctr" indent="0" marL="0">
              <a:buNone/>
            </a:pPr>
            <a:r>
              <a:rPr lang="en-US" sz="800" b="1" dirty="0">
                <a:solidFill>
                  <a:srgbClr val="0D9B8A"/>
                </a:solidFill>
              </a:rPr>
              <a:t>Baseline accuracy: ~69%</a:t>
            </a:r>
            <a:endParaRPr lang="en-US" sz="800" dirty="0"/>
          </a:p>
        </p:txBody>
      </p:sp>
      <p:sp>
        <p:nvSpPr>
          <p:cNvPr id="23" name="Shape 20"/>
          <p:cNvSpPr/>
          <p:nvPr/>
        </p:nvSpPr>
        <p:spPr>
          <a:xfrm>
            <a:off x="3127248" y="868680"/>
            <a:ext cx="2880360" cy="2029968"/>
          </a:xfrm>
          <a:prstGeom prst="rect">
            <a:avLst/>
          </a:prstGeom>
          <a:solidFill>
            <a:srgbClr val="112240"/>
          </a:solidFill>
          <a:ln w="19050">
            <a:solidFill>
              <a:srgbClr val="2E86DE"/>
            </a:solidFill>
            <a:prstDash val="solid"/>
          </a:ln>
        </p:spPr>
      </p:sp>
      <p:sp>
        <p:nvSpPr>
          <p:cNvPr id="24" name="Shape 21"/>
          <p:cNvSpPr/>
          <p:nvPr/>
        </p:nvSpPr>
        <p:spPr>
          <a:xfrm>
            <a:off x="3127248" y="868680"/>
            <a:ext cx="2880360" cy="292608"/>
          </a:xfrm>
          <a:prstGeom prst="rect">
            <a:avLst/>
          </a:prstGeom>
          <a:solidFill>
            <a:srgbClr val="2E86DE"/>
          </a:solidFill>
          <a:ln w="12700">
            <a:solidFill>
              <a:srgbClr val="2E86DE"/>
            </a:solidFill>
            <a:prstDash val="solid"/>
          </a:ln>
        </p:spPr>
      </p:sp>
      <p:sp>
        <p:nvSpPr>
          <p:cNvPr id="25" name="Text 22"/>
          <p:cNvSpPr/>
          <p:nvPr/>
        </p:nvSpPr>
        <p:spPr>
          <a:xfrm>
            <a:off x="3200400" y="868680"/>
            <a:ext cx="384048" cy="292608"/>
          </a:xfrm>
          <a:prstGeom prst="rect">
            <a:avLst/>
          </a:prstGeom>
          <a:noFill/>
          <a:ln/>
        </p:spPr>
        <p:txBody>
          <a:bodyPr wrap="square" lIns="0" tIns="0" rIns="0" bIns="0" rtlCol="0" anchor="ctr"/>
          <a:lstStyle/>
          <a:p>
            <a:pPr algn="ctr" indent="0" marL="0">
              <a:buNone/>
            </a:pPr>
            <a:r>
              <a:rPr lang="en-US" sz="1200" b="1" dirty="0">
                <a:solidFill>
                  <a:srgbClr val="0A1628"/>
                </a:solidFill>
              </a:rPr>
              <a:t>M2</a:t>
            </a:r>
            <a:endParaRPr lang="en-US" sz="1200" dirty="0"/>
          </a:p>
        </p:txBody>
      </p:sp>
      <p:sp>
        <p:nvSpPr>
          <p:cNvPr id="26" name="Text 23"/>
          <p:cNvSpPr/>
          <p:nvPr/>
        </p:nvSpPr>
        <p:spPr>
          <a:xfrm>
            <a:off x="3621024" y="886968"/>
            <a:ext cx="2322576" cy="292608"/>
          </a:xfrm>
          <a:prstGeom prst="rect">
            <a:avLst/>
          </a:prstGeom>
          <a:noFill/>
          <a:ln/>
        </p:spPr>
        <p:txBody>
          <a:bodyPr wrap="square" lIns="0" tIns="0" rIns="0" bIns="0" rtlCol="0" anchor="ctr"/>
          <a:lstStyle/>
          <a:p>
            <a:pPr indent="0" marL="0">
              <a:buNone/>
            </a:pPr>
            <a:r>
              <a:rPr lang="en-US" sz="900" b="1" dirty="0">
                <a:solidFill>
                  <a:srgbClr val="0A1628"/>
                </a:solidFill>
              </a:rPr>
              <a:t>TFT Architecture  |  Feb 2026</a:t>
            </a:r>
            <a:endParaRPr lang="en-US" sz="900" dirty="0"/>
          </a:p>
        </p:txBody>
      </p:sp>
      <p:sp>
        <p:nvSpPr>
          <p:cNvPr id="27" name="Shape 24"/>
          <p:cNvSpPr/>
          <p:nvPr/>
        </p:nvSpPr>
        <p:spPr>
          <a:xfrm>
            <a:off x="3255264" y="1271016"/>
            <a:ext cx="91440" cy="91440"/>
          </a:xfrm>
          <a:prstGeom prst="ellipse">
            <a:avLst/>
          </a:prstGeom>
          <a:solidFill>
            <a:srgbClr val="2E86DE"/>
          </a:solidFill>
          <a:ln w="12700">
            <a:solidFill>
              <a:srgbClr val="2E86DE"/>
            </a:solidFill>
            <a:prstDash val="solid"/>
          </a:ln>
        </p:spPr>
      </p:sp>
      <p:sp>
        <p:nvSpPr>
          <p:cNvPr id="28" name="Text 25"/>
          <p:cNvSpPr/>
          <p:nvPr/>
        </p:nvSpPr>
        <p:spPr>
          <a:xfrm>
            <a:off x="3401568" y="1243584"/>
            <a:ext cx="2542032" cy="246888"/>
          </a:xfrm>
          <a:prstGeom prst="rect">
            <a:avLst/>
          </a:prstGeom>
          <a:noFill/>
          <a:ln/>
        </p:spPr>
        <p:txBody>
          <a:bodyPr wrap="square" lIns="0" tIns="0" rIns="0" bIns="0" rtlCol="0" anchor="ctr"/>
          <a:lstStyle/>
          <a:p>
            <a:pPr indent="0" marL="0">
              <a:buNone/>
            </a:pPr>
            <a:r>
              <a:rPr lang="en-US" sz="850" dirty="0">
                <a:solidFill>
                  <a:srgbClr val="C8D6E5"/>
                </a:solidFill>
              </a:rPr>
              <a:t>Implement TFT using PyTorch Forecasting</a:t>
            </a:r>
            <a:endParaRPr lang="en-US" sz="850" dirty="0"/>
          </a:p>
        </p:txBody>
      </p:sp>
      <p:sp>
        <p:nvSpPr>
          <p:cNvPr id="29" name="Shape 26"/>
          <p:cNvSpPr/>
          <p:nvPr/>
        </p:nvSpPr>
        <p:spPr>
          <a:xfrm>
            <a:off x="3255264" y="1517904"/>
            <a:ext cx="91440" cy="91440"/>
          </a:xfrm>
          <a:prstGeom prst="ellipse">
            <a:avLst/>
          </a:prstGeom>
          <a:solidFill>
            <a:srgbClr val="2E86DE"/>
          </a:solidFill>
          <a:ln w="12700">
            <a:solidFill>
              <a:srgbClr val="2E86DE"/>
            </a:solidFill>
            <a:prstDash val="solid"/>
          </a:ln>
        </p:spPr>
      </p:sp>
      <p:sp>
        <p:nvSpPr>
          <p:cNvPr id="30" name="Text 27"/>
          <p:cNvSpPr/>
          <p:nvPr/>
        </p:nvSpPr>
        <p:spPr>
          <a:xfrm>
            <a:off x="3401568" y="1490472"/>
            <a:ext cx="2542032" cy="246888"/>
          </a:xfrm>
          <a:prstGeom prst="rect">
            <a:avLst/>
          </a:prstGeom>
          <a:noFill/>
          <a:ln/>
        </p:spPr>
        <p:txBody>
          <a:bodyPr wrap="square" lIns="0" tIns="0" rIns="0" bIns="0" rtlCol="0" anchor="ctr"/>
          <a:lstStyle/>
          <a:p>
            <a:pPr indent="0" marL="0">
              <a:buNone/>
            </a:pPr>
            <a:r>
              <a:rPr lang="en-US" sz="850" dirty="0">
                <a:solidFill>
                  <a:srgbClr val="C8D6E5"/>
                </a:solidFill>
              </a:rPr>
              <a:t>Define variable selection network inputs</a:t>
            </a:r>
            <a:endParaRPr lang="en-US" sz="850" dirty="0"/>
          </a:p>
        </p:txBody>
      </p:sp>
      <p:sp>
        <p:nvSpPr>
          <p:cNvPr id="31" name="Shape 28"/>
          <p:cNvSpPr/>
          <p:nvPr/>
        </p:nvSpPr>
        <p:spPr>
          <a:xfrm>
            <a:off x="3255264" y="1764792"/>
            <a:ext cx="91440" cy="91440"/>
          </a:xfrm>
          <a:prstGeom prst="ellipse">
            <a:avLst/>
          </a:prstGeom>
          <a:solidFill>
            <a:srgbClr val="2E86DE"/>
          </a:solidFill>
          <a:ln w="12700">
            <a:solidFill>
              <a:srgbClr val="2E86DE"/>
            </a:solidFill>
            <a:prstDash val="solid"/>
          </a:ln>
        </p:spPr>
      </p:sp>
      <p:sp>
        <p:nvSpPr>
          <p:cNvPr id="32" name="Text 29"/>
          <p:cNvSpPr/>
          <p:nvPr/>
        </p:nvSpPr>
        <p:spPr>
          <a:xfrm>
            <a:off x="3401568" y="1737360"/>
            <a:ext cx="2542032" cy="246888"/>
          </a:xfrm>
          <a:prstGeom prst="rect">
            <a:avLst/>
          </a:prstGeom>
          <a:noFill/>
          <a:ln/>
        </p:spPr>
        <p:txBody>
          <a:bodyPr wrap="square" lIns="0" tIns="0" rIns="0" bIns="0" rtlCol="0" anchor="ctr"/>
          <a:lstStyle/>
          <a:p>
            <a:pPr indent="0" marL="0">
              <a:buNone/>
            </a:pPr>
            <a:r>
              <a:rPr lang="en-US" sz="850" dirty="0">
                <a:solidFill>
                  <a:srgbClr val="C8D6E5"/>
                </a:solidFill>
              </a:rPr>
              <a:t>Add static + time-varying feature encoders</a:t>
            </a:r>
            <a:endParaRPr lang="en-US" sz="850" dirty="0"/>
          </a:p>
        </p:txBody>
      </p:sp>
      <p:sp>
        <p:nvSpPr>
          <p:cNvPr id="33" name="Shape 30"/>
          <p:cNvSpPr/>
          <p:nvPr/>
        </p:nvSpPr>
        <p:spPr>
          <a:xfrm>
            <a:off x="3255264" y="2011680"/>
            <a:ext cx="91440" cy="91440"/>
          </a:xfrm>
          <a:prstGeom prst="ellipse">
            <a:avLst/>
          </a:prstGeom>
          <a:solidFill>
            <a:srgbClr val="2E86DE"/>
          </a:solidFill>
          <a:ln w="12700">
            <a:solidFill>
              <a:srgbClr val="2E86DE"/>
            </a:solidFill>
            <a:prstDash val="solid"/>
          </a:ln>
        </p:spPr>
      </p:sp>
      <p:sp>
        <p:nvSpPr>
          <p:cNvPr id="34" name="Text 31"/>
          <p:cNvSpPr/>
          <p:nvPr/>
        </p:nvSpPr>
        <p:spPr>
          <a:xfrm>
            <a:off x="3401568" y="1984248"/>
            <a:ext cx="2542032" cy="246888"/>
          </a:xfrm>
          <a:prstGeom prst="rect">
            <a:avLst/>
          </a:prstGeom>
          <a:noFill/>
          <a:ln/>
        </p:spPr>
        <p:txBody>
          <a:bodyPr wrap="square" lIns="0" tIns="0" rIns="0" bIns="0" rtlCol="0" anchor="ctr"/>
          <a:lstStyle/>
          <a:p>
            <a:pPr indent="0" marL="0">
              <a:buNone/>
            </a:pPr>
            <a:r>
              <a:rPr lang="en-US" sz="850" dirty="0">
                <a:solidFill>
                  <a:srgbClr val="C8D6E5"/>
                </a:solidFill>
              </a:rPr>
              <a:t>Initial training run on MIMIC-IV subset</a:t>
            </a:r>
            <a:endParaRPr lang="en-US" sz="850" dirty="0"/>
          </a:p>
        </p:txBody>
      </p:sp>
      <p:sp>
        <p:nvSpPr>
          <p:cNvPr id="35" name="Shape 32"/>
          <p:cNvSpPr/>
          <p:nvPr/>
        </p:nvSpPr>
        <p:spPr>
          <a:xfrm>
            <a:off x="3255264" y="2258568"/>
            <a:ext cx="91440" cy="91440"/>
          </a:xfrm>
          <a:prstGeom prst="ellipse">
            <a:avLst/>
          </a:prstGeom>
          <a:solidFill>
            <a:srgbClr val="2E86DE"/>
          </a:solidFill>
          <a:ln w="12700">
            <a:solidFill>
              <a:srgbClr val="2E86DE"/>
            </a:solidFill>
            <a:prstDash val="solid"/>
          </a:ln>
        </p:spPr>
      </p:sp>
      <p:sp>
        <p:nvSpPr>
          <p:cNvPr id="36" name="Text 33"/>
          <p:cNvSpPr/>
          <p:nvPr/>
        </p:nvSpPr>
        <p:spPr>
          <a:xfrm>
            <a:off x="3401568" y="2231136"/>
            <a:ext cx="2542032" cy="246888"/>
          </a:xfrm>
          <a:prstGeom prst="rect">
            <a:avLst/>
          </a:prstGeom>
          <a:noFill/>
          <a:ln/>
        </p:spPr>
        <p:txBody>
          <a:bodyPr wrap="square" lIns="0" tIns="0" rIns="0" bIns="0" rtlCol="0" anchor="ctr"/>
          <a:lstStyle/>
          <a:p>
            <a:pPr indent="0" marL="0">
              <a:buNone/>
            </a:pPr>
            <a:r>
              <a:rPr lang="en-US" sz="850" dirty="0">
                <a:solidFill>
                  <a:srgbClr val="C8D6E5"/>
                </a:solidFill>
              </a:rPr>
              <a:t>Tune LSTM hidden size, attention heads</a:t>
            </a:r>
            <a:endParaRPr lang="en-US" sz="850" dirty="0"/>
          </a:p>
        </p:txBody>
      </p:sp>
      <p:sp>
        <p:nvSpPr>
          <p:cNvPr id="37" name="Shape 34"/>
          <p:cNvSpPr/>
          <p:nvPr/>
        </p:nvSpPr>
        <p:spPr>
          <a:xfrm>
            <a:off x="3236976" y="2551176"/>
            <a:ext cx="2688336" cy="274320"/>
          </a:xfrm>
          <a:prstGeom prst="rect">
            <a:avLst/>
          </a:prstGeom>
          <a:solidFill>
            <a:srgbClr val="2E86DE">
              <a:alpha val="16000"/>
            </a:srgbClr>
          </a:solidFill>
          <a:ln w="6350">
            <a:solidFill>
              <a:srgbClr val="2E86DE"/>
            </a:solidFill>
            <a:prstDash val="solid"/>
          </a:ln>
        </p:spPr>
      </p:sp>
      <p:sp>
        <p:nvSpPr>
          <p:cNvPr id="38" name="Text 35"/>
          <p:cNvSpPr/>
          <p:nvPr/>
        </p:nvSpPr>
        <p:spPr>
          <a:xfrm>
            <a:off x="3236976" y="2551176"/>
            <a:ext cx="2688336" cy="274320"/>
          </a:xfrm>
          <a:prstGeom prst="rect">
            <a:avLst/>
          </a:prstGeom>
          <a:noFill/>
          <a:ln/>
        </p:spPr>
        <p:txBody>
          <a:bodyPr wrap="square" lIns="12700" tIns="12700" rIns="12700" bIns="12700" rtlCol="0" anchor="ctr"/>
          <a:lstStyle/>
          <a:p>
            <a:pPr algn="ctr" indent="0" marL="0">
              <a:buNone/>
            </a:pPr>
            <a:r>
              <a:rPr lang="en-US" sz="800" b="1" dirty="0">
                <a:solidFill>
                  <a:srgbClr val="2E86DE"/>
                </a:solidFill>
              </a:rPr>
              <a:t>TFT training loop complete</a:t>
            </a:r>
            <a:endParaRPr lang="en-US" sz="800" dirty="0"/>
          </a:p>
          <a:p>
            <a:pPr algn="ctr" indent="0" marL="0">
              <a:buNone/>
            </a:pPr>
            <a:r>
              <a:rPr lang="en-US" sz="800" b="1" dirty="0">
                <a:solidFill>
                  <a:srgbClr val="2E86DE"/>
                </a:solidFill>
              </a:rPr>
              <a:t>Initial accuracy: ~74-76%</a:t>
            </a:r>
            <a:endParaRPr lang="en-US" sz="800" dirty="0"/>
          </a:p>
        </p:txBody>
      </p:sp>
      <p:sp>
        <p:nvSpPr>
          <p:cNvPr id="39" name="Shape 36"/>
          <p:cNvSpPr/>
          <p:nvPr/>
        </p:nvSpPr>
        <p:spPr>
          <a:xfrm>
            <a:off x="6144768" y="868680"/>
            <a:ext cx="2880360" cy="2029968"/>
          </a:xfrm>
          <a:prstGeom prst="rect">
            <a:avLst/>
          </a:prstGeom>
          <a:solidFill>
            <a:srgbClr val="112240"/>
          </a:solidFill>
          <a:ln w="19050">
            <a:solidFill>
              <a:srgbClr val="7B52AB"/>
            </a:solidFill>
            <a:prstDash val="solid"/>
          </a:ln>
        </p:spPr>
      </p:sp>
      <p:sp>
        <p:nvSpPr>
          <p:cNvPr id="40" name="Shape 37"/>
          <p:cNvSpPr/>
          <p:nvPr/>
        </p:nvSpPr>
        <p:spPr>
          <a:xfrm>
            <a:off x="6144768" y="868680"/>
            <a:ext cx="2880360" cy="292608"/>
          </a:xfrm>
          <a:prstGeom prst="rect">
            <a:avLst/>
          </a:prstGeom>
          <a:solidFill>
            <a:srgbClr val="7B52AB"/>
          </a:solidFill>
          <a:ln w="12700">
            <a:solidFill>
              <a:srgbClr val="7B52AB"/>
            </a:solidFill>
            <a:prstDash val="solid"/>
          </a:ln>
        </p:spPr>
      </p:sp>
      <p:sp>
        <p:nvSpPr>
          <p:cNvPr id="41" name="Text 38"/>
          <p:cNvSpPr/>
          <p:nvPr/>
        </p:nvSpPr>
        <p:spPr>
          <a:xfrm>
            <a:off x="6217920" y="868680"/>
            <a:ext cx="384048" cy="292608"/>
          </a:xfrm>
          <a:prstGeom prst="rect">
            <a:avLst/>
          </a:prstGeom>
          <a:noFill/>
          <a:ln/>
        </p:spPr>
        <p:txBody>
          <a:bodyPr wrap="square" lIns="0" tIns="0" rIns="0" bIns="0" rtlCol="0" anchor="ctr"/>
          <a:lstStyle/>
          <a:p>
            <a:pPr algn="ctr" indent="0" marL="0">
              <a:buNone/>
            </a:pPr>
            <a:r>
              <a:rPr lang="en-US" sz="1200" b="1" dirty="0">
                <a:solidFill>
                  <a:srgbClr val="0A1628"/>
                </a:solidFill>
              </a:rPr>
              <a:t>M3</a:t>
            </a:r>
            <a:endParaRPr lang="en-US" sz="1200" dirty="0"/>
          </a:p>
        </p:txBody>
      </p:sp>
      <p:sp>
        <p:nvSpPr>
          <p:cNvPr id="42" name="Text 39"/>
          <p:cNvSpPr/>
          <p:nvPr/>
        </p:nvSpPr>
        <p:spPr>
          <a:xfrm>
            <a:off x="6638544" y="886968"/>
            <a:ext cx="2322576" cy="292608"/>
          </a:xfrm>
          <a:prstGeom prst="rect">
            <a:avLst/>
          </a:prstGeom>
          <a:noFill/>
          <a:ln/>
        </p:spPr>
        <p:txBody>
          <a:bodyPr wrap="square" lIns="0" tIns="0" rIns="0" bIns="0" rtlCol="0" anchor="ctr"/>
          <a:lstStyle/>
          <a:p>
            <a:pPr indent="0" marL="0">
              <a:buNone/>
            </a:pPr>
            <a:r>
              <a:rPr lang="en-US" sz="900" b="1" dirty="0">
                <a:solidFill>
                  <a:srgbClr val="0A1628"/>
                </a:solidFill>
              </a:rPr>
              <a:t>Supplier Graph  |  Mar 2026</a:t>
            </a:r>
            <a:endParaRPr lang="en-US" sz="900" dirty="0"/>
          </a:p>
        </p:txBody>
      </p:sp>
      <p:sp>
        <p:nvSpPr>
          <p:cNvPr id="43" name="Shape 40"/>
          <p:cNvSpPr/>
          <p:nvPr/>
        </p:nvSpPr>
        <p:spPr>
          <a:xfrm>
            <a:off x="6272784" y="1271016"/>
            <a:ext cx="91440" cy="91440"/>
          </a:xfrm>
          <a:prstGeom prst="ellipse">
            <a:avLst/>
          </a:prstGeom>
          <a:solidFill>
            <a:srgbClr val="7B52AB"/>
          </a:solidFill>
          <a:ln w="12700">
            <a:solidFill>
              <a:srgbClr val="7B52AB"/>
            </a:solidFill>
            <a:prstDash val="solid"/>
          </a:ln>
        </p:spPr>
      </p:sp>
      <p:sp>
        <p:nvSpPr>
          <p:cNvPr id="44" name="Text 41"/>
          <p:cNvSpPr/>
          <p:nvPr/>
        </p:nvSpPr>
        <p:spPr>
          <a:xfrm>
            <a:off x="6419088" y="1243584"/>
            <a:ext cx="2542032" cy="246888"/>
          </a:xfrm>
          <a:prstGeom prst="rect">
            <a:avLst/>
          </a:prstGeom>
          <a:noFill/>
          <a:ln/>
        </p:spPr>
        <p:txBody>
          <a:bodyPr wrap="square" lIns="0" tIns="0" rIns="0" bIns="0" rtlCol="0" anchor="ctr"/>
          <a:lstStyle/>
          <a:p>
            <a:pPr indent="0" marL="0">
              <a:buNone/>
            </a:pPr>
            <a:r>
              <a:rPr lang="en-US" sz="850" dirty="0">
                <a:solidFill>
                  <a:srgbClr val="C8D6E5"/>
                </a:solidFill>
              </a:rPr>
              <a:t>Build supplier-drug-manufacturer graph</a:t>
            </a:r>
            <a:endParaRPr lang="en-US" sz="850" dirty="0"/>
          </a:p>
        </p:txBody>
      </p:sp>
      <p:sp>
        <p:nvSpPr>
          <p:cNvPr id="45" name="Shape 42"/>
          <p:cNvSpPr/>
          <p:nvPr/>
        </p:nvSpPr>
        <p:spPr>
          <a:xfrm>
            <a:off x="6272784" y="1517904"/>
            <a:ext cx="91440" cy="91440"/>
          </a:xfrm>
          <a:prstGeom prst="ellipse">
            <a:avLst/>
          </a:prstGeom>
          <a:solidFill>
            <a:srgbClr val="7B52AB"/>
          </a:solidFill>
          <a:ln w="12700">
            <a:solidFill>
              <a:srgbClr val="7B52AB"/>
            </a:solidFill>
            <a:prstDash val="solid"/>
          </a:ln>
        </p:spPr>
      </p:sp>
      <p:sp>
        <p:nvSpPr>
          <p:cNvPr id="46" name="Text 43"/>
          <p:cNvSpPr/>
          <p:nvPr/>
        </p:nvSpPr>
        <p:spPr>
          <a:xfrm>
            <a:off x="6419088" y="1490472"/>
            <a:ext cx="2542032" cy="246888"/>
          </a:xfrm>
          <a:prstGeom prst="rect">
            <a:avLst/>
          </a:prstGeom>
          <a:noFill/>
          <a:ln/>
        </p:spPr>
        <p:txBody>
          <a:bodyPr wrap="square" lIns="0" tIns="0" rIns="0" bIns="0" rtlCol="0" anchor="ctr"/>
          <a:lstStyle/>
          <a:p>
            <a:pPr indent="0" marL="0">
              <a:buNone/>
            </a:pPr>
            <a:r>
              <a:rPr lang="en-US" sz="850" dirty="0">
                <a:solidFill>
                  <a:srgbClr val="C8D6E5"/>
                </a:solidFill>
              </a:rPr>
              <a:t>Train GraphSAGE with PyTorch Geometric</a:t>
            </a:r>
            <a:endParaRPr lang="en-US" sz="850" dirty="0"/>
          </a:p>
        </p:txBody>
      </p:sp>
      <p:sp>
        <p:nvSpPr>
          <p:cNvPr id="47" name="Shape 44"/>
          <p:cNvSpPr/>
          <p:nvPr/>
        </p:nvSpPr>
        <p:spPr>
          <a:xfrm>
            <a:off x="6272784" y="1764792"/>
            <a:ext cx="91440" cy="91440"/>
          </a:xfrm>
          <a:prstGeom prst="ellipse">
            <a:avLst/>
          </a:prstGeom>
          <a:solidFill>
            <a:srgbClr val="7B52AB"/>
          </a:solidFill>
          <a:ln w="12700">
            <a:solidFill>
              <a:srgbClr val="7B52AB"/>
            </a:solidFill>
            <a:prstDash val="solid"/>
          </a:ln>
        </p:spPr>
      </p:sp>
      <p:sp>
        <p:nvSpPr>
          <p:cNvPr id="48" name="Text 45"/>
          <p:cNvSpPr/>
          <p:nvPr/>
        </p:nvSpPr>
        <p:spPr>
          <a:xfrm>
            <a:off x="6419088" y="1737360"/>
            <a:ext cx="2542032" cy="246888"/>
          </a:xfrm>
          <a:prstGeom prst="rect">
            <a:avLst/>
          </a:prstGeom>
          <a:noFill/>
          <a:ln/>
        </p:spPr>
        <p:txBody>
          <a:bodyPr wrap="square" lIns="0" tIns="0" rIns="0" bIns="0" rtlCol="0" anchor="ctr"/>
          <a:lstStyle/>
          <a:p>
            <a:pPr indent="0" marL="0">
              <a:buNone/>
            </a:pPr>
            <a:r>
              <a:rPr lang="en-US" sz="850" dirty="0">
                <a:solidFill>
                  <a:srgbClr val="C8D6E5"/>
                </a:solidFill>
              </a:rPr>
              <a:t>Add FDA shortage signals as node features</a:t>
            </a:r>
            <a:endParaRPr lang="en-US" sz="850" dirty="0"/>
          </a:p>
        </p:txBody>
      </p:sp>
      <p:sp>
        <p:nvSpPr>
          <p:cNvPr id="49" name="Shape 46"/>
          <p:cNvSpPr/>
          <p:nvPr/>
        </p:nvSpPr>
        <p:spPr>
          <a:xfrm>
            <a:off x="6272784" y="2011680"/>
            <a:ext cx="91440" cy="91440"/>
          </a:xfrm>
          <a:prstGeom prst="ellipse">
            <a:avLst/>
          </a:prstGeom>
          <a:solidFill>
            <a:srgbClr val="7B52AB"/>
          </a:solidFill>
          <a:ln w="12700">
            <a:solidFill>
              <a:srgbClr val="7B52AB"/>
            </a:solidFill>
            <a:prstDash val="solid"/>
          </a:ln>
        </p:spPr>
      </p:sp>
      <p:sp>
        <p:nvSpPr>
          <p:cNvPr id="50" name="Text 47"/>
          <p:cNvSpPr/>
          <p:nvPr/>
        </p:nvSpPr>
        <p:spPr>
          <a:xfrm>
            <a:off x="6419088" y="1984248"/>
            <a:ext cx="2542032" cy="246888"/>
          </a:xfrm>
          <a:prstGeom prst="rect">
            <a:avLst/>
          </a:prstGeom>
          <a:noFill/>
          <a:ln/>
        </p:spPr>
        <p:txBody>
          <a:bodyPr wrap="square" lIns="0" tIns="0" rIns="0" bIns="0" rtlCol="0" anchor="ctr"/>
          <a:lstStyle/>
          <a:p>
            <a:pPr indent="0" marL="0">
              <a:buNone/>
            </a:pPr>
            <a:r>
              <a:rPr lang="en-US" sz="850" dirty="0">
                <a:solidFill>
                  <a:srgbClr val="C8D6E5"/>
                </a:solidFill>
              </a:rPr>
              <a:t>Integrate supplier risk score into TFT input</a:t>
            </a:r>
            <a:endParaRPr lang="en-US" sz="850" dirty="0"/>
          </a:p>
        </p:txBody>
      </p:sp>
      <p:sp>
        <p:nvSpPr>
          <p:cNvPr id="51" name="Shape 48"/>
          <p:cNvSpPr/>
          <p:nvPr/>
        </p:nvSpPr>
        <p:spPr>
          <a:xfrm>
            <a:off x="6272784" y="2258568"/>
            <a:ext cx="91440" cy="91440"/>
          </a:xfrm>
          <a:prstGeom prst="ellipse">
            <a:avLst/>
          </a:prstGeom>
          <a:solidFill>
            <a:srgbClr val="7B52AB"/>
          </a:solidFill>
          <a:ln w="12700">
            <a:solidFill>
              <a:srgbClr val="7B52AB"/>
            </a:solidFill>
            <a:prstDash val="solid"/>
          </a:ln>
        </p:spPr>
      </p:sp>
      <p:sp>
        <p:nvSpPr>
          <p:cNvPr id="52" name="Text 49"/>
          <p:cNvSpPr/>
          <p:nvPr/>
        </p:nvSpPr>
        <p:spPr>
          <a:xfrm>
            <a:off x="6419088" y="2231136"/>
            <a:ext cx="2542032" cy="246888"/>
          </a:xfrm>
          <a:prstGeom prst="rect">
            <a:avLst/>
          </a:prstGeom>
          <a:noFill/>
          <a:ln/>
        </p:spPr>
        <p:txBody>
          <a:bodyPr wrap="square" lIns="0" tIns="0" rIns="0" bIns="0" rtlCol="0" anchor="ctr"/>
          <a:lstStyle/>
          <a:p>
            <a:pPr indent="0" marL="0">
              <a:buNone/>
            </a:pPr>
            <a:r>
              <a:rPr lang="en-US" sz="850" dirty="0">
                <a:solidFill>
                  <a:srgbClr val="C8D6E5"/>
                </a:solidFill>
              </a:rPr>
              <a:t>Full hyperparameter tuning on Colab A100</a:t>
            </a:r>
            <a:endParaRPr lang="en-US" sz="850" dirty="0"/>
          </a:p>
        </p:txBody>
      </p:sp>
      <p:sp>
        <p:nvSpPr>
          <p:cNvPr id="53" name="Shape 50"/>
          <p:cNvSpPr/>
          <p:nvPr/>
        </p:nvSpPr>
        <p:spPr>
          <a:xfrm>
            <a:off x="6254496" y="2551176"/>
            <a:ext cx="2688336" cy="274320"/>
          </a:xfrm>
          <a:prstGeom prst="rect">
            <a:avLst/>
          </a:prstGeom>
          <a:solidFill>
            <a:srgbClr val="7B52AB">
              <a:alpha val="16000"/>
            </a:srgbClr>
          </a:solidFill>
          <a:ln w="6350">
            <a:solidFill>
              <a:srgbClr val="7B52AB"/>
            </a:solidFill>
            <a:prstDash val="solid"/>
          </a:ln>
        </p:spPr>
      </p:sp>
      <p:sp>
        <p:nvSpPr>
          <p:cNvPr id="54" name="Text 51"/>
          <p:cNvSpPr/>
          <p:nvPr/>
        </p:nvSpPr>
        <p:spPr>
          <a:xfrm>
            <a:off x="6254496" y="2551176"/>
            <a:ext cx="2688336" cy="274320"/>
          </a:xfrm>
          <a:prstGeom prst="rect">
            <a:avLst/>
          </a:prstGeom>
          <a:noFill/>
          <a:ln/>
        </p:spPr>
        <p:txBody>
          <a:bodyPr wrap="square" lIns="12700" tIns="12700" rIns="12700" bIns="12700" rtlCol="0" anchor="ctr"/>
          <a:lstStyle/>
          <a:p>
            <a:pPr algn="ctr" indent="0" marL="0">
              <a:buNone/>
            </a:pPr>
            <a:r>
              <a:rPr lang="en-US" sz="800" b="1" dirty="0">
                <a:solidFill>
                  <a:srgbClr val="7B52AB"/>
                </a:solidFill>
              </a:rPr>
              <a:t>Graph module integrated</a:t>
            </a:r>
            <a:endParaRPr lang="en-US" sz="800" dirty="0"/>
          </a:p>
          <a:p>
            <a:pPr algn="ctr" indent="0" marL="0">
              <a:buNone/>
            </a:pPr>
            <a:r>
              <a:rPr lang="en-US" sz="800" b="1" dirty="0">
                <a:solidFill>
                  <a:srgbClr val="7B52AB"/>
                </a:solidFill>
              </a:rPr>
              <a:t>Combined accuracy: ~80%</a:t>
            </a:r>
            <a:endParaRPr lang="en-US" sz="800" dirty="0"/>
          </a:p>
        </p:txBody>
      </p:sp>
      <p:sp>
        <p:nvSpPr>
          <p:cNvPr id="55" name="Shape 52"/>
          <p:cNvSpPr/>
          <p:nvPr/>
        </p:nvSpPr>
        <p:spPr>
          <a:xfrm>
            <a:off x="109728" y="3044952"/>
            <a:ext cx="2880360" cy="2029968"/>
          </a:xfrm>
          <a:prstGeom prst="rect">
            <a:avLst/>
          </a:prstGeom>
          <a:solidFill>
            <a:srgbClr val="112240"/>
          </a:solidFill>
          <a:ln w="19050">
            <a:solidFill>
              <a:srgbClr val="F0A500"/>
            </a:solidFill>
            <a:prstDash val="solid"/>
          </a:ln>
        </p:spPr>
      </p:sp>
      <p:sp>
        <p:nvSpPr>
          <p:cNvPr id="56" name="Shape 53"/>
          <p:cNvSpPr/>
          <p:nvPr/>
        </p:nvSpPr>
        <p:spPr>
          <a:xfrm>
            <a:off x="109728" y="3044952"/>
            <a:ext cx="2880360" cy="292608"/>
          </a:xfrm>
          <a:prstGeom prst="rect">
            <a:avLst/>
          </a:prstGeom>
          <a:solidFill>
            <a:srgbClr val="F0A500"/>
          </a:solidFill>
          <a:ln w="12700">
            <a:solidFill>
              <a:srgbClr val="F0A500"/>
            </a:solidFill>
            <a:prstDash val="solid"/>
          </a:ln>
        </p:spPr>
      </p:sp>
      <p:sp>
        <p:nvSpPr>
          <p:cNvPr id="57" name="Text 54"/>
          <p:cNvSpPr/>
          <p:nvPr/>
        </p:nvSpPr>
        <p:spPr>
          <a:xfrm>
            <a:off x="182880" y="3044952"/>
            <a:ext cx="384048" cy="292608"/>
          </a:xfrm>
          <a:prstGeom prst="rect">
            <a:avLst/>
          </a:prstGeom>
          <a:noFill/>
          <a:ln/>
        </p:spPr>
        <p:txBody>
          <a:bodyPr wrap="square" lIns="0" tIns="0" rIns="0" bIns="0" rtlCol="0" anchor="ctr"/>
          <a:lstStyle/>
          <a:p>
            <a:pPr algn="ctr" indent="0" marL="0">
              <a:buNone/>
            </a:pPr>
            <a:r>
              <a:rPr lang="en-US" sz="1200" b="1" dirty="0">
                <a:solidFill>
                  <a:srgbClr val="0A1628"/>
                </a:solidFill>
              </a:rPr>
              <a:t>M4</a:t>
            </a:r>
            <a:endParaRPr lang="en-US" sz="1200" dirty="0"/>
          </a:p>
        </p:txBody>
      </p:sp>
      <p:sp>
        <p:nvSpPr>
          <p:cNvPr id="58" name="Text 55"/>
          <p:cNvSpPr/>
          <p:nvPr/>
        </p:nvSpPr>
        <p:spPr>
          <a:xfrm>
            <a:off x="603504" y="3063240"/>
            <a:ext cx="2322576" cy="292608"/>
          </a:xfrm>
          <a:prstGeom prst="rect">
            <a:avLst/>
          </a:prstGeom>
          <a:noFill/>
          <a:ln/>
        </p:spPr>
        <p:txBody>
          <a:bodyPr wrap="square" lIns="0" tIns="0" rIns="0" bIns="0" rtlCol="0" anchor="ctr"/>
          <a:lstStyle/>
          <a:p>
            <a:pPr indent="0" marL="0">
              <a:buNone/>
            </a:pPr>
            <a:r>
              <a:rPr lang="en-US" sz="900" b="1" dirty="0">
                <a:solidFill>
                  <a:srgbClr val="0A1628"/>
                </a:solidFill>
              </a:rPr>
              <a:t>Fusion + Ablation  |  Apr 2026</a:t>
            </a:r>
            <a:endParaRPr lang="en-US" sz="900" dirty="0"/>
          </a:p>
        </p:txBody>
      </p:sp>
      <p:sp>
        <p:nvSpPr>
          <p:cNvPr id="59" name="Shape 56"/>
          <p:cNvSpPr/>
          <p:nvPr/>
        </p:nvSpPr>
        <p:spPr>
          <a:xfrm>
            <a:off x="237744" y="3447288"/>
            <a:ext cx="91440" cy="91440"/>
          </a:xfrm>
          <a:prstGeom prst="ellipse">
            <a:avLst/>
          </a:prstGeom>
          <a:solidFill>
            <a:srgbClr val="F0A500"/>
          </a:solidFill>
          <a:ln w="12700">
            <a:solidFill>
              <a:srgbClr val="F0A500"/>
            </a:solidFill>
            <a:prstDash val="solid"/>
          </a:ln>
        </p:spPr>
      </p:sp>
      <p:sp>
        <p:nvSpPr>
          <p:cNvPr id="60" name="Text 57"/>
          <p:cNvSpPr/>
          <p:nvPr/>
        </p:nvSpPr>
        <p:spPr>
          <a:xfrm>
            <a:off x="384048" y="3419856"/>
            <a:ext cx="2542032" cy="246888"/>
          </a:xfrm>
          <a:prstGeom prst="rect">
            <a:avLst/>
          </a:prstGeom>
          <a:noFill/>
          <a:ln/>
        </p:spPr>
        <p:txBody>
          <a:bodyPr wrap="square" lIns="0" tIns="0" rIns="0" bIns="0" rtlCol="0" anchor="ctr"/>
          <a:lstStyle/>
          <a:p>
            <a:pPr indent="0" marL="0">
              <a:buNone/>
            </a:pPr>
            <a:r>
              <a:rPr lang="en-US" sz="850" dirty="0">
                <a:solidFill>
                  <a:srgbClr val="C8D6E5"/>
                </a:solidFill>
              </a:rPr>
              <a:t>Add conformal prediction wrapper (uncertainty)</a:t>
            </a:r>
            <a:endParaRPr lang="en-US" sz="850" dirty="0"/>
          </a:p>
        </p:txBody>
      </p:sp>
      <p:sp>
        <p:nvSpPr>
          <p:cNvPr id="61" name="Shape 58"/>
          <p:cNvSpPr/>
          <p:nvPr/>
        </p:nvSpPr>
        <p:spPr>
          <a:xfrm>
            <a:off x="237744" y="3694176"/>
            <a:ext cx="91440" cy="91440"/>
          </a:xfrm>
          <a:prstGeom prst="ellipse">
            <a:avLst/>
          </a:prstGeom>
          <a:solidFill>
            <a:srgbClr val="F0A500"/>
          </a:solidFill>
          <a:ln w="12700">
            <a:solidFill>
              <a:srgbClr val="F0A500"/>
            </a:solidFill>
            <a:prstDash val="solid"/>
          </a:ln>
        </p:spPr>
      </p:sp>
      <p:sp>
        <p:nvSpPr>
          <p:cNvPr id="62" name="Text 59"/>
          <p:cNvSpPr/>
          <p:nvPr/>
        </p:nvSpPr>
        <p:spPr>
          <a:xfrm>
            <a:off x="384048" y="3666744"/>
            <a:ext cx="2542032" cy="246888"/>
          </a:xfrm>
          <a:prstGeom prst="rect">
            <a:avLst/>
          </a:prstGeom>
          <a:noFill/>
          <a:ln/>
        </p:spPr>
        <p:txBody>
          <a:bodyPr wrap="square" lIns="0" tIns="0" rIns="0" bIns="0" rtlCol="0" anchor="ctr"/>
          <a:lstStyle/>
          <a:p>
            <a:pPr indent="0" marL="0">
              <a:buNone/>
            </a:pPr>
            <a:r>
              <a:rPr lang="en-US" sz="850" dirty="0">
                <a:solidFill>
                  <a:srgbClr val="C8D6E5"/>
                </a:solidFill>
              </a:rPr>
              <a:t>Build disruption simulation engine</a:t>
            </a:r>
            <a:endParaRPr lang="en-US" sz="850" dirty="0"/>
          </a:p>
        </p:txBody>
      </p:sp>
      <p:sp>
        <p:nvSpPr>
          <p:cNvPr id="63" name="Shape 60"/>
          <p:cNvSpPr/>
          <p:nvPr/>
        </p:nvSpPr>
        <p:spPr>
          <a:xfrm>
            <a:off x="237744" y="3941064"/>
            <a:ext cx="91440" cy="91440"/>
          </a:xfrm>
          <a:prstGeom prst="ellipse">
            <a:avLst/>
          </a:prstGeom>
          <a:solidFill>
            <a:srgbClr val="F0A500"/>
          </a:solidFill>
          <a:ln w="12700">
            <a:solidFill>
              <a:srgbClr val="F0A500"/>
            </a:solidFill>
            <a:prstDash val="solid"/>
          </a:ln>
        </p:spPr>
      </p:sp>
      <p:sp>
        <p:nvSpPr>
          <p:cNvPr id="64" name="Text 61"/>
          <p:cNvSpPr/>
          <p:nvPr/>
        </p:nvSpPr>
        <p:spPr>
          <a:xfrm>
            <a:off x="384048" y="3913632"/>
            <a:ext cx="2542032" cy="246888"/>
          </a:xfrm>
          <a:prstGeom prst="rect">
            <a:avLst/>
          </a:prstGeom>
          <a:noFill/>
          <a:ln/>
        </p:spPr>
        <p:txBody>
          <a:bodyPr wrap="square" lIns="0" tIns="0" rIns="0" bIns="0" rtlCol="0" anchor="ctr"/>
          <a:lstStyle/>
          <a:p>
            <a:pPr indent="0" marL="0">
              <a:buNone/>
            </a:pPr>
            <a:r>
              <a:rPr lang="en-US" sz="850" dirty="0">
                <a:solidFill>
                  <a:srgbClr val="C8D6E5"/>
                </a:solidFill>
              </a:rPr>
              <a:t>Run ablation study (Configs A → D)</a:t>
            </a:r>
            <a:endParaRPr lang="en-US" sz="850" dirty="0"/>
          </a:p>
        </p:txBody>
      </p:sp>
      <p:sp>
        <p:nvSpPr>
          <p:cNvPr id="65" name="Shape 62"/>
          <p:cNvSpPr/>
          <p:nvPr/>
        </p:nvSpPr>
        <p:spPr>
          <a:xfrm>
            <a:off x="237744" y="4187952"/>
            <a:ext cx="91440" cy="91440"/>
          </a:xfrm>
          <a:prstGeom prst="ellipse">
            <a:avLst/>
          </a:prstGeom>
          <a:solidFill>
            <a:srgbClr val="F0A500"/>
          </a:solidFill>
          <a:ln w="12700">
            <a:solidFill>
              <a:srgbClr val="F0A500"/>
            </a:solidFill>
            <a:prstDash val="solid"/>
          </a:ln>
        </p:spPr>
      </p:sp>
      <p:sp>
        <p:nvSpPr>
          <p:cNvPr id="66" name="Text 63"/>
          <p:cNvSpPr/>
          <p:nvPr/>
        </p:nvSpPr>
        <p:spPr>
          <a:xfrm>
            <a:off x="384048" y="4160520"/>
            <a:ext cx="2542032" cy="246888"/>
          </a:xfrm>
          <a:prstGeom prst="rect">
            <a:avLst/>
          </a:prstGeom>
          <a:noFill/>
          <a:ln/>
        </p:spPr>
        <p:txBody>
          <a:bodyPr wrap="square" lIns="0" tIns="0" rIns="0" bIns="0" rtlCol="0" anchor="ctr"/>
          <a:lstStyle/>
          <a:p>
            <a:pPr indent="0" marL="0">
              <a:buNone/>
            </a:pPr>
            <a:r>
              <a:rPr lang="en-US" sz="850" dirty="0">
                <a:solidFill>
                  <a:srgbClr val="C8D6E5"/>
                </a:solidFill>
              </a:rPr>
              <a:t>Compare P10/P50/P90 calibration curves</a:t>
            </a:r>
            <a:endParaRPr lang="en-US" sz="850" dirty="0"/>
          </a:p>
        </p:txBody>
      </p:sp>
      <p:sp>
        <p:nvSpPr>
          <p:cNvPr id="67" name="Shape 64"/>
          <p:cNvSpPr/>
          <p:nvPr/>
        </p:nvSpPr>
        <p:spPr>
          <a:xfrm>
            <a:off x="237744" y="4434840"/>
            <a:ext cx="91440" cy="91440"/>
          </a:xfrm>
          <a:prstGeom prst="ellipse">
            <a:avLst/>
          </a:prstGeom>
          <a:solidFill>
            <a:srgbClr val="F0A500"/>
          </a:solidFill>
          <a:ln w="12700">
            <a:solidFill>
              <a:srgbClr val="F0A500"/>
            </a:solidFill>
            <a:prstDash val="solid"/>
          </a:ln>
        </p:spPr>
      </p:sp>
      <p:sp>
        <p:nvSpPr>
          <p:cNvPr id="68" name="Text 65"/>
          <p:cNvSpPr/>
          <p:nvPr/>
        </p:nvSpPr>
        <p:spPr>
          <a:xfrm>
            <a:off x="384048" y="4407408"/>
            <a:ext cx="2542032" cy="246888"/>
          </a:xfrm>
          <a:prstGeom prst="rect">
            <a:avLst/>
          </a:prstGeom>
          <a:noFill/>
          <a:ln/>
        </p:spPr>
        <p:txBody>
          <a:bodyPr wrap="square" lIns="0" tIns="0" rIns="0" bIns="0" rtlCol="0" anchor="ctr"/>
          <a:lstStyle/>
          <a:p>
            <a:pPr indent="0" marL="0">
              <a:buNone/>
            </a:pPr>
            <a:r>
              <a:rPr lang="en-US" sz="850" dirty="0">
                <a:solidFill>
                  <a:srgbClr val="C8D6E5"/>
                </a:solidFill>
              </a:rPr>
              <a:t>Document all results in MLflow</a:t>
            </a:r>
            <a:endParaRPr lang="en-US" sz="850" dirty="0"/>
          </a:p>
        </p:txBody>
      </p:sp>
      <p:sp>
        <p:nvSpPr>
          <p:cNvPr id="69" name="Shape 66"/>
          <p:cNvSpPr/>
          <p:nvPr/>
        </p:nvSpPr>
        <p:spPr>
          <a:xfrm>
            <a:off x="219456" y="4727448"/>
            <a:ext cx="2688336" cy="274320"/>
          </a:xfrm>
          <a:prstGeom prst="rect">
            <a:avLst/>
          </a:prstGeom>
          <a:solidFill>
            <a:srgbClr val="F0A500">
              <a:alpha val="16000"/>
            </a:srgbClr>
          </a:solidFill>
          <a:ln w="6350">
            <a:solidFill>
              <a:srgbClr val="F0A500"/>
            </a:solidFill>
            <a:prstDash val="solid"/>
          </a:ln>
        </p:spPr>
      </p:sp>
      <p:sp>
        <p:nvSpPr>
          <p:cNvPr id="70" name="Text 67"/>
          <p:cNvSpPr/>
          <p:nvPr/>
        </p:nvSpPr>
        <p:spPr>
          <a:xfrm>
            <a:off x="219456" y="4727448"/>
            <a:ext cx="2688336" cy="274320"/>
          </a:xfrm>
          <a:prstGeom prst="rect">
            <a:avLst/>
          </a:prstGeom>
          <a:noFill/>
          <a:ln/>
        </p:spPr>
        <p:txBody>
          <a:bodyPr wrap="square" lIns="12700" tIns="12700" rIns="12700" bIns="12700" rtlCol="0" anchor="ctr"/>
          <a:lstStyle/>
          <a:p>
            <a:pPr algn="ctr" indent="0" marL="0">
              <a:buNone/>
            </a:pPr>
            <a:r>
              <a:rPr lang="en-US" sz="800" b="1" dirty="0">
                <a:solidFill>
                  <a:srgbClr val="F0A500"/>
                </a:solidFill>
              </a:rPr>
              <a:t>Full system: &gt;82% accuracy</a:t>
            </a:r>
            <a:endParaRPr lang="en-US" sz="800" dirty="0"/>
          </a:p>
          <a:p>
            <a:pPr algn="ctr" indent="0" marL="0">
              <a:buNone/>
            </a:pPr>
            <a:r>
              <a:rPr lang="en-US" sz="800" b="1" dirty="0">
                <a:solidFill>
                  <a:srgbClr val="F0A500"/>
                </a:solidFill>
              </a:rPr>
              <a:t>Ablation table complete</a:t>
            </a:r>
            <a:endParaRPr lang="en-US" sz="800" dirty="0"/>
          </a:p>
        </p:txBody>
      </p:sp>
      <p:sp>
        <p:nvSpPr>
          <p:cNvPr id="71" name="Shape 68"/>
          <p:cNvSpPr/>
          <p:nvPr/>
        </p:nvSpPr>
        <p:spPr>
          <a:xfrm>
            <a:off x="3127248" y="3044952"/>
            <a:ext cx="2880360" cy="2029968"/>
          </a:xfrm>
          <a:prstGeom prst="rect">
            <a:avLst/>
          </a:prstGeom>
          <a:solidFill>
            <a:srgbClr val="112240"/>
          </a:solidFill>
          <a:ln w="19050">
            <a:solidFill>
              <a:srgbClr val="27AE60"/>
            </a:solidFill>
            <a:prstDash val="solid"/>
          </a:ln>
        </p:spPr>
      </p:sp>
      <p:sp>
        <p:nvSpPr>
          <p:cNvPr id="72" name="Shape 69"/>
          <p:cNvSpPr/>
          <p:nvPr/>
        </p:nvSpPr>
        <p:spPr>
          <a:xfrm>
            <a:off x="3127248" y="3044952"/>
            <a:ext cx="2880360" cy="292608"/>
          </a:xfrm>
          <a:prstGeom prst="rect">
            <a:avLst/>
          </a:prstGeom>
          <a:solidFill>
            <a:srgbClr val="27AE60"/>
          </a:solidFill>
          <a:ln w="12700">
            <a:solidFill>
              <a:srgbClr val="27AE60"/>
            </a:solidFill>
            <a:prstDash val="solid"/>
          </a:ln>
        </p:spPr>
      </p:sp>
      <p:sp>
        <p:nvSpPr>
          <p:cNvPr id="73" name="Text 70"/>
          <p:cNvSpPr/>
          <p:nvPr/>
        </p:nvSpPr>
        <p:spPr>
          <a:xfrm>
            <a:off x="3200400" y="3044952"/>
            <a:ext cx="384048" cy="292608"/>
          </a:xfrm>
          <a:prstGeom prst="rect">
            <a:avLst/>
          </a:prstGeom>
          <a:noFill/>
          <a:ln/>
        </p:spPr>
        <p:txBody>
          <a:bodyPr wrap="square" lIns="0" tIns="0" rIns="0" bIns="0" rtlCol="0" anchor="ctr"/>
          <a:lstStyle/>
          <a:p>
            <a:pPr algn="ctr" indent="0" marL="0">
              <a:buNone/>
            </a:pPr>
            <a:r>
              <a:rPr lang="en-US" sz="1200" b="1" dirty="0">
                <a:solidFill>
                  <a:srgbClr val="0A1628"/>
                </a:solidFill>
              </a:rPr>
              <a:t>M5</a:t>
            </a:r>
            <a:endParaRPr lang="en-US" sz="1200" dirty="0"/>
          </a:p>
        </p:txBody>
      </p:sp>
      <p:sp>
        <p:nvSpPr>
          <p:cNvPr id="74" name="Text 71"/>
          <p:cNvSpPr/>
          <p:nvPr/>
        </p:nvSpPr>
        <p:spPr>
          <a:xfrm>
            <a:off x="3621024" y="3063240"/>
            <a:ext cx="2322576" cy="292608"/>
          </a:xfrm>
          <a:prstGeom prst="rect">
            <a:avLst/>
          </a:prstGeom>
          <a:noFill/>
          <a:ln/>
        </p:spPr>
        <p:txBody>
          <a:bodyPr wrap="square" lIns="0" tIns="0" rIns="0" bIns="0" rtlCol="0" anchor="ctr"/>
          <a:lstStyle/>
          <a:p>
            <a:pPr indent="0" marL="0">
              <a:buNone/>
            </a:pPr>
            <a:r>
              <a:rPr lang="en-US" sz="900" b="1" dirty="0">
                <a:solidFill>
                  <a:srgbClr val="0A1628"/>
                </a:solidFill>
              </a:rPr>
              <a:t>Dashboard &amp; Demo  |  May 2026</a:t>
            </a:r>
            <a:endParaRPr lang="en-US" sz="900" dirty="0"/>
          </a:p>
        </p:txBody>
      </p:sp>
      <p:sp>
        <p:nvSpPr>
          <p:cNvPr id="75" name="Shape 72"/>
          <p:cNvSpPr/>
          <p:nvPr/>
        </p:nvSpPr>
        <p:spPr>
          <a:xfrm>
            <a:off x="3255264" y="3447288"/>
            <a:ext cx="91440" cy="91440"/>
          </a:xfrm>
          <a:prstGeom prst="ellipse">
            <a:avLst/>
          </a:prstGeom>
          <a:solidFill>
            <a:srgbClr val="27AE60"/>
          </a:solidFill>
          <a:ln w="12700">
            <a:solidFill>
              <a:srgbClr val="27AE60"/>
            </a:solidFill>
            <a:prstDash val="solid"/>
          </a:ln>
        </p:spPr>
      </p:sp>
      <p:sp>
        <p:nvSpPr>
          <p:cNvPr id="76" name="Text 73"/>
          <p:cNvSpPr/>
          <p:nvPr/>
        </p:nvSpPr>
        <p:spPr>
          <a:xfrm>
            <a:off x="3401568" y="3419856"/>
            <a:ext cx="2542032" cy="246888"/>
          </a:xfrm>
          <a:prstGeom prst="rect">
            <a:avLst/>
          </a:prstGeom>
          <a:noFill/>
          <a:ln/>
        </p:spPr>
        <p:txBody>
          <a:bodyPr wrap="square" lIns="0" tIns="0" rIns="0" bIns="0" rtlCol="0" anchor="ctr"/>
          <a:lstStyle/>
          <a:p>
            <a:pPr indent="0" marL="0">
              <a:buNone/>
            </a:pPr>
            <a:r>
              <a:rPr lang="en-US" sz="850" dirty="0">
                <a:solidFill>
                  <a:srgbClr val="C8D6E5"/>
                </a:solidFill>
              </a:rPr>
              <a:t>Build React dashboard (CSV upload flow)</a:t>
            </a:r>
            <a:endParaRPr lang="en-US" sz="850" dirty="0"/>
          </a:p>
        </p:txBody>
      </p:sp>
      <p:sp>
        <p:nvSpPr>
          <p:cNvPr id="77" name="Shape 74"/>
          <p:cNvSpPr/>
          <p:nvPr/>
        </p:nvSpPr>
        <p:spPr>
          <a:xfrm>
            <a:off x="3255264" y="3694176"/>
            <a:ext cx="91440" cy="91440"/>
          </a:xfrm>
          <a:prstGeom prst="ellipse">
            <a:avLst/>
          </a:prstGeom>
          <a:solidFill>
            <a:srgbClr val="27AE60"/>
          </a:solidFill>
          <a:ln w="12700">
            <a:solidFill>
              <a:srgbClr val="27AE60"/>
            </a:solidFill>
            <a:prstDash val="solid"/>
          </a:ln>
        </p:spPr>
      </p:sp>
      <p:sp>
        <p:nvSpPr>
          <p:cNvPr id="78" name="Text 75"/>
          <p:cNvSpPr/>
          <p:nvPr/>
        </p:nvSpPr>
        <p:spPr>
          <a:xfrm>
            <a:off x="3401568" y="3666744"/>
            <a:ext cx="2542032" cy="246888"/>
          </a:xfrm>
          <a:prstGeom prst="rect">
            <a:avLst/>
          </a:prstGeom>
          <a:noFill/>
          <a:ln/>
        </p:spPr>
        <p:txBody>
          <a:bodyPr wrap="square" lIns="0" tIns="0" rIns="0" bIns="0" rtlCol="0" anchor="ctr"/>
          <a:lstStyle/>
          <a:p>
            <a:pPr indent="0" marL="0">
              <a:buNone/>
            </a:pPr>
            <a:r>
              <a:rPr lang="en-US" sz="850" dirty="0">
                <a:solidFill>
                  <a:srgbClr val="C8D6E5"/>
                </a:solidFill>
              </a:rPr>
              <a:t>Plotly fan charts (P10/P50/P90 display)</a:t>
            </a:r>
            <a:endParaRPr lang="en-US" sz="850" dirty="0"/>
          </a:p>
        </p:txBody>
      </p:sp>
      <p:sp>
        <p:nvSpPr>
          <p:cNvPr id="79" name="Shape 76"/>
          <p:cNvSpPr/>
          <p:nvPr/>
        </p:nvSpPr>
        <p:spPr>
          <a:xfrm>
            <a:off x="3255264" y="3941064"/>
            <a:ext cx="91440" cy="91440"/>
          </a:xfrm>
          <a:prstGeom prst="ellipse">
            <a:avLst/>
          </a:prstGeom>
          <a:solidFill>
            <a:srgbClr val="27AE60"/>
          </a:solidFill>
          <a:ln w="12700">
            <a:solidFill>
              <a:srgbClr val="27AE60"/>
            </a:solidFill>
            <a:prstDash val="solid"/>
          </a:ln>
        </p:spPr>
      </p:sp>
      <p:sp>
        <p:nvSpPr>
          <p:cNvPr id="80" name="Text 77"/>
          <p:cNvSpPr/>
          <p:nvPr/>
        </p:nvSpPr>
        <p:spPr>
          <a:xfrm>
            <a:off x="3401568" y="3913632"/>
            <a:ext cx="2542032" cy="246888"/>
          </a:xfrm>
          <a:prstGeom prst="rect">
            <a:avLst/>
          </a:prstGeom>
          <a:noFill/>
          <a:ln/>
        </p:spPr>
        <p:txBody>
          <a:bodyPr wrap="square" lIns="0" tIns="0" rIns="0" bIns="0" rtlCol="0" anchor="ctr"/>
          <a:lstStyle/>
          <a:p>
            <a:pPr indent="0" marL="0">
              <a:buNone/>
            </a:pPr>
            <a:r>
              <a:rPr lang="en-US" sz="850" dirty="0">
                <a:solidFill>
                  <a:srgbClr val="C8D6E5"/>
                </a:solidFill>
              </a:rPr>
              <a:t>Cytoscape.js supplier risk graph widget</a:t>
            </a:r>
            <a:endParaRPr lang="en-US" sz="850" dirty="0"/>
          </a:p>
        </p:txBody>
      </p:sp>
      <p:sp>
        <p:nvSpPr>
          <p:cNvPr id="81" name="Shape 78"/>
          <p:cNvSpPr/>
          <p:nvPr/>
        </p:nvSpPr>
        <p:spPr>
          <a:xfrm>
            <a:off x="3255264" y="4187952"/>
            <a:ext cx="91440" cy="91440"/>
          </a:xfrm>
          <a:prstGeom prst="ellipse">
            <a:avLst/>
          </a:prstGeom>
          <a:solidFill>
            <a:srgbClr val="27AE60"/>
          </a:solidFill>
          <a:ln w="12700">
            <a:solidFill>
              <a:srgbClr val="27AE60"/>
            </a:solidFill>
            <a:prstDash val="solid"/>
          </a:ln>
        </p:spPr>
      </p:sp>
      <p:sp>
        <p:nvSpPr>
          <p:cNvPr id="82" name="Text 79"/>
          <p:cNvSpPr/>
          <p:nvPr/>
        </p:nvSpPr>
        <p:spPr>
          <a:xfrm>
            <a:off x="3401568" y="4160520"/>
            <a:ext cx="2542032" cy="246888"/>
          </a:xfrm>
          <a:prstGeom prst="rect">
            <a:avLst/>
          </a:prstGeom>
          <a:noFill/>
          <a:ln/>
        </p:spPr>
        <p:txBody>
          <a:bodyPr wrap="square" lIns="0" tIns="0" rIns="0" bIns="0" rtlCol="0" anchor="ctr"/>
          <a:lstStyle/>
          <a:p>
            <a:pPr indent="0" marL="0">
              <a:buNone/>
            </a:pPr>
            <a:r>
              <a:rPr lang="en-US" sz="850" dirty="0">
                <a:solidFill>
                  <a:srgbClr val="C8D6E5"/>
                </a:solidFill>
              </a:rPr>
              <a:t>Disruption simulation toggle UI</a:t>
            </a:r>
            <a:endParaRPr lang="en-US" sz="850" dirty="0"/>
          </a:p>
        </p:txBody>
      </p:sp>
      <p:sp>
        <p:nvSpPr>
          <p:cNvPr id="83" name="Shape 80"/>
          <p:cNvSpPr/>
          <p:nvPr/>
        </p:nvSpPr>
        <p:spPr>
          <a:xfrm>
            <a:off x="3255264" y="4434840"/>
            <a:ext cx="91440" cy="91440"/>
          </a:xfrm>
          <a:prstGeom prst="ellipse">
            <a:avLst/>
          </a:prstGeom>
          <a:solidFill>
            <a:srgbClr val="27AE60"/>
          </a:solidFill>
          <a:ln w="12700">
            <a:solidFill>
              <a:srgbClr val="27AE60"/>
            </a:solidFill>
            <a:prstDash val="solid"/>
          </a:ln>
        </p:spPr>
      </p:sp>
      <p:sp>
        <p:nvSpPr>
          <p:cNvPr id="84" name="Text 81"/>
          <p:cNvSpPr/>
          <p:nvPr/>
        </p:nvSpPr>
        <p:spPr>
          <a:xfrm>
            <a:off x="3401568" y="4407408"/>
            <a:ext cx="2542032" cy="246888"/>
          </a:xfrm>
          <a:prstGeom prst="rect">
            <a:avLst/>
          </a:prstGeom>
          <a:noFill/>
          <a:ln/>
        </p:spPr>
        <p:txBody>
          <a:bodyPr wrap="square" lIns="0" tIns="0" rIns="0" bIns="0" rtlCol="0" anchor="ctr"/>
          <a:lstStyle/>
          <a:p>
            <a:pPr indent="0" marL="0">
              <a:buNone/>
            </a:pPr>
            <a:r>
              <a:rPr lang="en-US" sz="850" dirty="0">
                <a:solidFill>
                  <a:srgbClr val="C8D6E5"/>
                </a:solidFill>
              </a:rPr>
              <a:t>Docker container + offline demo mode</a:t>
            </a:r>
            <a:endParaRPr lang="en-US" sz="850" dirty="0"/>
          </a:p>
        </p:txBody>
      </p:sp>
      <p:sp>
        <p:nvSpPr>
          <p:cNvPr id="85" name="Shape 82"/>
          <p:cNvSpPr/>
          <p:nvPr/>
        </p:nvSpPr>
        <p:spPr>
          <a:xfrm>
            <a:off x="3236976" y="4727448"/>
            <a:ext cx="2688336" cy="274320"/>
          </a:xfrm>
          <a:prstGeom prst="rect">
            <a:avLst/>
          </a:prstGeom>
          <a:solidFill>
            <a:srgbClr val="27AE60">
              <a:alpha val="16000"/>
            </a:srgbClr>
          </a:solidFill>
          <a:ln w="6350">
            <a:solidFill>
              <a:srgbClr val="27AE60"/>
            </a:solidFill>
            <a:prstDash val="solid"/>
          </a:ln>
        </p:spPr>
      </p:sp>
      <p:sp>
        <p:nvSpPr>
          <p:cNvPr id="86" name="Text 83"/>
          <p:cNvSpPr/>
          <p:nvPr/>
        </p:nvSpPr>
        <p:spPr>
          <a:xfrm>
            <a:off x="3236976" y="4727448"/>
            <a:ext cx="2688336" cy="274320"/>
          </a:xfrm>
          <a:prstGeom prst="rect">
            <a:avLst/>
          </a:prstGeom>
          <a:noFill/>
          <a:ln/>
        </p:spPr>
        <p:txBody>
          <a:bodyPr wrap="square" lIns="12700" tIns="12700" rIns="12700" bIns="12700" rtlCol="0" anchor="ctr"/>
          <a:lstStyle/>
          <a:p>
            <a:pPr algn="ctr" indent="0" marL="0">
              <a:buNone/>
            </a:pPr>
            <a:r>
              <a:rPr lang="en-US" sz="800" b="1" dirty="0">
                <a:solidFill>
                  <a:srgbClr val="27AE60"/>
                </a:solidFill>
              </a:rPr>
              <a:t>Demo-ready web application</a:t>
            </a:r>
            <a:endParaRPr lang="en-US" sz="800" dirty="0"/>
          </a:p>
          <a:p>
            <a:pPr algn="ctr" indent="0" marL="0">
              <a:buNone/>
            </a:pPr>
            <a:r>
              <a:rPr lang="en-US" sz="800" b="1" dirty="0">
                <a:solidFill>
                  <a:srgbClr val="27AE60"/>
                </a:solidFill>
              </a:rPr>
              <a:t>6-step demo working</a:t>
            </a:r>
            <a:endParaRPr lang="en-US" sz="800" dirty="0"/>
          </a:p>
        </p:txBody>
      </p:sp>
      <p:sp>
        <p:nvSpPr>
          <p:cNvPr id="87" name="Shape 84"/>
          <p:cNvSpPr/>
          <p:nvPr/>
        </p:nvSpPr>
        <p:spPr>
          <a:xfrm>
            <a:off x="6144768" y="3044952"/>
            <a:ext cx="2880360" cy="2029968"/>
          </a:xfrm>
          <a:prstGeom prst="rect">
            <a:avLst/>
          </a:prstGeom>
          <a:solidFill>
            <a:srgbClr val="112240"/>
          </a:solidFill>
          <a:ln w="19050">
            <a:solidFill>
              <a:srgbClr val="C8D6E5"/>
            </a:solidFill>
            <a:prstDash val="solid"/>
          </a:ln>
        </p:spPr>
      </p:sp>
      <p:sp>
        <p:nvSpPr>
          <p:cNvPr id="88" name="Shape 85"/>
          <p:cNvSpPr/>
          <p:nvPr/>
        </p:nvSpPr>
        <p:spPr>
          <a:xfrm>
            <a:off x="6144768" y="3044952"/>
            <a:ext cx="2880360" cy="292608"/>
          </a:xfrm>
          <a:prstGeom prst="rect">
            <a:avLst/>
          </a:prstGeom>
          <a:solidFill>
            <a:srgbClr val="C8D6E5"/>
          </a:solidFill>
          <a:ln w="12700">
            <a:solidFill>
              <a:srgbClr val="C8D6E5"/>
            </a:solidFill>
            <a:prstDash val="solid"/>
          </a:ln>
        </p:spPr>
      </p:sp>
      <p:sp>
        <p:nvSpPr>
          <p:cNvPr id="89" name="Text 86"/>
          <p:cNvSpPr/>
          <p:nvPr/>
        </p:nvSpPr>
        <p:spPr>
          <a:xfrm>
            <a:off x="6217920" y="3044952"/>
            <a:ext cx="384048" cy="292608"/>
          </a:xfrm>
          <a:prstGeom prst="rect">
            <a:avLst/>
          </a:prstGeom>
          <a:noFill/>
          <a:ln/>
        </p:spPr>
        <p:txBody>
          <a:bodyPr wrap="square" lIns="0" tIns="0" rIns="0" bIns="0" rtlCol="0" anchor="ctr"/>
          <a:lstStyle/>
          <a:p>
            <a:pPr algn="ctr" indent="0" marL="0">
              <a:buNone/>
            </a:pPr>
            <a:r>
              <a:rPr lang="en-US" sz="1200" b="1" dirty="0">
                <a:solidFill>
                  <a:srgbClr val="0A1628"/>
                </a:solidFill>
              </a:rPr>
              <a:t>M6</a:t>
            </a:r>
            <a:endParaRPr lang="en-US" sz="1200" dirty="0"/>
          </a:p>
        </p:txBody>
      </p:sp>
      <p:sp>
        <p:nvSpPr>
          <p:cNvPr id="90" name="Text 87"/>
          <p:cNvSpPr/>
          <p:nvPr/>
        </p:nvSpPr>
        <p:spPr>
          <a:xfrm>
            <a:off x="6638544" y="3063240"/>
            <a:ext cx="2322576" cy="292608"/>
          </a:xfrm>
          <a:prstGeom prst="rect">
            <a:avLst/>
          </a:prstGeom>
          <a:noFill/>
          <a:ln/>
        </p:spPr>
        <p:txBody>
          <a:bodyPr wrap="square" lIns="0" tIns="0" rIns="0" bIns="0" rtlCol="0" anchor="ctr"/>
          <a:lstStyle/>
          <a:p>
            <a:pPr indent="0" marL="0">
              <a:buNone/>
            </a:pPr>
            <a:r>
              <a:rPr lang="en-US" sz="900" b="1" dirty="0">
                <a:solidFill>
                  <a:srgbClr val="0A1628"/>
                </a:solidFill>
              </a:rPr>
              <a:t>Evaluation &amp; Report  |  Jun 2026</a:t>
            </a:r>
            <a:endParaRPr lang="en-US" sz="900" dirty="0"/>
          </a:p>
        </p:txBody>
      </p:sp>
      <p:sp>
        <p:nvSpPr>
          <p:cNvPr id="91" name="Shape 88"/>
          <p:cNvSpPr/>
          <p:nvPr/>
        </p:nvSpPr>
        <p:spPr>
          <a:xfrm>
            <a:off x="6272784" y="3447288"/>
            <a:ext cx="91440" cy="91440"/>
          </a:xfrm>
          <a:prstGeom prst="ellipse">
            <a:avLst/>
          </a:prstGeom>
          <a:solidFill>
            <a:srgbClr val="C8D6E5"/>
          </a:solidFill>
          <a:ln w="12700">
            <a:solidFill>
              <a:srgbClr val="C8D6E5"/>
            </a:solidFill>
            <a:prstDash val="solid"/>
          </a:ln>
        </p:spPr>
      </p:sp>
      <p:sp>
        <p:nvSpPr>
          <p:cNvPr id="92" name="Text 89"/>
          <p:cNvSpPr/>
          <p:nvPr/>
        </p:nvSpPr>
        <p:spPr>
          <a:xfrm>
            <a:off x="6419088" y="3419856"/>
            <a:ext cx="2542032" cy="246888"/>
          </a:xfrm>
          <a:prstGeom prst="rect">
            <a:avLst/>
          </a:prstGeom>
          <a:noFill/>
          <a:ln/>
        </p:spPr>
        <p:txBody>
          <a:bodyPr wrap="square" lIns="0" tIns="0" rIns="0" bIns="0" rtlCol="0" anchor="ctr"/>
          <a:lstStyle/>
          <a:p>
            <a:pPr indent="0" marL="0">
              <a:buNone/>
            </a:pPr>
            <a:r>
              <a:rPr lang="en-US" sz="850" dirty="0">
                <a:solidFill>
                  <a:srgbClr val="C8D6E5"/>
                </a:solidFill>
              </a:rPr>
              <a:t>Final test set evaluation (all 8 metrics)</a:t>
            </a:r>
            <a:endParaRPr lang="en-US" sz="850" dirty="0"/>
          </a:p>
        </p:txBody>
      </p:sp>
      <p:sp>
        <p:nvSpPr>
          <p:cNvPr id="93" name="Shape 90"/>
          <p:cNvSpPr/>
          <p:nvPr/>
        </p:nvSpPr>
        <p:spPr>
          <a:xfrm>
            <a:off x="6272784" y="3694176"/>
            <a:ext cx="91440" cy="91440"/>
          </a:xfrm>
          <a:prstGeom prst="ellipse">
            <a:avLst/>
          </a:prstGeom>
          <a:solidFill>
            <a:srgbClr val="C8D6E5"/>
          </a:solidFill>
          <a:ln w="12700">
            <a:solidFill>
              <a:srgbClr val="C8D6E5"/>
            </a:solidFill>
            <a:prstDash val="solid"/>
          </a:ln>
        </p:spPr>
      </p:sp>
      <p:sp>
        <p:nvSpPr>
          <p:cNvPr id="94" name="Text 91"/>
          <p:cNvSpPr/>
          <p:nvPr/>
        </p:nvSpPr>
        <p:spPr>
          <a:xfrm>
            <a:off x="6419088" y="3666744"/>
            <a:ext cx="2542032" cy="246888"/>
          </a:xfrm>
          <a:prstGeom prst="rect">
            <a:avLst/>
          </a:prstGeom>
          <a:noFill/>
          <a:ln/>
        </p:spPr>
        <p:txBody>
          <a:bodyPr wrap="square" lIns="0" tIns="0" rIns="0" bIns="0" rtlCol="0" anchor="ctr"/>
          <a:lstStyle/>
          <a:p>
            <a:pPr indent="0" marL="0">
              <a:buNone/>
            </a:pPr>
            <a:r>
              <a:rPr lang="en-US" sz="850" dirty="0">
                <a:solidFill>
                  <a:srgbClr val="C8D6E5"/>
                </a:solidFill>
              </a:rPr>
              <a:t>Full project report (10,000 words)</a:t>
            </a:r>
            <a:endParaRPr lang="en-US" sz="850" dirty="0"/>
          </a:p>
        </p:txBody>
      </p:sp>
      <p:sp>
        <p:nvSpPr>
          <p:cNvPr id="95" name="Shape 92"/>
          <p:cNvSpPr/>
          <p:nvPr/>
        </p:nvSpPr>
        <p:spPr>
          <a:xfrm>
            <a:off x="6272784" y="3941064"/>
            <a:ext cx="91440" cy="91440"/>
          </a:xfrm>
          <a:prstGeom prst="ellipse">
            <a:avLst/>
          </a:prstGeom>
          <a:solidFill>
            <a:srgbClr val="C8D6E5"/>
          </a:solidFill>
          <a:ln w="12700">
            <a:solidFill>
              <a:srgbClr val="C8D6E5"/>
            </a:solidFill>
            <a:prstDash val="solid"/>
          </a:ln>
        </p:spPr>
      </p:sp>
      <p:sp>
        <p:nvSpPr>
          <p:cNvPr id="96" name="Text 93"/>
          <p:cNvSpPr/>
          <p:nvPr/>
        </p:nvSpPr>
        <p:spPr>
          <a:xfrm>
            <a:off x="6419088" y="3913632"/>
            <a:ext cx="2542032" cy="246888"/>
          </a:xfrm>
          <a:prstGeom prst="rect">
            <a:avLst/>
          </a:prstGeom>
          <a:noFill/>
          <a:ln/>
        </p:spPr>
        <p:txBody>
          <a:bodyPr wrap="square" lIns="0" tIns="0" rIns="0" bIns="0" rtlCol="0" anchor="ctr"/>
          <a:lstStyle/>
          <a:p>
            <a:pPr indent="0" marL="0">
              <a:buNone/>
            </a:pPr>
            <a:r>
              <a:rPr lang="en-US" sz="850" dirty="0">
                <a:solidFill>
                  <a:srgbClr val="C8D6E5"/>
                </a:solidFill>
              </a:rPr>
              <a:t>15-slide viva presentation</a:t>
            </a:r>
            <a:endParaRPr lang="en-US" sz="850" dirty="0"/>
          </a:p>
        </p:txBody>
      </p:sp>
      <p:sp>
        <p:nvSpPr>
          <p:cNvPr id="97" name="Shape 94"/>
          <p:cNvSpPr/>
          <p:nvPr/>
        </p:nvSpPr>
        <p:spPr>
          <a:xfrm>
            <a:off x="6272784" y="4187952"/>
            <a:ext cx="91440" cy="91440"/>
          </a:xfrm>
          <a:prstGeom prst="ellipse">
            <a:avLst/>
          </a:prstGeom>
          <a:solidFill>
            <a:srgbClr val="C8D6E5"/>
          </a:solidFill>
          <a:ln w="12700">
            <a:solidFill>
              <a:srgbClr val="C8D6E5"/>
            </a:solidFill>
            <a:prstDash val="solid"/>
          </a:ln>
        </p:spPr>
      </p:sp>
      <p:sp>
        <p:nvSpPr>
          <p:cNvPr id="98" name="Text 95"/>
          <p:cNvSpPr/>
          <p:nvPr/>
        </p:nvSpPr>
        <p:spPr>
          <a:xfrm>
            <a:off x="6419088" y="4160520"/>
            <a:ext cx="2542032" cy="246888"/>
          </a:xfrm>
          <a:prstGeom prst="rect">
            <a:avLst/>
          </a:prstGeom>
          <a:noFill/>
          <a:ln/>
        </p:spPr>
        <p:txBody>
          <a:bodyPr wrap="square" lIns="0" tIns="0" rIns="0" bIns="0" rtlCol="0" anchor="ctr"/>
          <a:lstStyle/>
          <a:p>
            <a:pPr indent="0" marL="0">
              <a:buNone/>
            </a:pPr>
            <a:r>
              <a:rPr lang="en-US" sz="850" dirty="0">
                <a:solidFill>
                  <a:srgbClr val="C8D6E5"/>
                </a:solidFill>
              </a:rPr>
              <a:t>IEEE 6-page paper draft for conference</a:t>
            </a:r>
            <a:endParaRPr lang="en-US" sz="850" dirty="0"/>
          </a:p>
        </p:txBody>
      </p:sp>
      <p:sp>
        <p:nvSpPr>
          <p:cNvPr id="99" name="Shape 96"/>
          <p:cNvSpPr/>
          <p:nvPr/>
        </p:nvSpPr>
        <p:spPr>
          <a:xfrm>
            <a:off x="6272784" y="4434840"/>
            <a:ext cx="91440" cy="91440"/>
          </a:xfrm>
          <a:prstGeom prst="ellipse">
            <a:avLst/>
          </a:prstGeom>
          <a:solidFill>
            <a:srgbClr val="C8D6E5"/>
          </a:solidFill>
          <a:ln w="12700">
            <a:solidFill>
              <a:srgbClr val="C8D6E5"/>
            </a:solidFill>
            <a:prstDash val="solid"/>
          </a:ln>
        </p:spPr>
      </p:sp>
      <p:sp>
        <p:nvSpPr>
          <p:cNvPr id="100" name="Text 97"/>
          <p:cNvSpPr/>
          <p:nvPr/>
        </p:nvSpPr>
        <p:spPr>
          <a:xfrm>
            <a:off x="6419088" y="4407408"/>
            <a:ext cx="2542032" cy="246888"/>
          </a:xfrm>
          <a:prstGeom prst="rect">
            <a:avLst/>
          </a:prstGeom>
          <a:noFill/>
          <a:ln/>
        </p:spPr>
        <p:txBody>
          <a:bodyPr wrap="square" lIns="0" tIns="0" rIns="0" bIns="0" rtlCol="0" anchor="ctr"/>
          <a:lstStyle/>
          <a:p>
            <a:pPr indent="0" marL="0">
              <a:buNone/>
            </a:pPr>
            <a:r>
              <a:rPr lang="en-US" sz="850" dirty="0">
                <a:solidFill>
                  <a:srgbClr val="C8D6E5"/>
                </a:solidFill>
              </a:rPr>
              <a:t>3-min demo video + GitHub publish</a:t>
            </a:r>
            <a:endParaRPr lang="en-US" sz="850" dirty="0"/>
          </a:p>
        </p:txBody>
      </p:sp>
      <p:sp>
        <p:nvSpPr>
          <p:cNvPr id="101" name="Shape 98"/>
          <p:cNvSpPr/>
          <p:nvPr/>
        </p:nvSpPr>
        <p:spPr>
          <a:xfrm>
            <a:off x="6254496" y="4727448"/>
            <a:ext cx="2688336" cy="274320"/>
          </a:xfrm>
          <a:prstGeom prst="rect">
            <a:avLst/>
          </a:prstGeom>
          <a:solidFill>
            <a:srgbClr val="C8D6E5">
              <a:alpha val="16000"/>
            </a:srgbClr>
          </a:solidFill>
          <a:ln w="6350">
            <a:solidFill>
              <a:srgbClr val="C8D6E5"/>
            </a:solidFill>
            <a:prstDash val="solid"/>
          </a:ln>
        </p:spPr>
      </p:sp>
      <p:sp>
        <p:nvSpPr>
          <p:cNvPr id="102" name="Text 99"/>
          <p:cNvSpPr/>
          <p:nvPr/>
        </p:nvSpPr>
        <p:spPr>
          <a:xfrm>
            <a:off x="6254496" y="4727448"/>
            <a:ext cx="2688336" cy="274320"/>
          </a:xfrm>
          <a:prstGeom prst="rect">
            <a:avLst/>
          </a:prstGeom>
          <a:noFill/>
          <a:ln/>
        </p:spPr>
        <p:txBody>
          <a:bodyPr wrap="square" lIns="12700" tIns="12700" rIns="12700" bIns="12700" rtlCol="0" anchor="ctr"/>
          <a:lstStyle/>
          <a:p>
            <a:pPr algn="ctr" indent="0" marL="0">
              <a:buNone/>
            </a:pPr>
            <a:r>
              <a:rPr lang="en-US" sz="800" b="1" dirty="0">
                <a:solidFill>
                  <a:srgbClr val="C8D6E5"/>
                </a:solidFill>
              </a:rPr>
              <a:t>Viva-ready</a:t>
            </a:r>
            <a:endParaRPr lang="en-US" sz="800" dirty="0"/>
          </a:p>
          <a:p>
            <a:pPr algn="ctr" indent="0" marL="0">
              <a:buNone/>
            </a:pPr>
            <a:r>
              <a:rPr lang="en-US" sz="800" b="1" dirty="0">
                <a:solidFill>
                  <a:srgbClr val="C8D6E5"/>
                </a:solidFill>
              </a:rPr>
              <a:t>Conference paper draft</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12240"/>
          </a:solidFill>
          <a:ln w="12700">
            <a:solidFill>
              <a:srgbClr val="112240"/>
            </a:solidFill>
            <a:prstDash val="solid"/>
          </a:ln>
        </p:spPr>
      </p:sp>
      <p:sp>
        <p:nvSpPr>
          <p:cNvPr id="3" name="Shape 1"/>
          <p:cNvSpPr/>
          <p:nvPr/>
        </p:nvSpPr>
        <p:spPr>
          <a:xfrm>
            <a:off x="0" y="0"/>
            <a:ext cx="54864" cy="804672"/>
          </a:xfrm>
          <a:prstGeom prst="rect">
            <a:avLst/>
          </a:prstGeom>
          <a:solidFill>
            <a:srgbClr val="0D9B8A"/>
          </a:solidFill>
          <a:ln w="12700">
            <a:solidFill>
              <a:srgbClr val="0D9B8A"/>
            </a:solidFill>
            <a:prstDash val="solid"/>
          </a:ln>
        </p:spPr>
      </p:sp>
      <p:pic>
        <p:nvPicPr>
          <p:cNvPr id="4" name="Image 0" descr="preencoded.png">    </p:cNvPr>
          <p:cNvPicPr>
            <a:picLocks noChangeAspect="1"/>
          </p:cNvPicPr>
          <p:nvPr/>
        </p:nvPicPr>
        <p:blipFill>
          <a:blip r:embed="rId1"/>
          <a:stretch>
            <a:fillRect/>
          </a:stretch>
        </p:blipFill>
        <p:spPr>
          <a:xfrm>
            <a:off x="182880" y="182880"/>
            <a:ext cx="420624" cy="420624"/>
          </a:xfrm>
          <a:prstGeom prst="rect">
            <a:avLst/>
          </a:prstGeom>
        </p:spPr>
      </p:pic>
      <p:sp>
        <p:nvSpPr>
          <p:cNvPr id="5" name="Text 2"/>
          <p:cNvSpPr/>
          <p:nvPr/>
        </p:nvSpPr>
        <p:spPr>
          <a:xfrm>
            <a:off x="749808" y="54864"/>
            <a:ext cx="7315200" cy="329184"/>
          </a:xfrm>
          <a:prstGeom prst="rect">
            <a:avLst/>
          </a:prstGeom>
          <a:noFill/>
          <a:ln/>
        </p:spPr>
        <p:txBody>
          <a:bodyPr wrap="square" lIns="0" tIns="0" rIns="0" bIns="0" rtlCol="0" anchor="ctr"/>
          <a:lstStyle/>
          <a:p>
            <a:pPr indent="0" marL="0">
              <a:buNone/>
            </a:pPr>
            <a:r>
              <a:rPr lang="en-US" sz="1100" b="1" spc="400" kern="0" dirty="0">
                <a:solidFill>
                  <a:srgbClr val="0D9B8A"/>
                </a:solidFill>
              </a:rPr>
              <a:t>LIVE DEMO SETUP</a:t>
            </a:r>
            <a:endParaRPr lang="en-US" sz="1100" dirty="0"/>
          </a:p>
        </p:txBody>
      </p:sp>
      <p:sp>
        <p:nvSpPr>
          <p:cNvPr id="6" name="Text 3"/>
          <p:cNvSpPr/>
          <p:nvPr/>
        </p:nvSpPr>
        <p:spPr>
          <a:xfrm>
            <a:off x="749808" y="402336"/>
            <a:ext cx="8229600" cy="292608"/>
          </a:xfrm>
          <a:prstGeom prst="rect">
            <a:avLst/>
          </a:prstGeom>
          <a:noFill/>
          <a:ln/>
        </p:spPr>
        <p:txBody>
          <a:bodyPr wrap="square" lIns="0" tIns="0" rIns="0" bIns="0" rtlCol="0" anchor="ctr"/>
          <a:lstStyle/>
          <a:p>
            <a:pPr indent="0" marL="0">
              <a:buNone/>
            </a:pPr>
            <a:r>
              <a:rPr lang="en-US" sz="1200" dirty="0">
                <a:solidFill>
                  <a:srgbClr val="C8D6E5"/>
                </a:solidFill>
              </a:rPr>
              <a:t>5-step demo script  |  Under 4 minutes  |  Runs fully offline on any laptop  |  CSV inputs only</a:t>
            </a:r>
            <a:endParaRPr lang="en-US" sz="1200" dirty="0"/>
          </a:p>
        </p:txBody>
      </p:sp>
      <p:sp>
        <p:nvSpPr>
          <p:cNvPr id="7" name="Shape 4"/>
          <p:cNvSpPr/>
          <p:nvPr/>
        </p:nvSpPr>
        <p:spPr>
          <a:xfrm>
            <a:off x="182880" y="896112"/>
            <a:ext cx="4279392" cy="1371600"/>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8" name="Shape 5"/>
          <p:cNvSpPr/>
          <p:nvPr/>
        </p:nvSpPr>
        <p:spPr>
          <a:xfrm>
            <a:off x="182880" y="896112"/>
            <a:ext cx="4279392" cy="64008"/>
          </a:xfrm>
          <a:prstGeom prst="rect">
            <a:avLst/>
          </a:prstGeom>
          <a:solidFill>
            <a:srgbClr val="0D9B8A"/>
          </a:solidFill>
          <a:ln w="12700">
            <a:solidFill>
              <a:srgbClr val="0D9B8A"/>
            </a:solidFill>
            <a:prstDash val="solid"/>
          </a:ln>
        </p:spPr>
      </p:sp>
      <p:sp>
        <p:nvSpPr>
          <p:cNvPr id="9" name="Shape 6"/>
          <p:cNvSpPr/>
          <p:nvPr/>
        </p:nvSpPr>
        <p:spPr>
          <a:xfrm>
            <a:off x="310896" y="1024128"/>
            <a:ext cx="384048" cy="384048"/>
          </a:xfrm>
          <a:prstGeom prst="ellipse">
            <a:avLst/>
          </a:prstGeom>
          <a:solidFill>
            <a:srgbClr val="0D9B8A"/>
          </a:solidFill>
          <a:ln w="12700">
            <a:solidFill>
              <a:srgbClr val="0D9B8A"/>
            </a:solidFill>
            <a:prstDash val="solid"/>
          </a:ln>
        </p:spPr>
      </p:sp>
      <p:sp>
        <p:nvSpPr>
          <p:cNvPr id="10" name="Text 7"/>
          <p:cNvSpPr/>
          <p:nvPr/>
        </p:nvSpPr>
        <p:spPr>
          <a:xfrm>
            <a:off x="310896" y="10241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pic>
        <p:nvPicPr>
          <p:cNvPr id="11" name="Image 1" descr="preencoded.png">    </p:cNvPr>
          <p:cNvPicPr>
            <a:picLocks noChangeAspect="1"/>
          </p:cNvPicPr>
          <p:nvPr/>
        </p:nvPicPr>
        <p:blipFill>
          <a:blip r:embed="rId2"/>
          <a:stretch>
            <a:fillRect/>
          </a:stretch>
        </p:blipFill>
        <p:spPr>
          <a:xfrm>
            <a:off x="777240" y="1042416"/>
            <a:ext cx="274320" cy="274320"/>
          </a:xfrm>
          <a:prstGeom prst="rect">
            <a:avLst/>
          </a:prstGeom>
        </p:spPr>
      </p:pic>
      <p:sp>
        <p:nvSpPr>
          <p:cNvPr id="12" name="Text 8"/>
          <p:cNvSpPr/>
          <p:nvPr/>
        </p:nvSpPr>
        <p:spPr>
          <a:xfrm>
            <a:off x="1133856" y="1033272"/>
            <a:ext cx="3182112" cy="310896"/>
          </a:xfrm>
          <a:prstGeom prst="rect">
            <a:avLst/>
          </a:prstGeom>
          <a:noFill/>
          <a:ln/>
        </p:spPr>
        <p:txBody>
          <a:bodyPr wrap="square" lIns="0" tIns="0" rIns="0" bIns="0" rtlCol="0" anchor="ctr"/>
          <a:lstStyle/>
          <a:p>
            <a:pPr indent="0" marL="0">
              <a:buNone/>
            </a:pPr>
            <a:r>
              <a:rPr lang="en-US" sz="1100" b="1" dirty="0">
                <a:solidFill>
                  <a:srgbClr val="1A2B42"/>
                </a:solidFill>
              </a:rPr>
              <a:t>Upload Procurement CSV</a:t>
            </a:r>
            <a:endParaRPr lang="en-US" sz="1100" dirty="0"/>
          </a:p>
        </p:txBody>
      </p:sp>
      <p:sp>
        <p:nvSpPr>
          <p:cNvPr id="13" name="Text 9"/>
          <p:cNvSpPr/>
          <p:nvPr/>
        </p:nvSpPr>
        <p:spPr>
          <a:xfrm>
            <a:off x="310896" y="1426464"/>
            <a:ext cx="4023360" cy="603504"/>
          </a:xfrm>
          <a:prstGeom prst="rect">
            <a:avLst/>
          </a:prstGeom>
          <a:noFill/>
          <a:ln/>
        </p:spPr>
        <p:txBody>
          <a:bodyPr wrap="square" lIns="0" tIns="0" rIns="0" bIns="0" rtlCol="0" anchor="ctr"/>
          <a:lstStyle/>
          <a:p>
            <a:pPr indent="0" marL="0">
              <a:buNone/>
            </a:pPr>
            <a:r>
              <a:rPr lang="en-US" sz="900" dirty="0">
                <a:solidFill>
                  <a:srgbClr val="8899AA"/>
                </a:solidFill>
              </a:rPr>
              <a:t>Upload the 2-year hospital drug procurement CSV (50 drugs, pre-prepared demo file). System processes in ~2 seconds and displays the full drug inventory table with 45-day shortage risk — traffic lights (green/amber/red) per drug, top-5 at-risk drugs highlighted, reorder recommendations for critical items. Fan chart appears for any selected drug.</a:t>
            </a:r>
            <a:endParaRPr lang="en-US" sz="900" dirty="0"/>
          </a:p>
        </p:txBody>
      </p:sp>
      <p:sp>
        <p:nvSpPr>
          <p:cNvPr id="14" name="Text 10"/>
          <p:cNvSpPr/>
          <p:nvPr/>
        </p:nvSpPr>
        <p:spPr>
          <a:xfrm>
            <a:off x="310896" y="2048256"/>
            <a:ext cx="4023360" cy="182880"/>
          </a:xfrm>
          <a:prstGeom prst="rect">
            <a:avLst/>
          </a:prstGeom>
          <a:noFill/>
          <a:ln/>
        </p:spPr>
        <p:txBody>
          <a:bodyPr wrap="square" lIns="0" tIns="0" rIns="0" bIns="0" rtlCol="0" anchor="ctr"/>
          <a:lstStyle/>
          <a:p>
            <a:pPr indent="0" marL="0">
              <a:buNone/>
            </a:pPr>
            <a:r>
              <a:rPr lang="en-US" sz="800" i="1" dirty="0">
                <a:solidFill>
                  <a:srgbClr val="0D9B8A"/>
                </a:solidFill>
              </a:rPr>
              <a:t>Tip: Pre-sort the demo CSV so insulin and amoxicillin appear at the top — they will be the HIGH risk examples that draw attention immediately.</a:t>
            </a:r>
            <a:endParaRPr lang="en-US" sz="800" dirty="0"/>
          </a:p>
        </p:txBody>
      </p:sp>
      <p:sp>
        <p:nvSpPr>
          <p:cNvPr id="15" name="Shape 11"/>
          <p:cNvSpPr/>
          <p:nvPr/>
        </p:nvSpPr>
        <p:spPr>
          <a:xfrm>
            <a:off x="4681728" y="896112"/>
            <a:ext cx="4279392" cy="1371600"/>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16" name="Shape 12"/>
          <p:cNvSpPr/>
          <p:nvPr/>
        </p:nvSpPr>
        <p:spPr>
          <a:xfrm>
            <a:off x="4681728" y="896112"/>
            <a:ext cx="4279392" cy="64008"/>
          </a:xfrm>
          <a:prstGeom prst="rect">
            <a:avLst/>
          </a:prstGeom>
          <a:solidFill>
            <a:srgbClr val="7B52AB"/>
          </a:solidFill>
          <a:ln w="12700">
            <a:solidFill>
              <a:srgbClr val="7B52AB"/>
            </a:solidFill>
            <a:prstDash val="solid"/>
          </a:ln>
        </p:spPr>
      </p:sp>
      <p:sp>
        <p:nvSpPr>
          <p:cNvPr id="17" name="Shape 13"/>
          <p:cNvSpPr/>
          <p:nvPr/>
        </p:nvSpPr>
        <p:spPr>
          <a:xfrm>
            <a:off x="4809744" y="1024128"/>
            <a:ext cx="384048" cy="384048"/>
          </a:xfrm>
          <a:prstGeom prst="ellipse">
            <a:avLst/>
          </a:prstGeom>
          <a:solidFill>
            <a:srgbClr val="7B52AB"/>
          </a:solidFill>
          <a:ln w="12700">
            <a:solidFill>
              <a:srgbClr val="7B52AB"/>
            </a:solidFill>
            <a:prstDash val="solid"/>
          </a:ln>
        </p:spPr>
      </p:sp>
      <p:sp>
        <p:nvSpPr>
          <p:cNvPr id="18" name="Text 14"/>
          <p:cNvSpPr/>
          <p:nvPr/>
        </p:nvSpPr>
        <p:spPr>
          <a:xfrm>
            <a:off x="4809744" y="10241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pic>
        <p:nvPicPr>
          <p:cNvPr id="19" name="Image 2" descr="preencoded.png">    </p:cNvPr>
          <p:cNvPicPr>
            <a:picLocks noChangeAspect="1"/>
          </p:cNvPicPr>
          <p:nvPr/>
        </p:nvPicPr>
        <p:blipFill>
          <a:blip r:embed="rId3"/>
          <a:stretch>
            <a:fillRect/>
          </a:stretch>
        </p:blipFill>
        <p:spPr>
          <a:xfrm>
            <a:off x="5276088" y="1042416"/>
            <a:ext cx="274320" cy="274320"/>
          </a:xfrm>
          <a:prstGeom prst="rect">
            <a:avLst/>
          </a:prstGeom>
        </p:spPr>
      </p:pic>
      <p:sp>
        <p:nvSpPr>
          <p:cNvPr id="20" name="Text 15"/>
          <p:cNvSpPr/>
          <p:nvPr/>
        </p:nvSpPr>
        <p:spPr>
          <a:xfrm>
            <a:off x="5632704" y="1033272"/>
            <a:ext cx="3182112" cy="310896"/>
          </a:xfrm>
          <a:prstGeom prst="rect">
            <a:avLst/>
          </a:prstGeom>
          <a:noFill/>
          <a:ln/>
        </p:spPr>
        <p:txBody>
          <a:bodyPr wrap="square" lIns="0" tIns="0" rIns="0" bIns="0" rtlCol="0" anchor="ctr"/>
          <a:lstStyle/>
          <a:p>
            <a:pPr indent="0" marL="0">
              <a:buNone/>
            </a:pPr>
            <a:r>
              <a:rPr lang="en-US" sz="1100" b="1" dirty="0">
                <a:solidFill>
                  <a:srgbClr val="1A2B42"/>
                </a:solidFill>
              </a:rPr>
              <a:t>Explore Probabilistic Forecast Fan</a:t>
            </a:r>
            <a:endParaRPr lang="en-US" sz="1100" dirty="0"/>
          </a:p>
        </p:txBody>
      </p:sp>
      <p:sp>
        <p:nvSpPr>
          <p:cNvPr id="21" name="Text 16"/>
          <p:cNvSpPr/>
          <p:nvPr/>
        </p:nvSpPr>
        <p:spPr>
          <a:xfrm>
            <a:off x="4809744" y="1426464"/>
            <a:ext cx="4023360" cy="603504"/>
          </a:xfrm>
          <a:prstGeom prst="rect">
            <a:avLst/>
          </a:prstGeom>
          <a:noFill/>
          <a:ln/>
        </p:spPr>
        <p:txBody>
          <a:bodyPr wrap="square" lIns="0" tIns="0" rIns="0" bIns="0" rtlCol="0" anchor="ctr"/>
          <a:lstStyle/>
          <a:p>
            <a:pPr indent="0" marL="0">
              <a:buNone/>
            </a:pPr>
            <a:r>
              <a:rPr lang="en-US" sz="900" dirty="0">
                <a:solidFill>
                  <a:srgbClr val="8899AA"/>
                </a:solidFill>
              </a:rPr>
              <a:t>Click on any high-risk drug. The P10/P50/P90 forecast fan chart appears — showing not just 'shortage expected' but the full probability distribution. Drag the service level slider: set to 95% service level → system calculates optimal safety stock automatically. Show how the reorder quantity changes as service level changes.</a:t>
            </a:r>
            <a:endParaRPr lang="en-US" sz="900" dirty="0"/>
          </a:p>
        </p:txBody>
      </p:sp>
      <p:sp>
        <p:nvSpPr>
          <p:cNvPr id="22" name="Text 17"/>
          <p:cNvSpPr/>
          <p:nvPr/>
        </p:nvSpPr>
        <p:spPr>
          <a:xfrm>
            <a:off x="4809744" y="2048256"/>
            <a:ext cx="4023360" cy="182880"/>
          </a:xfrm>
          <a:prstGeom prst="rect">
            <a:avLst/>
          </a:prstGeom>
          <a:noFill/>
          <a:ln/>
        </p:spPr>
        <p:txBody>
          <a:bodyPr wrap="square" lIns="0" tIns="0" rIns="0" bIns="0" rtlCol="0" anchor="ctr"/>
          <a:lstStyle/>
          <a:p>
            <a:pPr indent="0" marL="0">
              <a:buNone/>
            </a:pPr>
            <a:r>
              <a:rPr lang="en-US" sz="800" i="1" dirty="0">
                <a:solidFill>
                  <a:srgbClr val="7B52AB"/>
                </a:solidFill>
              </a:rPr>
              <a:t>Tip: Contrast this with the baseline — show the Springer 2023 paper's single probability number vs your fan chart. The difference is immediately obvious.</a:t>
            </a:r>
            <a:endParaRPr lang="en-US" sz="800" dirty="0"/>
          </a:p>
        </p:txBody>
      </p:sp>
      <p:sp>
        <p:nvSpPr>
          <p:cNvPr id="23" name="Shape 18"/>
          <p:cNvSpPr/>
          <p:nvPr/>
        </p:nvSpPr>
        <p:spPr>
          <a:xfrm>
            <a:off x="182880" y="2377440"/>
            <a:ext cx="4279392" cy="1371600"/>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24" name="Shape 19"/>
          <p:cNvSpPr/>
          <p:nvPr/>
        </p:nvSpPr>
        <p:spPr>
          <a:xfrm>
            <a:off x="182880" y="2377440"/>
            <a:ext cx="4279392" cy="64008"/>
          </a:xfrm>
          <a:prstGeom prst="rect">
            <a:avLst/>
          </a:prstGeom>
          <a:solidFill>
            <a:srgbClr val="2E86DE"/>
          </a:solidFill>
          <a:ln w="12700">
            <a:solidFill>
              <a:srgbClr val="2E86DE"/>
            </a:solidFill>
            <a:prstDash val="solid"/>
          </a:ln>
        </p:spPr>
      </p:sp>
      <p:sp>
        <p:nvSpPr>
          <p:cNvPr id="25" name="Shape 20"/>
          <p:cNvSpPr/>
          <p:nvPr/>
        </p:nvSpPr>
        <p:spPr>
          <a:xfrm>
            <a:off x="310896" y="2505456"/>
            <a:ext cx="384048" cy="384048"/>
          </a:xfrm>
          <a:prstGeom prst="ellipse">
            <a:avLst/>
          </a:prstGeom>
          <a:solidFill>
            <a:srgbClr val="2E86DE"/>
          </a:solidFill>
          <a:ln w="12700">
            <a:solidFill>
              <a:srgbClr val="2E86DE"/>
            </a:solidFill>
            <a:prstDash val="solid"/>
          </a:ln>
        </p:spPr>
      </p:sp>
      <p:sp>
        <p:nvSpPr>
          <p:cNvPr id="26" name="Text 21"/>
          <p:cNvSpPr/>
          <p:nvPr/>
        </p:nvSpPr>
        <p:spPr>
          <a:xfrm>
            <a:off x="310896" y="250545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pic>
        <p:nvPicPr>
          <p:cNvPr id="27" name="Image 3" descr="preencoded.png">    </p:cNvPr>
          <p:cNvPicPr>
            <a:picLocks noChangeAspect="1"/>
          </p:cNvPicPr>
          <p:nvPr/>
        </p:nvPicPr>
        <p:blipFill>
          <a:blip r:embed="rId4"/>
          <a:stretch>
            <a:fillRect/>
          </a:stretch>
        </p:blipFill>
        <p:spPr>
          <a:xfrm>
            <a:off x="777240" y="2523744"/>
            <a:ext cx="274320" cy="274320"/>
          </a:xfrm>
          <a:prstGeom prst="rect">
            <a:avLst/>
          </a:prstGeom>
        </p:spPr>
      </p:pic>
      <p:sp>
        <p:nvSpPr>
          <p:cNvPr id="28" name="Text 22"/>
          <p:cNvSpPr/>
          <p:nvPr/>
        </p:nvSpPr>
        <p:spPr>
          <a:xfrm>
            <a:off x="1133856" y="2514600"/>
            <a:ext cx="3182112" cy="310896"/>
          </a:xfrm>
          <a:prstGeom prst="rect">
            <a:avLst/>
          </a:prstGeom>
          <a:noFill/>
          <a:ln/>
        </p:spPr>
        <p:txBody>
          <a:bodyPr wrap="square" lIns="0" tIns="0" rIns="0" bIns="0" rtlCol="0" anchor="ctr"/>
          <a:lstStyle/>
          <a:p>
            <a:pPr indent="0" marL="0">
              <a:buNone/>
            </a:pPr>
            <a:r>
              <a:rPr lang="en-US" sz="1100" b="1" dirty="0">
                <a:solidFill>
                  <a:srgbClr val="1A2B42"/>
                </a:solidFill>
              </a:rPr>
              <a:t>Variable Selection Explainability</a:t>
            </a:r>
            <a:endParaRPr lang="en-US" sz="1100" dirty="0"/>
          </a:p>
        </p:txBody>
      </p:sp>
      <p:sp>
        <p:nvSpPr>
          <p:cNvPr id="29" name="Text 23"/>
          <p:cNvSpPr/>
          <p:nvPr/>
        </p:nvSpPr>
        <p:spPr>
          <a:xfrm>
            <a:off x="310896" y="2907792"/>
            <a:ext cx="4023360" cy="603504"/>
          </a:xfrm>
          <a:prstGeom prst="rect">
            <a:avLst/>
          </a:prstGeom>
          <a:noFill/>
          <a:ln/>
        </p:spPr>
        <p:txBody>
          <a:bodyPr wrap="square" lIns="0" tIns="0" rIns="0" bIns="0" rtlCol="0" anchor="ctr"/>
          <a:lstStyle/>
          <a:p>
            <a:pPr indent="0" marL="0">
              <a:buNone/>
            </a:pPr>
            <a:r>
              <a:rPr lang="en-US" sz="900" dirty="0">
                <a:solidFill>
                  <a:srgbClr val="8899AA"/>
                </a:solidFill>
              </a:rPr>
              <a:t>Click 'Explain this forecast' on any drug. The variable importance panel shows which inputs drove the prediction: 'Lead time variance is the #1 risk signal for this drug (38%), followed by seasonal demand spike (27%) and supplier reliability drop (19%)'. Show two different drugs where different variables dominate — proves the model learned drug-specific patterns.</a:t>
            </a:r>
            <a:endParaRPr lang="en-US" sz="900" dirty="0"/>
          </a:p>
        </p:txBody>
      </p:sp>
      <p:sp>
        <p:nvSpPr>
          <p:cNvPr id="30" name="Text 24"/>
          <p:cNvSpPr/>
          <p:nvPr/>
        </p:nvSpPr>
        <p:spPr>
          <a:xfrm>
            <a:off x="310896" y="3529584"/>
            <a:ext cx="4023360" cy="182880"/>
          </a:xfrm>
          <a:prstGeom prst="rect">
            <a:avLst/>
          </a:prstGeom>
          <a:noFill/>
          <a:ln/>
        </p:spPr>
        <p:txBody>
          <a:bodyPr wrap="square" lIns="0" tIns="0" rIns="0" bIns="0" rtlCol="0" anchor="ctr"/>
          <a:lstStyle/>
          <a:p>
            <a:pPr indent="0" marL="0">
              <a:buNone/>
            </a:pPr>
            <a:r>
              <a:rPr lang="en-US" sz="800" i="1" dirty="0">
                <a:solidFill>
                  <a:srgbClr val="2E86DE"/>
                </a:solidFill>
              </a:rPr>
              <a:t>Tip: This directly demonstrates the TFT variable selection network — a key novelty claim. Show that a basic model cannot produce this explanation.</a:t>
            </a:r>
            <a:endParaRPr lang="en-US" sz="800" dirty="0"/>
          </a:p>
        </p:txBody>
      </p:sp>
      <p:sp>
        <p:nvSpPr>
          <p:cNvPr id="31" name="Shape 25"/>
          <p:cNvSpPr/>
          <p:nvPr/>
        </p:nvSpPr>
        <p:spPr>
          <a:xfrm>
            <a:off x="4681728" y="2377440"/>
            <a:ext cx="4279392" cy="1371600"/>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32" name="Shape 26"/>
          <p:cNvSpPr/>
          <p:nvPr/>
        </p:nvSpPr>
        <p:spPr>
          <a:xfrm>
            <a:off x="4681728" y="2377440"/>
            <a:ext cx="4279392" cy="64008"/>
          </a:xfrm>
          <a:prstGeom prst="rect">
            <a:avLst/>
          </a:prstGeom>
          <a:solidFill>
            <a:srgbClr val="F0A500"/>
          </a:solidFill>
          <a:ln w="12700">
            <a:solidFill>
              <a:srgbClr val="F0A500"/>
            </a:solidFill>
            <a:prstDash val="solid"/>
          </a:ln>
        </p:spPr>
      </p:sp>
      <p:sp>
        <p:nvSpPr>
          <p:cNvPr id="33" name="Shape 27"/>
          <p:cNvSpPr/>
          <p:nvPr/>
        </p:nvSpPr>
        <p:spPr>
          <a:xfrm>
            <a:off x="4809744" y="2505456"/>
            <a:ext cx="384048" cy="384048"/>
          </a:xfrm>
          <a:prstGeom prst="ellipse">
            <a:avLst/>
          </a:prstGeom>
          <a:solidFill>
            <a:srgbClr val="F0A500"/>
          </a:solidFill>
          <a:ln w="12700">
            <a:solidFill>
              <a:srgbClr val="F0A500"/>
            </a:solidFill>
            <a:prstDash val="solid"/>
          </a:ln>
        </p:spPr>
      </p:sp>
      <p:sp>
        <p:nvSpPr>
          <p:cNvPr id="34" name="Text 28"/>
          <p:cNvSpPr/>
          <p:nvPr/>
        </p:nvSpPr>
        <p:spPr>
          <a:xfrm>
            <a:off x="4809744" y="250545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pic>
        <p:nvPicPr>
          <p:cNvPr id="35" name="Image 4" descr="preencoded.png">    </p:cNvPr>
          <p:cNvPicPr>
            <a:picLocks noChangeAspect="1"/>
          </p:cNvPicPr>
          <p:nvPr/>
        </p:nvPicPr>
        <p:blipFill>
          <a:blip r:embed="rId5"/>
          <a:stretch>
            <a:fillRect/>
          </a:stretch>
        </p:blipFill>
        <p:spPr>
          <a:xfrm>
            <a:off x="5276088" y="2523744"/>
            <a:ext cx="274320" cy="274320"/>
          </a:xfrm>
          <a:prstGeom prst="rect">
            <a:avLst/>
          </a:prstGeom>
        </p:spPr>
      </p:pic>
      <p:sp>
        <p:nvSpPr>
          <p:cNvPr id="36" name="Text 29"/>
          <p:cNvSpPr/>
          <p:nvPr/>
        </p:nvSpPr>
        <p:spPr>
          <a:xfrm>
            <a:off x="5632704" y="2514600"/>
            <a:ext cx="3182112" cy="310896"/>
          </a:xfrm>
          <a:prstGeom prst="rect">
            <a:avLst/>
          </a:prstGeom>
          <a:noFill/>
          <a:ln/>
        </p:spPr>
        <p:txBody>
          <a:bodyPr wrap="square" lIns="0" tIns="0" rIns="0" bIns="0" rtlCol="0" anchor="ctr"/>
          <a:lstStyle/>
          <a:p>
            <a:pPr indent="0" marL="0">
              <a:buNone/>
            </a:pPr>
            <a:r>
              <a:rPr lang="en-US" sz="1100" b="1" dirty="0">
                <a:solidFill>
                  <a:srgbClr val="1A2B42"/>
                </a:solidFill>
              </a:rPr>
              <a:t>Supplier Disruption Simulation</a:t>
            </a:r>
            <a:endParaRPr lang="en-US" sz="1100" dirty="0"/>
          </a:p>
        </p:txBody>
      </p:sp>
      <p:sp>
        <p:nvSpPr>
          <p:cNvPr id="37" name="Text 30"/>
          <p:cNvSpPr/>
          <p:nvPr/>
        </p:nvSpPr>
        <p:spPr>
          <a:xfrm>
            <a:off x="4809744" y="2907792"/>
            <a:ext cx="4023360" cy="603504"/>
          </a:xfrm>
          <a:prstGeom prst="rect">
            <a:avLst/>
          </a:prstGeom>
          <a:noFill/>
          <a:ln/>
        </p:spPr>
        <p:txBody>
          <a:bodyPr wrap="square" lIns="0" tIns="0" rIns="0" bIns="0" rtlCol="0" anchor="ctr"/>
          <a:lstStyle/>
          <a:p>
            <a:pPr indent="0" marL="0">
              <a:buNone/>
            </a:pPr>
            <a:r>
              <a:rPr lang="en-US" sz="900" dirty="0">
                <a:solidFill>
                  <a:srgbClr val="8899AA"/>
                </a:solidFill>
              </a:rPr>
              <a:t>Navigate to the Supplier Risk Graph tab. Show the live supplier network — manufacturers and distributors as nodes, supply relationships as edges, each node colour-coded by reliability score. Toggle 'Insulin distributor X — offline 14 days'. Watch the shortage risk of insulin and related drugs update simultaneously in real time. Show the cascade through the graph.</a:t>
            </a:r>
            <a:endParaRPr lang="en-US" sz="900" dirty="0"/>
          </a:p>
        </p:txBody>
      </p:sp>
      <p:sp>
        <p:nvSpPr>
          <p:cNvPr id="38" name="Text 31"/>
          <p:cNvSpPr/>
          <p:nvPr/>
        </p:nvSpPr>
        <p:spPr>
          <a:xfrm>
            <a:off x="4809744" y="3529584"/>
            <a:ext cx="4023360" cy="182880"/>
          </a:xfrm>
          <a:prstGeom prst="rect">
            <a:avLst/>
          </a:prstGeom>
          <a:noFill/>
          <a:ln/>
        </p:spPr>
        <p:txBody>
          <a:bodyPr wrap="square" lIns="0" tIns="0" rIns="0" bIns="0" rtlCol="0" anchor="ctr"/>
          <a:lstStyle/>
          <a:p>
            <a:pPr indent="0" marL="0">
              <a:buNone/>
            </a:pPr>
            <a:r>
              <a:rPr lang="en-US" sz="800" i="1" dirty="0">
                <a:solidFill>
                  <a:srgbClr val="F0A500"/>
                </a:solidFill>
              </a:rPr>
              <a:t>Tip: This is the most viscerally impressive step. Evaluators will ask to try it themselves — pre-prepare 3 different disruption scenarios so you can toggle through them quickly.</a:t>
            </a:r>
            <a:endParaRPr lang="en-US" sz="800" dirty="0"/>
          </a:p>
        </p:txBody>
      </p:sp>
      <p:sp>
        <p:nvSpPr>
          <p:cNvPr id="39" name="Shape 32"/>
          <p:cNvSpPr/>
          <p:nvPr/>
        </p:nvSpPr>
        <p:spPr>
          <a:xfrm>
            <a:off x="182880" y="3858768"/>
            <a:ext cx="8778240" cy="1078992"/>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40" name="Shape 33"/>
          <p:cNvSpPr/>
          <p:nvPr/>
        </p:nvSpPr>
        <p:spPr>
          <a:xfrm>
            <a:off x="182880" y="3858768"/>
            <a:ext cx="8778240" cy="64008"/>
          </a:xfrm>
          <a:prstGeom prst="rect">
            <a:avLst/>
          </a:prstGeom>
          <a:solidFill>
            <a:srgbClr val="27AE60"/>
          </a:solidFill>
          <a:ln w="12700">
            <a:solidFill>
              <a:srgbClr val="27AE60"/>
            </a:solidFill>
            <a:prstDash val="solid"/>
          </a:ln>
        </p:spPr>
      </p:sp>
      <p:sp>
        <p:nvSpPr>
          <p:cNvPr id="41" name="Shape 34"/>
          <p:cNvSpPr/>
          <p:nvPr/>
        </p:nvSpPr>
        <p:spPr>
          <a:xfrm>
            <a:off x="310896" y="3986784"/>
            <a:ext cx="384048" cy="384048"/>
          </a:xfrm>
          <a:prstGeom prst="ellipse">
            <a:avLst/>
          </a:prstGeom>
          <a:solidFill>
            <a:srgbClr val="27AE60"/>
          </a:solidFill>
          <a:ln w="12700">
            <a:solidFill>
              <a:srgbClr val="27AE60"/>
            </a:solidFill>
            <a:prstDash val="solid"/>
          </a:ln>
        </p:spPr>
      </p:sp>
      <p:sp>
        <p:nvSpPr>
          <p:cNvPr id="42" name="Text 35"/>
          <p:cNvSpPr/>
          <p:nvPr/>
        </p:nvSpPr>
        <p:spPr>
          <a:xfrm>
            <a:off x="310896" y="398678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pic>
        <p:nvPicPr>
          <p:cNvPr id="43" name="Image 5" descr="preencoded.png">    </p:cNvPr>
          <p:cNvPicPr>
            <a:picLocks noChangeAspect="1"/>
          </p:cNvPicPr>
          <p:nvPr/>
        </p:nvPicPr>
        <p:blipFill>
          <a:blip r:embed="rId6"/>
          <a:stretch>
            <a:fillRect/>
          </a:stretch>
        </p:blipFill>
        <p:spPr>
          <a:xfrm>
            <a:off x="777240" y="4005072"/>
            <a:ext cx="274320" cy="274320"/>
          </a:xfrm>
          <a:prstGeom prst="rect">
            <a:avLst/>
          </a:prstGeom>
        </p:spPr>
      </p:pic>
      <p:sp>
        <p:nvSpPr>
          <p:cNvPr id="44" name="Text 36"/>
          <p:cNvSpPr/>
          <p:nvPr/>
        </p:nvSpPr>
        <p:spPr>
          <a:xfrm>
            <a:off x="1133856" y="3995928"/>
            <a:ext cx="7680960" cy="310896"/>
          </a:xfrm>
          <a:prstGeom prst="rect">
            <a:avLst/>
          </a:prstGeom>
          <a:noFill/>
          <a:ln/>
        </p:spPr>
        <p:txBody>
          <a:bodyPr wrap="square" lIns="0" tIns="0" rIns="0" bIns="0" rtlCol="0" anchor="ctr"/>
          <a:lstStyle/>
          <a:p>
            <a:pPr indent="0" marL="0">
              <a:buNone/>
            </a:pPr>
            <a:r>
              <a:rPr lang="en-US" sz="1100" b="1" dirty="0">
                <a:solidFill>
                  <a:srgbClr val="1A2B42"/>
                </a:solidFill>
              </a:rPr>
              <a:t>Generate Purchase Orders</a:t>
            </a:r>
            <a:endParaRPr lang="en-US" sz="1100" dirty="0"/>
          </a:p>
        </p:txBody>
      </p:sp>
      <p:sp>
        <p:nvSpPr>
          <p:cNvPr id="45" name="Text 37"/>
          <p:cNvSpPr/>
          <p:nvPr/>
        </p:nvSpPr>
        <p:spPr>
          <a:xfrm>
            <a:off x="310896" y="4389120"/>
            <a:ext cx="8522208" cy="475488"/>
          </a:xfrm>
          <a:prstGeom prst="rect">
            <a:avLst/>
          </a:prstGeom>
          <a:noFill/>
          <a:ln/>
        </p:spPr>
        <p:txBody>
          <a:bodyPr wrap="square" lIns="0" tIns="0" rIns="0" bIns="0" rtlCol="0" anchor="ctr"/>
          <a:lstStyle/>
          <a:p>
            <a:pPr indent="0" marL="0">
              <a:buNone/>
            </a:pPr>
            <a:r>
              <a:rPr lang="en-US" sz="900" dirty="0">
                <a:solidFill>
                  <a:srgbClr val="8899AA"/>
                </a:solidFill>
              </a:rPr>
              <a:t>Click 'Generate Purchase Orders'. System outputs a prioritised reorder list: drug name, recommended order quantity (with P10/P90 confidence band), urgency tier, estimated cost, and suppliers ranked by reliability. Export to CSV button produces a procurement-ready file. Show that the reorder quantities changed after the disruption simulation — the system is aware of supplier state.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2240"/>
          </a:solidFill>
          <a:ln w="12700">
            <a:solidFill>
              <a:srgbClr val="112240"/>
            </a:solidFill>
            <a:prstDash val="solid"/>
          </a:ln>
        </p:spPr>
      </p:sp>
      <p:sp>
        <p:nvSpPr>
          <p:cNvPr id="3" name="Shape 1"/>
          <p:cNvSpPr/>
          <p:nvPr/>
        </p:nvSpPr>
        <p:spPr>
          <a:xfrm>
            <a:off x="0" y="0"/>
            <a:ext cx="54864" cy="749808"/>
          </a:xfrm>
          <a:prstGeom prst="rect">
            <a:avLst/>
          </a:prstGeom>
          <a:solidFill>
            <a:srgbClr val="0D9B8A"/>
          </a:solidFill>
          <a:ln w="12700">
            <a:solidFill>
              <a:srgbClr val="0D9B8A"/>
            </a:solidFill>
            <a:prstDash val="solid"/>
          </a:ln>
        </p:spPr>
      </p:sp>
      <p:pic>
        <p:nvPicPr>
          <p:cNvPr id="4" name="Image 0" descr="preencoded.png">    </p:cNvPr>
          <p:cNvPicPr>
            <a:picLocks noChangeAspect="1"/>
          </p:cNvPicPr>
          <p:nvPr/>
        </p:nvPicPr>
        <p:blipFill>
          <a:blip r:embed="rId1"/>
          <a:stretch>
            <a:fillRect/>
          </a:stretch>
        </p:blipFill>
        <p:spPr>
          <a:xfrm>
            <a:off x="182880" y="164592"/>
            <a:ext cx="402336" cy="402336"/>
          </a:xfrm>
          <a:prstGeom prst="rect">
            <a:avLst/>
          </a:prstGeom>
        </p:spPr>
      </p:pic>
      <p:sp>
        <p:nvSpPr>
          <p:cNvPr id="5" name="Text 2"/>
          <p:cNvSpPr/>
          <p:nvPr/>
        </p:nvSpPr>
        <p:spPr>
          <a:xfrm>
            <a:off x="713232" y="54864"/>
            <a:ext cx="7315200" cy="320040"/>
          </a:xfrm>
          <a:prstGeom prst="rect">
            <a:avLst/>
          </a:prstGeom>
          <a:noFill/>
          <a:ln/>
        </p:spPr>
        <p:txBody>
          <a:bodyPr wrap="square" lIns="0" tIns="0" rIns="0" bIns="0" rtlCol="0" anchor="ctr"/>
          <a:lstStyle/>
          <a:p>
            <a:pPr indent="0" marL="0">
              <a:buNone/>
            </a:pPr>
            <a:r>
              <a:rPr lang="en-US" sz="1100" b="1" spc="400" kern="0" dirty="0">
                <a:solidFill>
                  <a:srgbClr val="0D9B8A"/>
                </a:solidFill>
              </a:rPr>
              <a:t>TECHNOLOGY STACK</a:t>
            </a:r>
            <a:endParaRPr lang="en-US" sz="1100" dirty="0"/>
          </a:p>
        </p:txBody>
      </p:sp>
      <p:sp>
        <p:nvSpPr>
          <p:cNvPr id="6" name="Text 3"/>
          <p:cNvSpPr/>
          <p:nvPr/>
        </p:nvSpPr>
        <p:spPr>
          <a:xfrm>
            <a:off x="713232" y="402336"/>
            <a:ext cx="8229600" cy="274320"/>
          </a:xfrm>
          <a:prstGeom prst="rect">
            <a:avLst/>
          </a:prstGeom>
          <a:noFill/>
          <a:ln/>
        </p:spPr>
        <p:txBody>
          <a:bodyPr wrap="square" lIns="0" tIns="0" rIns="0" bIns="0" rtlCol="0" anchor="ctr"/>
          <a:lstStyle/>
          <a:p>
            <a:pPr indent="0" marL="0">
              <a:buNone/>
            </a:pPr>
            <a:r>
              <a:rPr lang="en-US" sz="1200" dirty="0">
                <a:solidFill>
                  <a:srgbClr val="C8D6E5"/>
                </a:solidFill>
              </a:rPr>
              <a:t>Pure software stack — no hardware required — runs on Google Colab + any laptop browser</a:t>
            </a:r>
            <a:endParaRPr lang="en-US" sz="1200" dirty="0"/>
          </a:p>
        </p:txBody>
      </p:sp>
      <p:sp>
        <p:nvSpPr>
          <p:cNvPr id="7" name="Shape 4"/>
          <p:cNvSpPr/>
          <p:nvPr/>
        </p:nvSpPr>
        <p:spPr>
          <a:xfrm>
            <a:off x="164592" y="841248"/>
            <a:ext cx="4279392" cy="2029968"/>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8" name="Shape 5"/>
          <p:cNvSpPr/>
          <p:nvPr/>
        </p:nvSpPr>
        <p:spPr>
          <a:xfrm>
            <a:off x="164592" y="841248"/>
            <a:ext cx="4279392" cy="310896"/>
          </a:xfrm>
          <a:prstGeom prst="rect">
            <a:avLst/>
          </a:prstGeom>
          <a:solidFill>
            <a:srgbClr val="7B52AB"/>
          </a:solidFill>
          <a:ln w="12700">
            <a:solidFill>
              <a:srgbClr val="7B52AB"/>
            </a:solidFill>
            <a:prstDash val="solid"/>
          </a:ln>
        </p:spPr>
      </p:sp>
      <p:pic>
        <p:nvPicPr>
          <p:cNvPr id="9" name="Image 1" descr="preencoded.png">    </p:cNvPr>
          <p:cNvPicPr>
            <a:picLocks noChangeAspect="1"/>
          </p:cNvPicPr>
          <p:nvPr/>
        </p:nvPicPr>
        <p:blipFill>
          <a:blip r:embed="rId2"/>
          <a:stretch>
            <a:fillRect/>
          </a:stretch>
        </p:blipFill>
        <p:spPr>
          <a:xfrm>
            <a:off x="256032" y="886968"/>
            <a:ext cx="219456" cy="219456"/>
          </a:xfrm>
          <a:prstGeom prst="rect">
            <a:avLst/>
          </a:prstGeom>
        </p:spPr>
      </p:pic>
      <p:sp>
        <p:nvSpPr>
          <p:cNvPr id="10" name="Text 6"/>
          <p:cNvSpPr/>
          <p:nvPr/>
        </p:nvSpPr>
        <p:spPr>
          <a:xfrm>
            <a:off x="530352" y="841248"/>
            <a:ext cx="3858768" cy="310896"/>
          </a:xfrm>
          <a:prstGeom prst="rect">
            <a:avLst/>
          </a:prstGeom>
          <a:noFill/>
          <a:ln/>
        </p:spPr>
        <p:txBody>
          <a:bodyPr wrap="square" lIns="0" tIns="0" rIns="0" bIns="0" rtlCol="0" anchor="ctr"/>
          <a:lstStyle/>
          <a:p>
            <a:pPr indent="0" marL="0">
              <a:buNone/>
            </a:pPr>
            <a:r>
              <a:rPr lang="en-US" sz="1050" b="1" dirty="0">
                <a:solidFill>
                  <a:srgbClr val="0A1628"/>
                </a:solidFill>
              </a:rPr>
              <a:t>Deep Learning &amp; Forecasting</a:t>
            </a:r>
            <a:endParaRPr lang="en-US" sz="1050" dirty="0"/>
          </a:p>
        </p:txBody>
      </p:sp>
      <p:sp>
        <p:nvSpPr>
          <p:cNvPr id="11" name="Shape 7"/>
          <p:cNvSpPr/>
          <p:nvPr/>
        </p:nvSpPr>
        <p:spPr>
          <a:xfrm>
            <a:off x="256032" y="1188720"/>
            <a:ext cx="4096512" cy="310896"/>
          </a:xfrm>
          <a:prstGeom prst="rect">
            <a:avLst/>
          </a:prstGeom>
          <a:solidFill>
            <a:srgbClr val="FAFBFF"/>
          </a:solidFill>
          <a:ln w="5080">
            <a:solidFill>
              <a:srgbClr val="C8D6E5"/>
            </a:solidFill>
            <a:prstDash val="solid"/>
          </a:ln>
        </p:spPr>
      </p:sp>
      <p:sp>
        <p:nvSpPr>
          <p:cNvPr id="12" name="Text 8"/>
          <p:cNvSpPr/>
          <p:nvPr/>
        </p:nvSpPr>
        <p:spPr>
          <a:xfrm>
            <a:off x="301752" y="1188720"/>
            <a:ext cx="1207008" cy="310896"/>
          </a:xfrm>
          <a:prstGeom prst="rect">
            <a:avLst/>
          </a:prstGeom>
          <a:noFill/>
          <a:ln/>
        </p:spPr>
        <p:txBody>
          <a:bodyPr wrap="square" lIns="25400" tIns="25400" rIns="25400" bIns="25400" rtlCol="0" anchor="ctr"/>
          <a:lstStyle/>
          <a:p>
            <a:pPr indent="0" marL="0">
              <a:buNone/>
            </a:pPr>
            <a:r>
              <a:rPr lang="en-US" sz="850" b="1" dirty="0">
                <a:solidFill>
                  <a:srgbClr val="1A2B42"/>
                </a:solidFill>
              </a:rPr>
              <a:t>Temporal Fusion Transformer</a:t>
            </a:r>
            <a:endParaRPr lang="en-US" sz="850" dirty="0"/>
          </a:p>
        </p:txBody>
      </p:sp>
      <p:sp>
        <p:nvSpPr>
          <p:cNvPr id="13" name="Text 9"/>
          <p:cNvSpPr/>
          <p:nvPr/>
        </p:nvSpPr>
        <p:spPr>
          <a:xfrm>
            <a:off x="1527048" y="1188720"/>
            <a:ext cx="914400" cy="310896"/>
          </a:xfrm>
          <a:prstGeom prst="rect">
            <a:avLst/>
          </a:prstGeom>
          <a:noFill/>
          <a:ln/>
        </p:spPr>
        <p:txBody>
          <a:bodyPr wrap="square" lIns="25400" tIns="25400" rIns="25400" bIns="25400" rtlCol="0" anchor="ctr"/>
          <a:lstStyle/>
          <a:p>
            <a:pPr indent="0" marL="0">
              <a:buNone/>
            </a:pPr>
            <a:r>
              <a:rPr lang="en-US" sz="800" dirty="0">
                <a:solidFill>
                  <a:srgbClr val="0D9B8A"/>
                </a:solidFill>
              </a:rPr>
              <a:t>PyTorch Forecasting</a:t>
            </a:r>
            <a:endParaRPr lang="en-US" sz="800" dirty="0"/>
          </a:p>
        </p:txBody>
      </p:sp>
      <p:sp>
        <p:nvSpPr>
          <p:cNvPr id="14" name="Text 10"/>
          <p:cNvSpPr/>
          <p:nvPr/>
        </p:nvSpPr>
        <p:spPr>
          <a:xfrm>
            <a:off x="2468880" y="1188720"/>
            <a:ext cx="1828800" cy="310896"/>
          </a:xfrm>
          <a:prstGeom prst="rect">
            <a:avLst/>
          </a:prstGeom>
          <a:noFill/>
          <a:ln/>
        </p:spPr>
        <p:txBody>
          <a:bodyPr wrap="square" lIns="25400" tIns="25400" rIns="25400" bIns="25400" rtlCol="0" anchor="ctr"/>
          <a:lstStyle/>
          <a:p>
            <a:pPr indent="0" marL="0">
              <a:buNone/>
            </a:pPr>
            <a:r>
              <a:rPr lang="en-US" sz="800" dirty="0">
                <a:solidFill>
                  <a:srgbClr val="8899AA"/>
                </a:solidFill>
              </a:rPr>
              <a:t>Core 45-day quantile shortage predictor with variable selection</a:t>
            </a:r>
            <a:endParaRPr lang="en-US" sz="800" dirty="0"/>
          </a:p>
        </p:txBody>
      </p:sp>
      <p:sp>
        <p:nvSpPr>
          <p:cNvPr id="15" name="Shape 11"/>
          <p:cNvSpPr/>
          <p:nvPr/>
        </p:nvSpPr>
        <p:spPr>
          <a:xfrm>
            <a:off x="256032" y="1517904"/>
            <a:ext cx="4096512" cy="310896"/>
          </a:xfrm>
          <a:prstGeom prst="rect">
            <a:avLst/>
          </a:prstGeom>
          <a:solidFill>
            <a:srgbClr val="FFFFFF"/>
          </a:solidFill>
          <a:ln w="5080">
            <a:solidFill>
              <a:srgbClr val="C8D6E5"/>
            </a:solidFill>
            <a:prstDash val="solid"/>
          </a:ln>
        </p:spPr>
      </p:sp>
      <p:sp>
        <p:nvSpPr>
          <p:cNvPr id="16" name="Text 12"/>
          <p:cNvSpPr/>
          <p:nvPr/>
        </p:nvSpPr>
        <p:spPr>
          <a:xfrm>
            <a:off x="301752" y="1517904"/>
            <a:ext cx="1207008" cy="310896"/>
          </a:xfrm>
          <a:prstGeom prst="rect">
            <a:avLst/>
          </a:prstGeom>
          <a:noFill/>
          <a:ln/>
        </p:spPr>
        <p:txBody>
          <a:bodyPr wrap="square" lIns="25400" tIns="25400" rIns="25400" bIns="25400" rtlCol="0" anchor="ctr"/>
          <a:lstStyle/>
          <a:p>
            <a:pPr indent="0" marL="0">
              <a:buNone/>
            </a:pPr>
            <a:r>
              <a:rPr lang="en-US" sz="850" b="1" dirty="0">
                <a:solidFill>
                  <a:srgbClr val="1A2B42"/>
                </a:solidFill>
              </a:rPr>
              <a:t>GraphSAGE</a:t>
            </a:r>
            <a:endParaRPr lang="en-US" sz="850" dirty="0"/>
          </a:p>
        </p:txBody>
      </p:sp>
      <p:sp>
        <p:nvSpPr>
          <p:cNvPr id="17" name="Text 13"/>
          <p:cNvSpPr/>
          <p:nvPr/>
        </p:nvSpPr>
        <p:spPr>
          <a:xfrm>
            <a:off x="1527048" y="1517904"/>
            <a:ext cx="914400" cy="310896"/>
          </a:xfrm>
          <a:prstGeom prst="rect">
            <a:avLst/>
          </a:prstGeom>
          <a:noFill/>
          <a:ln/>
        </p:spPr>
        <p:txBody>
          <a:bodyPr wrap="square" lIns="25400" tIns="25400" rIns="25400" bIns="25400" rtlCol="0" anchor="ctr"/>
          <a:lstStyle/>
          <a:p>
            <a:pPr indent="0" marL="0">
              <a:buNone/>
            </a:pPr>
            <a:r>
              <a:rPr lang="en-US" sz="800" dirty="0">
                <a:solidFill>
                  <a:srgbClr val="0D9B8A"/>
                </a:solidFill>
              </a:rPr>
              <a:t>PyTorch Geometric</a:t>
            </a:r>
            <a:endParaRPr lang="en-US" sz="800" dirty="0"/>
          </a:p>
        </p:txBody>
      </p:sp>
      <p:sp>
        <p:nvSpPr>
          <p:cNvPr id="18" name="Text 14"/>
          <p:cNvSpPr/>
          <p:nvPr/>
        </p:nvSpPr>
        <p:spPr>
          <a:xfrm>
            <a:off x="2468880" y="1517904"/>
            <a:ext cx="1828800" cy="310896"/>
          </a:xfrm>
          <a:prstGeom prst="rect">
            <a:avLst/>
          </a:prstGeom>
          <a:noFill/>
          <a:ln/>
        </p:spPr>
        <p:txBody>
          <a:bodyPr wrap="square" lIns="25400" tIns="25400" rIns="25400" bIns="25400" rtlCol="0" anchor="ctr"/>
          <a:lstStyle/>
          <a:p>
            <a:pPr indent="0" marL="0">
              <a:buNone/>
            </a:pPr>
            <a:r>
              <a:rPr lang="en-US" sz="800" dirty="0">
                <a:solidFill>
                  <a:srgbClr val="8899AA"/>
                </a:solidFill>
              </a:rPr>
              <a:t>Supplier risk graph — multi-echelon disruption propagation</a:t>
            </a:r>
            <a:endParaRPr lang="en-US" sz="800" dirty="0"/>
          </a:p>
        </p:txBody>
      </p:sp>
      <p:sp>
        <p:nvSpPr>
          <p:cNvPr id="19" name="Shape 15"/>
          <p:cNvSpPr/>
          <p:nvPr/>
        </p:nvSpPr>
        <p:spPr>
          <a:xfrm>
            <a:off x="256032" y="1847088"/>
            <a:ext cx="4096512" cy="310896"/>
          </a:xfrm>
          <a:prstGeom prst="rect">
            <a:avLst/>
          </a:prstGeom>
          <a:solidFill>
            <a:srgbClr val="FAFBFF"/>
          </a:solidFill>
          <a:ln w="5080">
            <a:solidFill>
              <a:srgbClr val="C8D6E5"/>
            </a:solidFill>
            <a:prstDash val="solid"/>
          </a:ln>
        </p:spPr>
      </p:sp>
      <p:sp>
        <p:nvSpPr>
          <p:cNvPr id="20" name="Text 16"/>
          <p:cNvSpPr/>
          <p:nvPr/>
        </p:nvSpPr>
        <p:spPr>
          <a:xfrm>
            <a:off x="301752" y="1847088"/>
            <a:ext cx="1207008" cy="310896"/>
          </a:xfrm>
          <a:prstGeom prst="rect">
            <a:avLst/>
          </a:prstGeom>
          <a:noFill/>
          <a:ln/>
        </p:spPr>
        <p:txBody>
          <a:bodyPr wrap="square" lIns="25400" tIns="25400" rIns="25400" bIns="25400" rtlCol="0" anchor="ctr"/>
          <a:lstStyle/>
          <a:p>
            <a:pPr indent="0" marL="0">
              <a:buNone/>
            </a:pPr>
            <a:r>
              <a:rPr lang="en-US" sz="850" b="1" dirty="0">
                <a:solidFill>
                  <a:srgbClr val="1A2B42"/>
                </a:solidFill>
              </a:rPr>
              <a:t>Conformal Prediction</a:t>
            </a:r>
            <a:endParaRPr lang="en-US" sz="850" dirty="0"/>
          </a:p>
        </p:txBody>
      </p:sp>
      <p:sp>
        <p:nvSpPr>
          <p:cNvPr id="21" name="Text 17"/>
          <p:cNvSpPr/>
          <p:nvPr/>
        </p:nvSpPr>
        <p:spPr>
          <a:xfrm>
            <a:off x="1527048" y="1847088"/>
            <a:ext cx="914400" cy="310896"/>
          </a:xfrm>
          <a:prstGeom prst="rect">
            <a:avLst/>
          </a:prstGeom>
          <a:noFill/>
          <a:ln/>
        </p:spPr>
        <p:txBody>
          <a:bodyPr wrap="square" lIns="25400" tIns="25400" rIns="25400" bIns="25400" rtlCol="0" anchor="ctr"/>
          <a:lstStyle/>
          <a:p>
            <a:pPr indent="0" marL="0">
              <a:buNone/>
            </a:pPr>
            <a:r>
              <a:rPr lang="en-US" sz="800" dirty="0">
                <a:solidFill>
                  <a:srgbClr val="0D9B8A"/>
                </a:solidFill>
              </a:rPr>
              <a:t>MAPIE library</a:t>
            </a:r>
            <a:endParaRPr lang="en-US" sz="800" dirty="0"/>
          </a:p>
        </p:txBody>
      </p:sp>
      <p:sp>
        <p:nvSpPr>
          <p:cNvPr id="22" name="Text 18"/>
          <p:cNvSpPr/>
          <p:nvPr/>
        </p:nvSpPr>
        <p:spPr>
          <a:xfrm>
            <a:off x="2468880" y="1847088"/>
            <a:ext cx="1828800" cy="310896"/>
          </a:xfrm>
          <a:prstGeom prst="rect">
            <a:avLst/>
          </a:prstGeom>
          <a:noFill/>
          <a:ln/>
        </p:spPr>
        <p:txBody>
          <a:bodyPr wrap="square" lIns="25400" tIns="25400" rIns="25400" bIns="25400" rtlCol="0" anchor="ctr"/>
          <a:lstStyle/>
          <a:p>
            <a:pPr indent="0" marL="0">
              <a:buNone/>
            </a:pPr>
            <a:r>
              <a:rPr lang="en-US" sz="800" dirty="0">
                <a:solidFill>
                  <a:srgbClr val="8899AA"/>
                </a:solidFill>
              </a:rPr>
              <a:t>Statistically valid P10/P50/P90 calibration wrapper</a:t>
            </a:r>
            <a:endParaRPr lang="en-US" sz="800" dirty="0"/>
          </a:p>
        </p:txBody>
      </p:sp>
      <p:sp>
        <p:nvSpPr>
          <p:cNvPr id="23" name="Shape 19"/>
          <p:cNvSpPr/>
          <p:nvPr/>
        </p:nvSpPr>
        <p:spPr>
          <a:xfrm>
            <a:off x="256032" y="2176272"/>
            <a:ext cx="4096512" cy="310896"/>
          </a:xfrm>
          <a:prstGeom prst="rect">
            <a:avLst/>
          </a:prstGeom>
          <a:solidFill>
            <a:srgbClr val="FFFFFF"/>
          </a:solidFill>
          <a:ln w="5080">
            <a:solidFill>
              <a:srgbClr val="C8D6E5"/>
            </a:solidFill>
            <a:prstDash val="solid"/>
          </a:ln>
        </p:spPr>
      </p:sp>
      <p:sp>
        <p:nvSpPr>
          <p:cNvPr id="24" name="Text 20"/>
          <p:cNvSpPr/>
          <p:nvPr/>
        </p:nvSpPr>
        <p:spPr>
          <a:xfrm>
            <a:off x="301752" y="2176272"/>
            <a:ext cx="1207008" cy="310896"/>
          </a:xfrm>
          <a:prstGeom prst="rect">
            <a:avLst/>
          </a:prstGeom>
          <a:noFill/>
          <a:ln/>
        </p:spPr>
        <p:txBody>
          <a:bodyPr wrap="square" lIns="25400" tIns="25400" rIns="25400" bIns="25400" rtlCol="0" anchor="ctr"/>
          <a:lstStyle/>
          <a:p>
            <a:pPr indent="0" marL="0">
              <a:buNone/>
            </a:pPr>
            <a:r>
              <a:rPr lang="en-US" sz="850" b="1" dirty="0">
                <a:solidFill>
                  <a:srgbClr val="1A2B42"/>
                </a:solidFill>
              </a:rPr>
              <a:t>MLflow</a:t>
            </a:r>
            <a:endParaRPr lang="en-US" sz="850" dirty="0"/>
          </a:p>
        </p:txBody>
      </p:sp>
      <p:sp>
        <p:nvSpPr>
          <p:cNvPr id="25" name="Text 21"/>
          <p:cNvSpPr/>
          <p:nvPr/>
        </p:nvSpPr>
        <p:spPr>
          <a:xfrm>
            <a:off x="1527048" y="2176272"/>
            <a:ext cx="914400" cy="310896"/>
          </a:xfrm>
          <a:prstGeom prst="rect">
            <a:avLst/>
          </a:prstGeom>
          <a:noFill/>
          <a:ln/>
        </p:spPr>
        <p:txBody>
          <a:bodyPr wrap="square" lIns="25400" tIns="25400" rIns="25400" bIns="25400" rtlCol="0" anchor="ctr"/>
          <a:lstStyle/>
          <a:p>
            <a:pPr indent="0" marL="0">
              <a:buNone/>
            </a:pPr>
            <a:r>
              <a:rPr lang="en-US" sz="800" dirty="0">
                <a:solidFill>
                  <a:srgbClr val="0D9B8A"/>
                </a:solidFill>
              </a:rPr>
              <a:t>mlflow 2.x</a:t>
            </a:r>
            <a:endParaRPr lang="en-US" sz="800" dirty="0"/>
          </a:p>
        </p:txBody>
      </p:sp>
      <p:sp>
        <p:nvSpPr>
          <p:cNvPr id="26" name="Text 22"/>
          <p:cNvSpPr/>
          <p:nvPr/>
        </p:nvSpPr>
        <p:spPr>
          <a:xfrm>
            <a:off x="2468880" y="2176272"/>
            <a:ext cx="1828800" cy="310896"/>
          </a:xfrm>
          <a:prstGeom prst="rect">
            <a:avLst/>
          </a:prstGeom>
          <a:noFill/>
          <a:ln/>
        </p:spPr>
        <p:txBody>
          <a:bodyPr wrap="square" lIns="25400" tIns="25400" rIns="25400" bIns="25400" rtlCol="0" anchor="ctr"/>
          <a:lstStyle/>
          <a:p>
            <a:pPr indent="0" marL="0">
              <a:buNone/>
            </a:pPr>
            <a:r>
              <a:rPr lang="en-US" sz="800" dirty="0">
                <a:solidFill>
                  <a:srgbClr val="8899AA"/>
                </a:solidFill>
              </a:rPr>
              <a:t>Experiment tracking, model versioning, hyperparameter logging</a:t>
            </a:r>
            <a:endParaRPr lang="en-US" sz="800" dirty="0"/>
          </a:p>
        </p:txBody>
      </p:sp>
      <p:sp>
        <p:nvSpPr>
          <p:cNvPr id="27" name="Shape 23"/>
          <p:cNvSpPr/>
          <p:nvPr/>
        </p:nvSpPr>
        <p:spPr>
          <a:xfrm>
            <a:off x="256032" y="2505456"/>
            <a:ext cx="4096512" cy="310896"/>
          </a:xfrm>
          <a:prstGeom prst="rect">
            <a:avLst/>
          </a:prstGeom>
          <a:solidFill>
            <a:srgbClr val="FAFBFF"/>
          </a:solidFill>
          <a:ln w="5080">
            <a:solidFill>
              <a:srgbClr val="C8D6E5"/>
            </a:solidFill>
            <a:prstDash val="solid"/>
          </a:ln>
        </p:spPr>
      </p:sp>
      <p:sp>
        <p:nvSpPr>
          <p:cNvPr id="28" name="Text 24"/>
          <p:cNvSpPr/>
          <p:nvPr/>
        </p:nvSpPr>
        <p:spPr>
          <a:xfrm>
            <a:off x="301752" y="2505456"/>
            <a:ext cx="1207008" cy="310896"/>
          </a:xfrm>
          <a:prstGeom prst="rect">
            <a:avLst/>
          </a:prstGeom>
          <a:noFill/>
          <a:ln/>
        </p:spPr>
        <p:txBody>
          <a:bodyPr wrap="square" lIns="25400" tIns="25400" rIns="25400" bIns="25400" rtlCol="0" anchor="ctr"/>
          <a:lstStyle/>
          <a:p>
            <a:pPr indent="0" marL="0">
              <a:buNone/>
            </a:pPr>
            <a:r>
              <a:rPr lang="en-US" sz="850" b="1" dirty="0">
                <a:solidFill>
                  <a:srgbClr val="1A2B42"/>
                </a:solidFill>
              </a:rPr>
              <a:t>tsfresh</a:t>
            </a:r>
            <a:endParaRPr lang="en-US" sz="850" dirty="0"/>
          </a:p>
        </p:txBody>
      </p:sp>
      <p:sp>
        <p:nvSpPr>
          <p:cNvPr id="29" name="Text 25"/>
          <p:cNvSpPr/>
          <p:nvPr/>
        </p:nvSpPr>
        <p:spPr>
          <a:xfrm>
            <a:off x="1527048" y="2505456"/>
            <a:ext cx="914400" cy="310896"/>
          </a:xfrm>
          <a:prstGeom prst="rect">
            <a:avLst/>
          </a:prstGeom>
          <a:noFill/>
          <a:ln/>
        </p:spPr>
        <p:txBody>
          <a:bodyPr wrap="square" lIns="25400" tIns="25400" rIns="25400" bIns="25400" rtlCol="0" anchor="ctr"/>
          <a:lstStyle/>
          <a:p>
            <a:pPr indent="0" marL="0">
              <a:buNone/>
            </a:pPr>
            <a:r>
              <a:rPr lang="en-US" sz="800" dirty="0">
                <a:solidFill>
                  <a:srgbClr val="0D9B8A"/>
                </a:solidFill>
              </a:rPr>
              <a:t>tsfresh 0.20</a:t>
            </a:r>
            <a:endParaRPr lang="en-US" sz="800" dirty="0"/>
          </a:p>
        </p:txBody>
      </p:sp>
      <p:sp>
        <p:nvSpPr>
          <p:cNvPr id="30" name="Text 26"/>
          <p:cNvSpPr/>
          <p:nvPr/>
        </p:nvSpPr>
        <p:spPr>
          <a:xfrm>
            <a:off x="2468880" y="2505456"/>
            <a:ext cx="1828800" cy="310896"/>
          </a:xfrm>
          <a:prstGeom prst="rect">
            <a:avLst/>
          </a:prstGeom>
          <a:noFill/>
          <a:ln/>
        </p:spPr>
        <p:txBody>
          <a:bodyPr wrap="square" lIns="25400" tIns="25400" rIns="25400" bIns="25400" rtlCol="0" anchor="ctr"/>
          <a:lstStyle/>
          <a:p>
            <a:pPr indent="0" marL="0">
              <a:buNone/>
            </a:pPr>
            <a:r>
              <a:rPr lang="en-US" sz="800" dirty="0">
                <a:solidFill>
                  <a:srgbClr val="8899AA"/>
                </a:solidFill>
              </a:rPr>
              <a:t>Automated time-series feature extraction from procurement sequences</a:t>
            </a:r>
            <a:endParaRPr lang="en-US" sz="800" dirty="0"/>
          </a:p>
        </p:txBody>
      </p:sp>
      <p:sp>
        <p:nvSpPr>
          <p:cNvPr id="31" name="Shape 27"/>
          <p:cNvSpPr/>
          <p:nvPr/>
        </p:nvSpPr>
        <p:spPr>
          <a:xfrm>
            <a:off x="4672584" y="841248"/>
            <a:ext cx="4279392" cy="2029968"/>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32" name="Shape 28"/>
          <p:cNvSpPr/>
          <p:nvPr/>
        </p:nvSpPr>
        <p:spPr>
          <a:xfrm>
            <a:off x="4672584" y="841248"/>
            <a:ext cx="4279392" cy="310896"/>
          </a:xfrm>
          <a:prstGeom prst="rect">
            <a:avLst/>
          </a:prstGeom>
          <a:solidFill>
            <a:srgbClr val="0D9B8A"/>
          </a:solidFill>
          <a:ln w="12700">
            <a:solidFill>
              <a:srgbClr val="0D9B8A"/>
            </a:solidFill>
            <a:prstDash val="solid"/>
          </a:ln>
        </p:spPr>
      </p:sp>
      <p:pic>
        <p:nvPicPr>
          <p:cNvPr id="33" name="Image 2" descr="preencoded.png">    </p:cNvPr>
          <p:cNvPicPr>
            <a:picLocks noChangeAspect="1"/>
          </p:cNvPicPr>
          <p:nvPr/>
        </p:nvPicPr>
        <p:blipFill>
          <a:blip r:embed="rId3"/>
          <a:stretch>
            <a:fillRect/>
          </a:stretch>
        </p:blipFill>
        <p:spPr>
          <a:xfrm>
            <a:off x="4764024" y="886968"/>
            <a:ext cx="219456" cy="219456"/>
          </a:xfrm>
          <a:prstGeom prst="rect">
            <a:avLst/>
          </a:prstGeom>
        </p:spPr>
      </p:pic>
      <p:sp>
        <p:nvSpPr>
          <p:cNvPr id="34" name="Text 29"/>
          <p:cNvSpPr/>
          <p:nvPr/>
        </p:nvSpPr>
        <p:spPr>
          <a:xfrm>
            <a:off x="5038344" y="841248"/>
            <a:ext cx="3858768" cy="310896"/>
          </a:xfrm>
          <a:prstGeom prst="rect">
            <a:avLst/>
          </a:prstGeom>
          <a:noFill/>
          <a:ln/>
        </p:spPr>
        <p:txBody>
          <a:bodyPr wrap="square" lIns="0" tIns="0" rIns="0" bIns="0" rtlCol="0" anchor="ctr"/>
          <a:lstStyle/>
          <a:p>
            <a:pPr indent="0" marL="0">
              <a:buNone/>
            </a:pPr>
            <a:r>
              <a:rPr lang="en-US" sz="1050" b="1" dirty="0">
                <a:solidFill>
                  <a:srgbClr val="0A1628"/>
                </a:solidFill>
              </a:rPr>
              <a:t>Data Processing &amp; Baselines</a:t>
            </a:r>
            <a:endParaRPr lang="en-US" sz="1050" dirty="0"/>
          </a:p>
        </p:txBody>
      </p:sp>
      <p:sp>
        <p:nvSpPr>
          <p:cNvPr id="35" name="Shape 30"/>
          <p:cNvSpPr/>
          <p:nvPr/>
        </p:nvSpPr>
        <p:spPr>
          <a:xfrm>
            <a:off x="4764024" y="1188720"/>
            <a:ext cx="4096512" cy="310896"/>
          </a:xfrm>
          <a:prstGeom prst="rect">
            <a:avLst/>
          </a:prstGeom>
          <a:solidFill>
            <a:srgbClr val="FAFBFF"/>
          </a:solidFill>
          <a:ln w="5080">
            <a:solidFill>
              <a:srgbClr val="C8D6E5"/>
            </a:solidFill>
            <a:prstDash val="solid"/>
          </a:ln>
        </p:spPr>
      </p:sp>
      <p:sp>
        <p:nvSpPr>
          <p:cNvPr id="36" name="Text 31"/>
          <p:cNvSpPr/>
          <p:nvPr/>
        </p:nvSpPr>
        <p:spPr>
          <a:xfrm>
            <a:off x="4809744" y="1188720"/>
            <a:ext cx="1207008" cy="310896"/>
          </a:xfrm>
          <a:prstGeom prst="rect">
            <a:avLst/>
          </a:prstGeom>
          <a:noFill/>
          <a:ln/>
        </p:spPr>
        <p:txBody>
          <a:bodyPr wrap="square" lIns="25400" tIns="25400" rIns="25400" bIns="25400" rtlCol="0" anchor="ctr"/>
          <a:lstStyle/>
          <a:p>
            <a:pPr indent="0" marL="0">
              <a:buNone/>
            </a:pPr>
            <a:r>
              <a:rPr lang="en-US" sz="850" b="1" dirty="0">
                <a:solidFill>
                  <a:srgbClr val="1A2B42"/>
                </a:solidFill>
              </a:rPr>
              <a:t>Pandas + NumPy</a:t>
            </a:r>
            <a:endParaRPr lang="en-US" sz="850" dirty="0"/>
          </a:p>
        </p:txBody>
      </p:sp>
      <p:sp>
        <p:nvSpPr>
          <p:cNvPr id="37" name="Text 32"/>
          <p:cNvSpPr/>
          <p:nvPr/>
        </p:nvSpPr>
        <p:spPr>
          <a:xfrm>
            <a:off x="6035040" y="1188720"/>
            <a:ext cx="914400" cy="310896"/>
          </a:xfrm>
          <a:prstGeom prst="rect">
            <a:avLst/>
          </a:prstGeom>
          <a:noFill/>
          <a:ln/>
        </p:spPr>
        <p:txBody>
          <a:bodyPr wrap="square" lIns="25400" tIns="25400" rIns="25400" bIns="25400" rtlCol="0" anchor="ctr"/>
          <a:lstStyle/>
          <a:p>
            <a:pPr indent="0" marL="0">
              <a:buNone/>
            </a:pPr>
            <a:r>
              <a:rPr lang="en-US" sz="800" dirty="0">
                <a:solidFill>
                  <a:srgbClr val="0D9B8A"/>
                </a:solidFill>
              </a:rPr>
              <a:t>pandas 2.x</a:t>
            </a:r>
            <a:endParaRPr lang="en-US" sz="800" dirty="0"/>
          </a:p>
        </p:txBody>
      </p:sp>
      <p:sp>
        <p:nvSpPr>
          <p:cNvPr id="38" name="Text 33"/>
          <p:cNvSpPr/>
          <p:nvPr/>
        </p:nvSpPr>
        <p:spPr>
          <a:xfrm>
            <a:off x="6976872" y="1188720"/>
            <a:ext cx="1828800" cy="310896"/>
          </a:xfrm>
          <a:prstGeom prst="rect">
            <a:avLst/>
          </a:prstGeom>
          <a:noFill/>
          <a:ln/>
        </p:spPr>
        <p:txBody>
          <a:bodyPr wrap="square" lIns="25400" tIns="25400" rIns="25400" bIns="25400" rtlCol="0" anchor="ctr"/>
          <a:lstStyle/>
          <a:p>
            <a:pPr indent="0" marL="0">
              <a:buNone/>
            </a:pPr>
            <a:r>
              <a:rPr lang="en-US" sz="800" dirty="0">
                <a:solidFill>
                  <a:srgbClr val="8899AA"/>
                </a:solidFill>
              </a:rPr>
              <a:t>Procurement CSV ingestion, cleaning, temporal alignment</a:t>
            </a:r>
            <a:endParaRPr lang="en-US" sz="800" dirty="0"/>
          </a:p>
        </p:txBody>
      </p:sp>
      <p:sp>
        <p:nvSpPr>
          <p:cNvPr id="39" name="Shape 34"/>
          <p:cNvSpPr/>
          <p:nvPr/>
        </p:nvSpPr>
        <p:spPr>
          <a:xfrm>
            <a:off x="4764024" y="1517904"/>
            <a:ext cx="4096512" cy="310896"/>
          </a:xfrm>
          <a:prstGeom prst="rect">
            <a:avLst/>
          </a:prstGeom>
          <a:solidFill>
            <a:srgbClr val="FFFFFF"/>
          </a:solidFill>
          <a:ln w="5080">
            <a:solidFill>
              <a:srgbClr val="C8D6E5"/>
            </a:solidFill>
            <a:prstDash val="solid"/>
          </a:ln>
        </p:spPr>
      </p:sp>
      <p:sp>
        <p:nvSpPr>
          <p:cNvPr id="40" name="Text 35"/>
          <p:cNvSpPr/>
          <p:nvPr/>
        </p:nvSpPr>
        <p:spPr>
          <a:xfrm>
            <a:off x="4809744" y="1517904"/>
            <a:ext cx="1207008" cy="310896"/>
          </a:xfrm>
          <a:prstGeom prst="rect">
            <a:avLst/>
          </a:prstGeom>
          <a:noFill/>
          <a:ln/>
        </p:spPr>
        <p:txBody>
          <a:bodyPr wrap="square" lIns="25400" tIns="25400" rIns="25400" bIns="25400" rtlCol="0" anchor="ctr"/>
          <a:lstStyle/>
          <a:p>
            <a:pPr indent="0" marL="0">
              <a:buNone/>
            </a:pPr>
            <a:r>
              <a:rPr lang="en-US" sz="850" b="1" dirty="0">
                <a:solidFill>
                  <a:srgbClr val="1A2B42"/>
                </a:solidFill>
              </a:rPr>
              <a:t>LightGBM</a:t>
            </a:r>
            <a:endParaRPr lang="en-US" sz="850" dirty="0"/>
          </a:p>
        </p:txBody>
      </p:sp>
      <p:sp>
        <p:nvSpPr>
          <p:cNvPr id="41" name="Text 36"/>
          <p:cNvSpPr/>
          <p:nvPr/>
        </p:nvSpPr>
        <p:spPr>
          <a:xfrm>
            <a:off x="6035040" y="1517904"/>
            <a:ext cx="914400" cy="310896"/>
          </a:xfrm>
          <a:prstGeom prst="rect">
            <a:avLst/>
          </a:prstGeom>
          <a:noFill/>
          <a:ln/>
        </p:spPr>
        <p:txBody>
          <a:bodyPr wrap="square" lIns="25400" tIns="25400" rIns="25400" bIns="25400" rtlCol="0" anchor="ctr"/>
          <a:lstStyle/>
          <a:p>
            <a:pPr indent="0" marL="0">
              <a:buNone/>
            </a:pPr>
            <a:r>
              <a:rPr lang="en-US" sz="800" dirty="0">
                <a:solidFill>
                  <a:srgbClr val="0D9B8A"/>
                </a:solidFill>
              </a:rPr>
              <a:t>lightgbm 4.x</a:t>
            </a:r>
            <a:endParaRPr lang="en-US" sz="800" dirty="0"/>
          </a:p>
        </p:txBody>
      </p:sp>
      <p:sp>
        <p:nvSpPr>
          <p:cNvPr id="42" name="Text 37"/>
          <p:cNvSpPr/>
          <p:nvPr/>
        </p:nvSpPr>
        <p:spPr>
          <a:xfrm>
            <a:off x="6976872" y="1517904"/>
            <a:ext cx="1828800" cy="310896"/>
          </a:xfrm>
          <a:prstGeom prst="rect">
            <a:avLst/>
          </a:prstGeom>
          <a:noFill/>
          <a:ln/>
        </p:spPr>
        <p:txBody>
          <a:bodyPr wrap="square" lIns="25400" tIns="25400" rIns="25400" bIns="25400" rtlCol="0" anchor="ctr"/>
          <a:lstStyle/>
          <a:p>
            <a:pPr indent="0" marL="0">
              <a:buNone/>
            </a:pPr>
            <a:r>
              <a:rPr lang="en-US" sz="800" dirty="0">
                <a:solidFill>
                  <a:srgbClr val="8899AA"/>
                </a:solidFill>
              </a:rPr>
              <a:t>Ablation Config A &amp; B baseline models for comparison</a:t>
            </a:r>
            <a:endParaRPr lang="en-US" sz="800" dirty="0"/>
          </a:p>
        </p:txBody>
      </p:sp>
      <p:sp>
        <p:nvSpPr>
          <p:cNvPr id="43" name="Shape 38"/>
          <p:cNvSpPr/>
          <p:nvPr/>
        </p:nvSpPr>
        <p:spPr>
          <a:xfrm>
            <a:off x="4764024" y="1847088"/>
            <a:ext cx="4096512" cy="310896"/>
          </a:xfrm>
          <a:prstGeom prst="rect">
            <a:avLst/>
          </a:prstGeom>
          <a:solidFill>
            <a:srgbClr val="FAFBFF"/>
          </a:solidFill>
          <a:ln w="5080">
            <a:solidFill>
              <a:srgbClr val="C8D6E5"/>
            </a:solidFill>
            <a:prstDash val="solid"/>
          </a:ln>
        </p:spPr>
      </p:sp>
      <p:sp>
        <p:nvSpPr>
          <p:cNvPr id="44" name="Text 39"/>
          <p:cNvSpPr/>
          <p:nvPr/>
        </p:nvSpPr>
        <p:spPr>
          <a:xfrm>
            <a:off x="4809744" y="1847088"/>
            <a:ext cx="1207008" cy="310896"/>
          </a:xfrm>
          <a:prstGeom prst="rect">
            <a:avLst/>
          </a:prstGeom>
          <a:noFill/>
          <a:ln/>
        </p:spPr>
        <p:txBody>
          <a:bodyPr wrap="square" lIns="25400" tIns="25400" rIns="25400" bIns="25400" rtlCol="0" anchor="ctr"/>
          <a:lstStyle/>
          <a:p>
            <a:pPr indent="0" marL="0">
              <a:buNone/>
            </a:pPr>
            <a:r>
              <a:rPr lang="en-US" sz="850" b="1" dirty="0">
                <a:solidFill>
                  <a:srgbClr val="1A2B42"/>
                </a:solidFill>
              </a:rPr>
              <a:t>Prophet</a:t>
            </a:r>
            <a:endParaRPr lang="en-US" sz="850" dirty="0"/>
          </a:p>
        </p:txBody>
      </p:sp>
      <p:sp>
        <p:nvSpPr>
          <p:cNvPr id="45" name="Text 40"/>
          <p:cNvSpPr/>
          <p:nvPr/>
        </p:nvSpPr>
        <p:spPr>
          <a:xfrm>
            <a:off x="6035040" y="1847088"/>
            <a:ext cx="914400" cy="310896"/>
          </a:xfrm>
          <a:prstGeom prst="rect">
            <a:avLst/>
          </a:prstGeom>
          <a:noFill/>
          <a:ln/>
        </p:spPr>
        <p:txBody>
          <a:bodyPr wrap="square" lIns="25400" tIns="25400" rIns="25400" bIns="25400" rtlCol="0" anchor="ctr"/>
          <a:lstStyle/>
          <a:p>
            <a:pPr indent="0" marL="0">
              <a:buNone/>
            </a:pPr>
            <a:r>
              <a:rPr lang="en-US" sz="800" dirty="0">
                <a:solidFill>
                  <a:srgbClr val="0D9B8A"/>
                </a:solidFill>
              </a:rPr>
              <a:t>neuralprophet</a:t>
            </a:r>
            <a:endParaRPr lang="en-US" sz="800" dirty="0"/>
          </a:p>
        </p:txBody>
      </p:sp>
      <p:sp>
        <p:nvSpPr>
          <p:cNvPr id="46" name="Text 41"/>
          <p:cNvSpPr/>
          <p:nvPr/>
        </p:nvSpPr>
        <p:spPr>
          <a:xfrm>
            <a:off x="6976872" y="1847088"/>
            <a:ext cx="1828800" cy="310896"/>
          </a:xfrm>
          <a:prstGeom prst="rect">
            <a:avLst/>
          </a:prstGeom>
          <a:noFill/>
          <a:ln/>
        </p:spPr>
        <p:txBody>
          <a:bodyPr wrap="square" lIns="25400" tIns="25400" rIns="25400" bIns="25400" rtlCol="0" anchor="ctr"/>
          <a:lstStyle/>
          <a:p>
            <a:pPr indent="0" marL="0">
              <a:buNone/>
            </a:pPr>
            <a:r>
              <a:rPr lang="en-US" sz="800" dirty="0">
                <a:solidFill>
                  <a:srgbClr val="8899AA"/>
                </a:solidFill>
              </a:rPr>
              <a:t>Seasonal baseline — captures festival/holiday demand patterns</a:t>
            </a:r>
            <a:endParaRPr lang="en-US" sz="800" dirty="0"/>
          </a:p>
        </p:txBody>
      </p:sp>
      <p:sp>
        <p:nvSpPr>
          <p:cNvPr id="47" name="Shape 42"/>
          <p:cNvSpPr/>
          <p:nvPr/>
        </p:nvSpPr>
        <p:spPr>
          <a:xfrm>
            <a:off x="4764024" y="2176272"/>
            <a:ext cx="4096512" cy="310896"/>
          </a:xfrm>
          <a:prstGeom prst="rect">
            <a:avLst/>
          </a:prstGeom>
          <a:solidFill>
            <a:srgbClr val="FFFFFF"/>
          </a:solidFill>
          <a:ln w="5080">
            <a:solidFill>
              <a:srgbClr val="C8D6E5"/>
            </a:solidFill>
            <a:prstDash val="solid"/>
          </a:ln>
        </p:spPr>
      </p:sp>
      <p:sp>
        <p:nvSpPr>
          <p:cNvPr id="48" name="Text 43"/>
          <p:cNvSpPr/>
          <p:nvPr/>
        </p:nvSpPr>
        <p:spPr>
          <a:xfrm>
            <a:off x="4809744" y="2176272"/>
            <a:ext cx="1207008" cy="310896"/>
          </a:xfrm>
          <a:prstGeom prst="rect">
            <a:avLst/>
          </a:prstGeom>
          <a:noFill/>
          <a:ln/>
        </p:spPr>
        <p:txBody>
          <a:bodyPr wrap="square" lIns="25400" tIns="25400" rIns="25400" bIns="25400" rtlCol="0" anchor="ctr"/>
          <a:lstStyle/>
          <a:p>
            <a:pPr indent="0" marL="0">
              <a:buNone/>
            </a:pPr>
            <a:r>
              <a:rPr lang="en-US" sz="850" b="1" dirty="0">
                <a:solidFill>
                  <a:srgbClr val="1A2B42"/>
                </a:solidFill>
              </a:rPr>
              <a:t>ARIMA</a:t>
            </a:r>
            <a:endParaRPr lang="en-US" sz="850" dirty="0"/>
          </a:p>
        </p:txBody>
      </p:sp>
      <p:sp>
        <p:nvSpPr>
          <p:cNvPr id="49" name="Text 44"/>
          <p:cNvSpPr/>
          <p:nvPr/>
        </p:nvSpPr>
        <p:spPr>
          <a:xfrm>
            <a:off x="6035040" y="2176272"/>
            <a:ext cx="914400" cy="310896"/>
          </a:xfrm>
          <a:prstGeom prst="rect">
            <a:avLst/>
          </a:prstGeom>
          <a:noFill/>
          <a:ln/>
        </p:spPr>
        <p:txBody>
          <a:bodyPr wrap="square" lIns="25400" tIns="25400" rIns="25400" bIns="25400" rtlCol="0" anchor="ctr"/>
          <a:lstStyle/>
          <a:p>
            <a:pPr indent="0" marL="0">
              <a:buNone/>
            </a:pPr>
            <a:r>
              <a:rPr lang="en-US" sz="800" dirty="0">
                <a:solidFill>
                  <a:srgbClr val="0D9B8A"/>
                </a:solidFill>
              </a:rPr>
              <a:t>statsmodels</a:t>
            </a:r>
            <a:endParaRPr lang="en-US" sz="800" dirty="0"/>
          </a:p>
        </p:txBody>
      </p:sp>
      <p:sp>
        <p:nvSpPr>
          <p:cNvPr id="50" name="Text 45"/>
          <p:cNvSpPr/>
          <p:nvPr/>
        </p:nvSpPr>
        <p:spPr>
          <a:xfrm>
            <a:off x="6976872" y="2176272"/>
            <a:ext cx="1828800" cy="310896"/>
          </a:xfrm>
          <a:prstGeom prst="rect">
            <a:avLst/>
          </a:prstGeom>
          <a:noFill/>
          <a:ln/>
        </p:spPr>
        <p:txBody>
          <a:bodyPr wrap="square" lIns="25400" tIns="25400" rIns="25400" bIns="25400" rtlCol="0" anchor="ctr"/>
          <a:lstStyle/>
          <a:p>
            <a:pPr indent="0" marL="0">
              <a:buNone/>
            </a:pPr>
            <a:r>
              <a:rPr lang="en-US" sz="800" dirty="0">
                <a:solidFill>
                  <a:srgbClr val="8899AA"/>
                </a:solidFill>
              </a:rPr>
              <a:t>Classical baseline — monthly procurement cycle modelling</a:t>
            </a:r>
            <a:endParaRPr lang="en-US" sz="800" dirty="0"/>
          </a:p>
        </p:txBody>
      </p:sp>
      <p:sp>
        <p:nvSpPr>
          <p:cNvPr id="51" name="Shape 46"/>
          <p:cNvSpPr/>
          <p:nvPr/>
        </p:nvSpPr>
        <p:spPr>
          <a:xfrm>
            <a:off x="4764024" y="2505456"/>
            <a:ext cx="4096512" cy="310896"/>
          </a:xfrm>
          <a:prstGeom prst="rect">
            <a:avLst/>
          </a:prstGeom>
          <a:solidFill>
            <a:srgbClr val="FAFBFF"/>
          </a:solidFill>
          <a:ln w="5080">
            <a:solidFill>
              <a:srgbClr val="C8D6E5"/>
            </a:solidFill>
            <a:prstDash val="solid"/>
          </a:ln>
        </p:spPr>
      </p:sp>
      <p:sp>
        <p:nvSpPr>
          <p:cNvPr id="52" name="Text 47"/>
          <p:cNvSpPr/>
          <p:nvPr/>
        </p:nvSpPr>
        <p:spPr>
          <a:xfrm>
            <a:off x="4809744" y="2505456"/>
            <a:ext cx="1207008" cy="310896"/>
          </a:xfrm>
          <a:prstGeom prst="rect">
            <a:avLst/>
          </a:prstGeom>
          <a:noFill/>
          <a:ln/>
        </p:spPr>
        <p:txBody>
          <a:bodyPr wrap="square" lIns="25400" tIns="25400" rIns="25400" bIns="25400" rtlCol="0" anchor="ctr"/>
          <a:lstStyle/>
          <a:p>
            <a:pPr indent="0" marL="0">
              <a:buNone/>
            </a:pPr>
            <a:r>
              <a:rPr lang="en-US" sz="850" b="1" dirty="0">
                <a:solidFill>
                  <a:srgbClr val="1A2B42"/>
                </a:solidFill>
              </a:rPr>
              <a:t>Scikit-learn</a:t>
            </a:r>
            <a:endParaRPr lang="en-US" sz="850" dirty="0"/>
          </a:p>
        </p:txBody>
      </p:sp>
      <p:sp>
        <p:nvSpPr>
          <p:cNvPr id="53" name="Text 48"/>
          <p:cNvSpPr/>
          <p:nvPr/>
        </p:nvSpPr>
        <p:spPr>
          <a:xfrm>
            <a:off x="6035040" y="2505456"/>
            <a:ext cx="914400" cy="310896"/>
          </a:xfrm>
          <a:prstGeom prst="rect">
            <a:avLst/>
          </a:prstGeom>
          <a:noFill/>
          <a:ln/>
        </p:spPr>
        <p:txBody>
          <a:bodyPr wrap="square" lIns="25400" tIns="25400" rIns="25400" bIns="25400" rtlCol="0" anchor="ctr"/>
          <a:lstStyle/>
          <a:p>
            <a:pPr indent="0" marL="0">
              <a:buNone/>
            </a:pPr>
            <a:r>
              <a:rPr lang="en-US" sz="800" dirty="0">
                <a:solidFill>
                  <a:srgbClr val="0D9B8A"/>
                </a:solidFill>
              </a:rPr>
              <a:t>sklearn 1.4</a:t>
            </a:r>
            <a:endParaRPr lang="en-US" sz="800" dirty="0"/>
          </a:p>
        </p:txBody>
      </p:sp>
      <p:sp>
        <p:nvSpPr>
          <p:cNvPr id="54" name="Text 49"/>
          <p:cNvSpPr/>
          <p:nvPr/>
        </p:nvSpPr>
        <p:spPr>
          <a:xfrm>
            <a:off x="6976872" y="2505456"/>
            <a:ext cx="1828800" cy="310896"/>
          </a:xfrm>
          <a:prstGeom prst="rect">
            <a:avLst/>
          </a:prstGeom>
          <a:noFill/>
          <a:ln/>
        </p:spPr>
        <p:txBody>
          <a:bodyPr wrap="square" lIns="25400" tIns="25400" rIns="25400" bIns="25400" rtlCol="0" anchor="ctr"/>
          <a:lstStyle/>
          <a:p>
            <a:pPr indent="0" marL="0">
              <a:buNone/>
            </a:pPr>
            <a:r>
              <a:rPr lang="en-US" sz="800" dirty="0">
                <a:solidFill>
                  <a:srgbClr val="8899AA"/>
                </a:solidFill>
              </a:rPr>
              <a:t>Feature scaling, train/val/test temporal split, eval metrics</a:t>
            </a:r>
            <a:endParaRPr lang="en-US" sz="800" dirty="0"/>
          </a:p>
        </p:txBody>
      </p:sp>
      <p:sp>
        <p:nvSpPr>
          <p:cNvPr id="55" name="Shape 50"/>
          <p:cNvSpPr/>
          <p:nvPr/>
        </p:nvSpPr>
        <p:spPr>
          <a:xfrm>
            <a:off x="164592" y="3017520"/>
            <a:ext cx="4279392" cy="2029968"/>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56" name="Shape 51"/>
          <p:cNvSpPr/>
          <p:nvPr/>
        </p:nvSpPr>
        <p:spPr>
          <a:xfrm>
            <a:off x="164592" y="3017520"/>
            <a:ext cx="4279392" cy="310896"/>
          </a:xfrm>
          <a:prstGeom prst="rect">
            <a:avLst/>
          </a:prstGeom>
          <a:solidFill>
            <a:srgbClr val="F0A500"/>
          </a:solidFill>
          <a:ln w="12700">
            <a:solidFill>
              <a:srgbClr val="F0A500"/>
            </a:solidFill>
            <a:prstDash val="solid"/>
          </a:ln>
        </p:spPr>
      </p:sp>
      <p:pic>
        <p:nvPicPr>
          <p:cNvPr id="57" name="Image 3" descr="preencoded.png">    </p:cNvPr>
          <p:cNvPicPr>
            <a:picLocks noChangeAspect="1"/>
          </p:cNvPicPr>
          <p:nvPr/>
        </p:nvPicPr>
        <p:blipFill>
          <a:blip r:embed="rId4"/>
          <a:stretch>
            <a:fillRect/>
          </a:stretch>
        </p:blipFill>
        <p:spPr>
          <a:xfrm>
            <a:off x="256032" y="3063240"/>
            <a:ext cx="219456" cy="219456"/>
          </a:xfrm>
          <a:prstGeom prst="rect">
            <a:avLst/>
          </a:prstGeom>
        </p:spPr>
      </p:pic>
      <p:sp>
        <p:nvSpPr>
          <p:cNvPr id="58" name="Text 52"/>
          <p:cNvSpPr/>
          <p:nvPr/>
        </p:nvSpPr>
        <p:spPr>
          <a:xfrm>
            <a:off x="530352" y="3017520"/>
            <a:ext cx="3858768" cy="310896"/>
          </a:xfrm>
          <a:prstGeom prst="rect">
            <a:avLst/>
          </a:prstGeom>
          <a:noFill/>
          <a:ln/>
        </p:spPr>
        <p:txBody>
          <a:bodyPr wrap="square" lIns="0" tIns="0" rIns="0" bIns="0" rtlCol="0" anchor="ctr"/>
          <a:lstStyle/>
          <a:p>
            <a:pPr indent="0" marL="0">
              <a:buNone/>
            </a:pPr>
            <a:r>
              <a:rPr lang="en-US" sz="1050" b="1" dirty="0">
                <a:solidFill>
                  <a:srgbClr val="0A1628"/>
                </a:solidFill>
              </a:rPr>
              <a:t>Backend &amp; API</a:t>
            </a:r>
            <a:endParaRPr lang="en-US" sz="1050" dirty="0"/>
          </a:p>
        </p:txBody>
      </p:sp>
      <p:sp>
        <p:nvSpPr>
          <p:cNvPr id="59" name="Shape 53"/>
          <p:cNvSpPr/>
          <p:nvPr/>
        </p:nvSpPr>
        <p:spPr>
          <a:xfrm>
            <a:off x="256032" y="3364992"/>
            <a:ext cx="4096512" cy="310896"/>
          </a:xfrm>
          <a:prstGeom prst="rect">
            <a:avLst/>
          </a:prstGeom>
          <a:solidFill>
            <a:srgbClr val="FAFBFF"/>
          </a:solidFill>
          <a:ln w="5080">
            <a:solidFill>
              <a:srgbClr val="C8D6E5"/>
            </a:solidFill>
            <a:prstDash val="solid"/>
          </a:ln>
        </p:spPr>
      </p:sp>
      <p:sp>
        <p:nvSpPr>
          <p:cNvPr id="60" name="Text 54"/>
          <p:cNvSpPr/>
          <p:nvPr/>
        </p:nvSpPr>
        <p:spPr>
          <a:xfrm>
            <a:off x="301752" y="3364992"/>
            <a:ext cx="1207008" cy="310896"/>
          </a:xfrm>
          <a:prstGeom prst="rect">
            <a:avLst/>
          </a:prstGeom>
          <a:noFill/>
          <a:ln/>
        </p:spPr>
        <p:txBody>
          <a:bodyPr wrap="square" lIns="25400" tIns="25400" rIns="25400" bIns="25400" rtlCol="0" anchor="ctr"/>
          <a:lstStyle/>
          <a:p>
            <a:pPr indent="0" marL="0">
              <a:buNone/>
            </a:pPr>
            <a:r>
              <a:rPr lang="en-US" sz="850" b="1" dirty="0">
                <a:solidFill>
                  <a:srgbClr val="1A2B42"/>
                </a:solidFill>
              </a:rPr>
              <a:t>FastAPI</a:t>
            </a:r>
            <a:endParaRPr lang="en-US" sz="850" dirty="0"/>
          </a:p>
        </p:txBody>
      </p:sp>
      <p:sp>
        <p:nvSpPr>
          <p:cNvPr id="61" name="Text 55"/>
          <p:cNvSpPr/>
          <p:nvPr/>
        </p:nvSpPr>
        <p:spPr>
          <a:xfrm>
            <a:off x="1527048" y="3364992"/>
            <a:ext cx="914400" cy="310896"/>
          </a:xfrm>
          <a:prstGeom prst="rect">
            <a:avLst/>
          </a:prstGeom>
          <a:noFill/>
          <a:ln/>
        </p:spPr>
        <p:txBody>
          <a:bodyPr wrap="square" lIns="25400" tIns="25400" rIns="25400" bIns="25400" rtlCol="0" anchor="ctr"/>
          <a:lstStyle/>
          <a:p>
            <a:pPr indent="0" marL="0">
              <a:buNone/>
            </a:pPr>
            <a:r>
              <a:rPr lang="en-US" sz="800" dirty="0">
                <a:solidFill>
                  <a:srgbClr val="0D9B8A"/>
                </a:solidFill>
              </a:rPr>
              <a:t>fastapi 0.110</a:t>
            </a:r>
            <a:endParaRPr lang="en-US" sz="800" dirty="0"/>
          </a:p>
        </p:txBody>
      </p:sp>
      <p:sp>
        <p:nvSpPr>
          <p:cNvPr id="62" name="Text 56"/>
          <p:cNvSpPr/>
          <p:nvPr/>
        </p:nvSpPr>
        <p:spPr>
          <a:xfrm>
            <a:off x="2468880" y="3364992"/>
            <a:ext cx="1828800" cy="310896"/>
          </a:xfrm>
          <a:prstGeom prst="rect">
            <a:avLst/>
          </a:prstGeom>
          <a:noFill/>
          <a:ln/>
        </p:spPr>
        <p:txBody>
          <a:bodyPr wrap="square" lIns="25400" tIns="25400" rIns="25400" bIns="25400" rtlCol="0" anchor="ctr"/>
          <a:lstStyle/>
          <a:p>
            <a:pPr indent="0" marL="0">
              <a:buNone/>
            </a:pPr>
            <a:r>
              <a:rPr lang="en-US" sz="800" dirty="0">
                <a:solidFill>
                  <a:srgbClr val="8899AA"/>
                </a:solidFill>
              </a:rPr>
              <a:t>REST endpoints for CSV upload, prediction, disruption simulation</a:t>
            </a:r>
            <a:endParaRPr lang="en-US" sz="800" dirty="0"/>
          </a:p>
        </p:txBody>
      </p:sp>
      <p:sp>
        <p:nvSpPr>
          <p:cNvPr id="63" name="Shape 57"/>
          <p:cNvSpPr/>
          <p:nvPr/>
        </p:nvSpPr>
        <p:spPr>
          <a:xfrm>
            <a:off x="256032" y="3694176"/>
            <a:ext cx="4096512" cy="310896"/>
          </a:xfrm>
          <a:prstGeom prst="rect">
            <a:avLst/>
          </a:prstGeom>
          <a:solidFill>
            <a:srgbClr val="FFFFFF"/>
          </a:solidFill>
          <a:ln w="5080">
            <a:solidFill>
              <a:srgbClr val="C8D6E5"/>
            </a:solidFill>
            <a:prstDash val="solid"/>
          </a:ln>
        </p:spPr>
      </p:sp>
      <p:sp>
        <p:nvSpPr>
          <p:cNvPr id="64" name="Text 58"/>
          <p:cNvSpPr/>
          <p:nvPr/>
        </p:nvSpPr>
        <p:spPr>
          <a:xfrm>
            <a:off x="301752" y="3694176"/>
            <a:ext cx="1207008" cy="310896"/>
          </a:xfrm>
          <a:prstGeom prst="rect">
            <a:avLst/>
          </a:prstGeom>
          <a:noFill/>
          <a:ln/>
        </p:spPr>
        <p:txBody>
          <a:bodyPr wrap="square" lIns="25400" tIns="25400" rIns="25400" bIns="25400" rtlCol="0" anchor="ctr"/>
          <a:lstStyle/>
          <a:p>
            <a:pPr indent="0" marL="0">
              <a:buNone/>
            </a:pPr>
            <a:r>
              <a:rPr lang="en-US" sz="850" b="1" dirty="0">
                <a:solidFill>
                  <a:srgbClr val="1A2B42"/>
                </a:solidFill>
              </a:rPr>
              <a:t>ONNX Runtime</a:t>
            </a:r>
            <a:endParaRPr lang="en-US" sz="850" dirty="0"/>
          </a:p>
        </p:txBody>
      </p:sp>
      <p:sp>
        <p:nvSpPr>
          <p:cNvPr id="65" name="Text 59"/>
          <p:cNvSpPr/>
          <p:nvPr/>
        </p:nvSpPr>
        <p:spPr>
          <a:xfrm>
            <a:off x="1527048" y="3694176"/>
            <a:ext cx="914400" cy="310896"/>
          </a:xfrm>
          <a:prstGeom prst="rect">
            <a:avLst/>
          </a:prstGeom>
          <a:noFill/>
          <a:ln/>
        </p:spPr>
        <p:txBody>
          <a:bodyPr wrap="square" lIns="25400" tIns="25400" rIns="25400" bIns="25400" rtlCol="0" anchor="ctr"/>
          <a:lstStyle/>
          <a:p>
            <a:pPr indent="0" marL="0">
              <a:buNone/>
            </a:pPr>
            <a:r>
              <a:rPr lang="en-US" sz="800" dirty="0">
                <a:solidFill>
                  <a:srgbClr val="0D9B8A"/>
                </a:solidFill>
              </a:rPr>
              <a:t>onnxruntime</a:t>
            </a:r>
            <a:endParaRPr lang="en-US" sz="800" dirty="0"/>
          </a:p>
        </p:txBody>
      </p:sp>
      <p:sp>
        <p:nvSpPr>
          <p:cNvPr id="66" name="Text 60"/>
          <p:cNvSpPr/>
          <p:nvPr/>
        </p:nvSpPr>
        <p:spPr>
          <a:xfrm>
            <a:off x="2468880" y="3694176"/>
            <a:ext cx="1828800" cy="310896"/>
          </a:xfrm>
          <a:prstGeom prst="rect">
            <a:avLst/>
          </a:prstGeom>
          <a:noFill/>
          <a:ln/>
        </p:spPr>
        <p:txBody>
          <a:bodyPr wrap="square" lIns="25400" tIns="25400" rIns="25400" bIns="25400" rtlCol="0" anchor="ctr"/>
          <a:lstStyle/>
          <a:p>
            <a:pPr indent="0" marL="0">
              <a:buNone/>
            </a:pPr>
            <a:r>
              <a:rPr lang="en-US" sz="800" dirty="0">
                <a:solidFill>
                  <a:srgbClr val="8899AA"/>
                </a:solidFill>
              </a:rPr>
              <a:t>Optimised TFT inference — 5x faster than PyTorch at serving</a:t>
            </a:r>
            <a:endParaRPr lang="en-US" sz="800" dirty="0"/>
          </a:p>
        </p:txBody>
      </p:sp>
      <p:sp>
        <p:nvSpPr>
          <p:cNvPr id="67" name="Shape 61"/>
          <p:cNvSpPr/>
          <p:nvPr/>
        </p:nvSpPr>
        <p:spPr>
          <a:xfrm>
            <a:off x="256032" y="4023360"/>
            <a:ext cx="4096512" cy="310896"/>
          </a:xfrm>
          <a:prstGeom prst="rect">
            <a:avLst/>
          </a:prstGeom>
          <a:solidFill>
            <a:srgbClr val="FAFBFF"/>
          </a:solidFill>
          <a:ln w="5080">
            <a:solidFill>
              <a:srgbClr val="C8D6E5"/>
            </a:solidFill>
            <a:prstDash val="solid"/>
          </a:ln>
        </p:spPr>
      </p:sp>
      <p:sp>
        <p:nvSpPr>
          <p:cNvPr id="68" name="Text 62"/>
          <p:cNvSpPr/>
          <p:nvPr/>
        </p:nvSpPr>
        <p:spPr>
          <a:xfrm>
            <a:off x="301752" y="4023360"/>
            <a:ext cx="1207008" cy="310896"/>
          </a:xfrm>
          <a:prstGeom prst="rect">
            <a:avLst/>
          </a:prstGeom>
          <a:noFill/>
          <a:ln/>
        </p:spPr>
        <p:txBody>
          <a:bodyPr wrap="square" lIns="25400" tIns="25400" rIns="25400" bIns="25400" rtlCol="0" anchor="ctr"/>
          <a:lstStyle/>
          <a:p>
            <a:pPr indent="0" marL="0">
              <a:buNone/>
            </a:pPr>
            <a:r>
              <a:rPr lang="en-US" sz="850" b="1" dirty="0">
                <a:solidFill>
                  <a:srgbClr val="1A2B42"/>
                </a:solidFill>
              </a:rPr>
              <a:t>PostgreSQL</a:t>
            </a:r>
            <a:endParaRPr lang="en-US" sz="850" dirty="0"/>
          </a:p>
        </p:txBody>
      </p:sp>
      <p:sp>
        <p:nvSpPr>
          <p:cNvPr id="69" name="Text 63"/>
          <p:cNvSpPr/>
          <p:nvPr/>
        </p:nvSpPr>
        <p:spPr>
          <a:xfrm>
            <a:off x="1527048" y="4023360"/>
            <a:ext cx="914400" cy="310896"/>
          </a:xfrm>
          <a:prstGeom prst="rect">
            <a:avLst/>
          </a:prstGeom>
          <a:noFill/>
          <a:ln/>
        </p:spPr>
        <p:txBody>
          <a:bodyPr wrap="square" lIns="25400" tIns="25400" rIns="25400" bIns="25400" rtlCol="0" anchor="ctr"/>
          <a:lstStyle/>
          <a:p>
            <a:pPr indent="0" marL="0">
              <a:buNone/>
            </a:pPr>
            <a:r>
              <a:rPr lang="en-US" sz="800" dirty="0">
                <a:solidFill>
                  <a:srgbClr val="0D9B8A"/>
                </a:solidFill>
              </a:rPr>
              <a:t>psycopg2</a:t>
            </a:r>
            <a:endParaRPr lang="en-US" sz="800" dirty="0"/>
          </a:p>
        </p:txBody>
      </p:sp>
      <p:sp>
        <p:nvSpPr>
          <p:cNvPr id="70" name="Text 64"/>
          <p:cNvSpPr/>
          <p:nvPr/>
        </p:nvSpPr>
        <p:spPr>
          <a:xfrm>
            <a:off x="2468880" y="4023360"/>
            <a:ext cx="1828800" cy="310896"/>
          </a:xfrm>
          <a:prstGeom prst="rect">
            <a:avLst/>
          </a:prstGeom>
          <a:noFill/>
          <a:ln/>
        </p:spPr>
        <p:txBody>
          <a:bodyPr wrap="square" lIns="25400" tIns="25400" rIns="25400" bIns="25400" rtlCol="0" anchor="ctr"/>
          <a:lstStyle/>
          <a:p>
            <a:pPr indent="0" marL="0">
              <a:buNone/>
            </a:pPr>
            <a:r>
              <a:rPr lang="en-US" sz="800" dirty="0">
                <a:solidFill>
                  <a:srgbClr val="8899AA"/>
                </a:solidFill>
              </a:rPr>
              <a:t>Persistent storage for procurement history and cached forecasts</a:t>
            </a:r>
            <a:endParaRPr lang="en-US" sz="800" dirty="0"/>
          </a:p>
        </p:txBody>
      </p:sp>
      <p:sp>
        <p:nvSpPr>
          <p:cNvPr id="71" name="Shape 65"/>
          <p:cNvSpPr/>
          <p:nvPr/>
        </p:nvSpPr>
        <p:spPr>
          <a:xfrm>
            <a:off x="256032" y="4352544"/>
            <a:ext cx="4096512" cy="310896"/>
          </a:xfrm>
          <a:prstGeom prst="rect">
            <a:avLst/>
          </a:prstGeom>
          <a:solidFill>
            <a:srgbClr val="FFFFFF"/>
          </a:solidFill>
          <a:ln w="5080">
            <a:solidFill>
              <a:srgbClr val="C8D6E5"/>
            </a:solidFill>
            <a:prstDash val="solid"/>
          </a:ln>
        </p:spPr>
      </p:sp>
      <p:sp>
        <p:nvSpPr>
          <p:cNvPr id="72" name="Text 66"/>
          <p:cNvSpPr/>
          <p:nvPr/>
        </p:nvSpPr>
        <p:spPr>
          <a:xfrm>
            <a:off x="301752" y="4352544"/>
            <a:ext cx="1207008" cy="310896"/>
          </a:xfrm>
          <a:prstGeom prst="rect">
            <a:avLst/>
          </a:prstGeom>
          <a:noFill/>
          <a:ln/>
        </p:spPr>
        <p:txBody>
          <a:bodyPr wrap="square" lIns="25400" tIns="25400" rIns="25400" bIns="25400" rtlCol="0" anchor="ctr"/>
          <a:lstStyle/>
          <a:p>
            <a:pPr indent="0" marL="0">
              <a:buNone/>
            </a:pPr>
            <a:r>
              <a:rPr lang="en-US" sz="850" b="1" dirty="0">
                <a:solidFill>
                  <a:srgbClr val="1A2B42"/>
                </a:solidFill>
              </a:rPr>
              <a:t>Redis</a:t>
            </a:r>
            <a:endParaRPr lang="en-US" sz="850" dirty="0"/>
          </a:p>
        </p:txBody>
      </p:sp>
      <p:sp>
        <p:nvSpPr>
          <p:cNvPr id="73" name="Text 67"/>
          <p:cNvSpPr/>
          <p:nvPr/>
        </p:nvSpPr>
        <p:spPr>
          <a:xfrm>
            <a:off x="1527048" y="4352544"/>
            <a:ext cx="914400" cy="310896"/>
          </a:xfrm>
          <a:prstGeom prst="rect">
            <a:avLst/>
          </a:prstGeom>
          <a:noFill/>
          <a:ln/>
        </p:spPr>
        <p:txBody>
          <a:bodyPr wrap="square" lIns="25400" tIns="25400" rIns="25400" bIns="25400" rtlCol="0" anchor="ctr"/>
          <a:lstStyle/>
          <a:p>
            <a:pPr indent="0" marL="0">
              <a:buNone/>
            </a:pPr>
            <a:r>
              <a:rPr lang="en-US" sz="800" dirty="0">
                <a:solidFill>
                  <a:srgbClr val="0D9B8A"/>
                </a:solidFill>
              </a:rPr>
              <a:t>redis-py</a:t>
            </a:r>
            <a:endParaRPr lang="en-US" sz="800" dirty="0"/>
          </a:p>
        </p:txBody>
      </p:sp>
      <p:sp>
        <p:nvSpPr>
          <p:cNvPr id="74" name="Text 68"/>
          <p:cNvSpPr/>
          <p:nvPr/>
        </p:nvSpPr>
        <p:spPr>
          <a:xfrm>
            <a:off x="2468880" y="4352544"/>
            <a:ext cx="1828800" cy="310896"/>
          </a:xfrm>
          <a:prstGeom prst="rect">
            <a:avLst/>
          </a:prstGeom>
          <a:noFill/>
          <a:ln/>
        </p:spPr>
        <p:txBody>
          <a:bodyPr wrap="square" lIns="25400" tIns="25400" rIns="25400" bIns="25400" rtlCol="0" anchor="ctr"/>
          <a:lstStyle/>
          <a:p>
            <a:pPr indent="0" marL="0">
              <a:buNone/>
            </a:pPr>
            <a:r>
              <a:rPr lang="en-US" sz="800" dirty="0">
                <a:solidFill>
                  <a:srgbClr val="8899AA"/>
                </a:solidFill>
              </a:rPr>
              <a:t>Real-time disruption simulation state and session caching</a:t>
            </a:r>
            <a:endParaRPr lang="en-US" sz="800" dirty="0"/>
          </a:p>
        </p:txBody>
      </p:sp>
      <p:sp>
        <p:nvSpPr>
          <p:cNvPr id="75" name="Shape 69"/>
          <p:cNvSpPr/>
          <p:nvPr/>
        </p:nvSpPr>
        <p:spPr>
          <a:xfrm>
            <a:off x="256032" y="4681728"/>
            <a:ext cx="4096512" cy="310896"/>
          </a:xfrm>
          <a:prstGeom prst="rect">
            <a:avLst/>
          </a:prstGeom>
          <a:solidFill>
            <a:srgbClr val="FAFBFF"/>
          </a:solidFill>
          <a:ln w="5080">
            <a:solidFill>
              <a:srgbClr val="C8D6E5"/>
            </a:solidFill>
            <a:prstDash val="solid"/>
          </a:ln>
        </p:spPr>
      </p:sp>
      <p:sp>
        <p:nvSpPr>
          <p:cNvPr id="76" name="Text 70"/>
          <p:cNvSpPr/>
          <p:nvPr/>
        </p:nvSpPr>
        <p:spPr>
          <a:xfrm>
            <a:off x="301752" y="4681728"/>
            <a:ext cx="1207008" cy="310896"/>
          </a:xfrm>
          <a:prstGeom prst="rect">
            <a:avLst/>
          </a:prstGeom>
          <a:noFill/>
          <a:ln/>
        </p:spPr>
        <p:txBody>
          <a:bodyPr wrap="square" lIns="25400" tIns="25400" rIns="25400" bIns="25400" rtlCol="0" anchor="ctr"/>
          <a:lstStyle/>
          <a:p>
            <a:pPr indent="0" marL="0">
              <a:buNone/>
            </a:pPr>
            <a:r>
              <a:rPr lang="en-US" sz="850" b="1" dirty="0">
                <a:solidFill>
                  <a:srgbClr val="1A2B42"/>
                </a:solidFill>
              </a:rPr>
              <a:t>openFDA API</a:t>
            </a:r>
            <a:endParaRPr lang="en-US" sz="850" dirty="0"/>
          </a:p>
        </p:txBody>
      </p:sp>
      <p:sp>
        <p:nvSpPr>
          <p:cNvPr id="77" name="Text 71"/>
          <p:cNvSpPr/>
          <p:nvPr/>
        </p:nvSpPr>
        <p:spPr>
          <a:xfrm>
            <a:off x="1527048" y="4681728"/>
            <a:ext cx="914400" cy="310896"/>
          </a:xfrm>
          <a:prstGeom prst="rect">
            <a:avLst/>
          </a:prstGeom>
          <a:noFill/>
          <a:ln/>
        </p:spPr>
        <p:txBody>
          <a:bodyPr wrap="square" lIns="25400" tIns="25400" rIns="25400" bIns="25400" rtlCol="0" anchor="ctr"/>
          <a:lstStyle/>
          <a:p>
            <a:pPr indent="0" marL="0">
              <a:buNone/>
            </a:pPr>
            <a:r>
              <a:rPr lang="en-US" sz="800" dirty="0">
                <a:solidFill>
                  <a:srgbClr val="0D9B8A"/>
                </a:solidFill>
              </a:rPr>
              <a:t>requests + FDA REST</a:t>
            </a:r>
            <a:endParaRPr lang="en-US" sz="800" dirty="0"/>
          </a:p>
        </p:txBody>
      </p:sp>
      <p:sp>
        <p:nvSpPr>
          <p:cNvPr id="78" name="Text 72"/>
          <p:cNvSpPr/>
          <p:nvPr/>
        </p:nvSpPr>
        <p:spPr>
          <a:xfrm>
            <a:off x="2468880" y="4681728"/>
            <a:ext cx="1828800" cy="310896"/>
          </a:xfrm>
          <a:prstGeom prst="rect">
            <a:avLst/>
          </a:prstGeom>
          <a:noFill/>
          <a:ln/>
        </p:spPr>
        <p:txBody>
          <a:bodyPr wrap="square" lIns="25400" tIns="25400" rIns="25400" bIns="25400" rtlCol="0" anchor="ctr"/>
          <a:lstStyle/>
          <a:p>
            <a:pPr indent="0" marL="0">
              <a:buNone/>
            </a:pPr>
            <a:r>
              <a:rPr lang="en-US" sz="800" dirty="0">
                <a:solidFill>
                  <a:srgbClr val="8899AA"/>
                </a:solidFill>
              </a:rPr>
              <a:t>Supplier financial distress signals + shortage event ingestion</a:t>
            </a:r>
            <a:endParaRPr lang="en-US" sz="800" dirty="0"/>
          </a:p>
        </p:txBody>
      </p:sp>
      <p:sp>
        <p:nvSpPr>
          <p:cNvPr id="79" name="Shape 73"/>
          <p:cNvSpPr/>
          <p:nvPr/>
        </p:nvSpPr>
        <p:spPr>
          <a:xfrm>
            <a:off x="4672584" y="3017520"/>
            <a:ext cx="4279392" cy="2029968"/>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80" name="Shape 74"/>
          <p:cNvSpPr/>
          <p:nvPr/>
        </p:nvSpPr>
        <p:spPr>
          <a:xfrm>
            <a:off x="4672584" y="3017520"/>
            <a:ext cx="4279392" cy="310896"/>
          </a:xfrm>
          <a:prstGeom prst="rect">
            <a:avLst/>
          </a:prstGeom>
          <a:solidFill>
            <a:srgbClr val="27AE60"/>
          </a:solidFill>
          <a:ln w="12700">
            <a:solidFill>
              <a:srgbClr val="27AE60"/>
            </a:solidFill>
            <a:prstDash val="solid"/>
          </a:ln>
        </p:spPr>
      </p:sp>
      <p:pic>
        <p:nvPicPr>
          <p:cNvPr id="81" name="Image 4" descr="preencoded.png">    </p:cNvPr>
          <p:cNvPicPr>
            <a:picLocks noChangeAspect="1"/>
          </p:cNvPicPr>
          <p:nvPr/>
        </p:nvPicPr>
        <p:blipFill>
          <a:blip r:embed="rId5"/>
          <a:stretch>
            <a:fillRect/>
          </a:stretch>
        </p:blipFill>
        <p:spPr>
          <a:xfrm>
            <a:off x="4764024" y="3063240"/>
            <a:ext cx="219456" cy="219456"/>
          </a:xfrm>
          <a:prstGeom prst="rect">
            <a:avLst/>
          </a:prstGeom>
        </p:spPr>
      </p:pic>
      <p:sp>
        <p:nvSpPr>
          <p:cNvPr id="82" name="Text 75"/>
          <p:cNvSpPr/>
          <p:nvPr/>
        </p:nvSpPr>
        <p:spPr>
          <a:xfrm>
            <a:off x="5038344" y="3017520"/>
            <a:ext cx="3858768" cy="310896"/>
          </a:xfrm>
          <a:prstGeom prst="rect">
            <a:avLst/>
          </a:prstGeom>
          <a:noFill/>
          <a:ln/>
        </p:spPr>
        <p:txBody>
          <a:bodyPr wrap="square" lIns="0" tIns="0" rIns="0" bIns="0" rtlCol="0" anchor="ctr"/>
          <a:lstStyle/>
          <a:p>
            <a:pPr indent="0" marL="0">
              <a:buNone/>
            </a:pPr>
            <a:r>
              <a:rPr lang="en-US" sz="1050" b="1" dirty="0">
                <a:solidFill>
                  <a:srgbClr val="0A1628"/>
                </a:solidFill>
              </a:rPr>
              <a:t>Frontend &amp; Deployment</a:t>
            </a:r>
            <a:endParaRPr lang="en-US" sz="1050" dirty="0"/>
          </a:p>
        </p:txBody>
      </p:sp>
      <p:sp>
        <p:nvSpPr>
          <p:cNvPr id="83" name="Shape 76"/>
          <p:cNvSpPr/>
          <p:nvPr/>
        </p:nvSpPr>
        <p:spPr>
          <a:xfrm>
            <a:off x="4764024" y="3364992"/>
            <a:ext cx="4096512" cy="310896"/>
          </a:xfrm>
          <a:prstGeom prst="rect">
            <a:avLst/>
          </a:prstGeom>
          <a:solidFill>
            <a:srgbClr val="FAFBFF"/>
          </a:solidFill>
          <a:ln w="5080">
            <a:solidFill>
              <a:srgbClr val="C8D6E5"/>
            </a:solidFill>
            <a:prstDash val="solid"/>
          </a:ln>
        </p:spPr>
      </p:sp>
      <p:sp>
        <p:nvSpPr>
          <p:cNvPr id="84" name="Text 77"/>
          <p:cNvSpPr/>
          <p:nvPr/>
        </p:nvSpPr>
        <p:spPr>
          <a:xfrm>
            <a:off x="4809744" y="3364992"/>
            <a:ext cx="1207008" cy="310896"/>
          </a:xfrm>
          <a:prstGeom prst="rect">
            <a:avLst/>
          </a:prstGeom>
          <a:noFill/>
          <a:ln/>
        </p:spPr>
        <p:txBody>
          <a:bodyPr wrap="square" lIns="25400" tIns="25400" rIns="25400" bIns="25400" rtlCol="0" anchor="ctr"/>
          <a:lstStyle/>
          <a:p>
            <a:pPr indent="0" marL="0">
              <a:buNone/>
            </a:pPr>
            <a:r>
              <a:rPr lang="en-US" sz="850" b="1" dirty="0">
                <a:solidFill>
                  <a:srgbClr val="1A2B42"/>
                </a:solidFill>
              </a:rPr>
              <a:t>React + TypeScript</a:t>
            </a:r>
            <a:endParaRPr lang="en-US" sz="850" dirty="0"/>
          </a:p>
        </p:txBody>
      </p:sp>
      <p:sp>
        <p:nvSpPr>
          <p:cNvPr id="85" name="Text 78"/>
          <p:cNvSpPr/>
          <p:nvPr/>
        </p:nvSpPr>
        <p:spPr>
          <a:xfrm>
            <a:off x="6035040" y="3364992"/>
            <a:ext cx="914400" cy="310896"/>
          </a:xfrm>
          <a:prstGeom prst="rect">
            <a:avLst/>
          </a:prstGeom>
          <a:noFill/>
          <a:ln/>
        </p:spPr>
        <p:txBody>
          <a:bodyPr wrap="square" lIns="25400" tIns="25400" rIns="25400" bIns="25400" rtlCol="0" anchor="ctr"/>
          <a:lstStyle/>
          <a:p>
            <a:pPr indent="0" marL="0">
              <a:buNone/>
            </a:pPr>
            <a:r>
              <a:rPr lang="en-US" sz="800" dirty="0">
                <a:solidFill>
                  <a:srgbClr val="0D9B8A"/>
                </a:solidFill>
              </a:rPr>
              <a:t>Vite + React 18</a:t>
            </a:r>
            <a:endParaRPr lang="en-US" sz="800" dirty="0"/>
          </a:p>
        </p:txBody>
      </p:sp>
      <p:sp>
        <p:nvSpPr>
          <p:cNvPr id="86" name="Text 79"/>
          <p:cNvSpPr/>
          <p:nvPr/>
        </p:nvSpPr>
        <p:spPr>
          <a:xfrm>
            <a:off x="6976872" y="3364992"/>
            <a:ext cx="1828800" cy="310896"/>
          </a:xfrm>
          <a:prstGeom prst="rect">
            <a:avLst/>
          </a:prstGeom>
          <a:noFill/>
          <a:ln/>
        </p:spPr>
        <p:txBody>
          <a:bodyPr wrap="square" lIns="25400" tIns="25400" rIns="25400" bIns="25400" rtlCol="0" anchor="ctr"/>
          <a:lstStyle/>
          <a:p>
            <a:pPr indent="0" marL="0">
              <a:buNone/>
            </a:pPr>
            <a:r>
              <a:rPr lang="en-US" sz="800" dirty="0">
                <a:solidFill>
                  <a:srgbClr val="8899AA"/>
                </a:solidFill>
              </a:rPr>
              <a:t>Main SPA dashboard with CSV upload and forecast display</a:t>
            </a:r>
            <a:endParaRPr lang="en-US" sz="800" dirty="0"/>
          </a:p>
        </p:txBody>
      </p:sp>
      <p:sp>
        <p:nvSpPr>
          <p:cNvPr id="87" name="Shape 80"/>
          <p:cNvSpPr/>
          <p:nvPr/>
        </p:nvSpPr>
        <p:spPr>
          <a:xfrm>
            <a:off x="4764024" y="3694176"/>
            <a:ext cx="4096512" cy="310896"/>
          </a:xfrm>
          <a:prstGeom prst="rect">
            <a:avLst/>
          </a:prstGeom>
          <a:solidFill>
            <a:srgbClr val="FFFFFF"/>
          </a:solidFill>
          <a:ln w="5080">
            <a:solidFill>
              <a:srgbClr val="C8D6E5"/>
            </a:solidFill>
            <a:prstDash val="solid"/>
          </a:ln>
        </p:spPr>
      </p:sp>
      <p:sp>
        <p:nvSpPr>
          <p:cNvPr id="88" name="Text 81"/>
          <p:cNvSpPr/>
          <p:nvPr/>
        </p:nvSpPr>
        <p:spPr>
          <a:xfrm>
            <a:off x="4809744" y="3694176"/>
            <a:ext cx="1207008" cy="310896"/>
          </a:xfrm>
          <a:prstGeom prst="rect">
            <a:avLst/>
          </a:prstGeom>
          <a:noFill/>
          <a:ln/>
        </p:spPr>
        <p:txBody>
          <a:bodyPr wrap="square" lIns="25400" tIns="25400" rIns="25400" bIns="25400" rtlCol="0" anchor="ctr"/>
          <a:lstStyle/>
          <a:p>
            <a:pPr indent="0" marL="0">
              <a:buNone/>
            </a:pPr>
            <a:r>
              <a:rPr lang="en-US" sz="850" b="1" dirty="0">
                <a:solidFill>
                  <a:srgbClr val="1A2B42"/>
                </a:solidFill>
              </a:rPr>
              <a:t>Plotly.js</a:t>
            </a:r>
            <a:endParaRPr lang="en-US" sz="850" dirty="0"/>
          </a:p>
        </p:txBody>
      </p:sp>
      <p:sp>
        <p:nvSpPr>
          <p:cNvPr id="89" name="Text 82"/>
          <p:cNvSpPr/>
          <p:nvPr/>
        </p:nvSpPr>
        <p:spPr>
          <a:xfrm>
            <a:off x="6035040" y="3694176"/>
            <a:ext cx="914400" cy="310896"/>
          </a:xfrm>
          <a:prstGeom prst="rect">
            <a:avLst/>
          </a:prstGeom>
          <a:noFill/>
          <a:ln/>
        </p:spPr>
        <p:txBody>
          <a:bodyPr wrap="square" lIns="25400" tIns="25400" rIns="25400" bIns="25400" rtlCol="0" anchor="ctr"/>
          <a:lstStyle/>
          <a:p>
            <a:pPr indent="0" marL="0">
              <a:buNone/>
            </a:pPr>
            <a:r>
              <a:rPr lang="en-US" sz="800" dirty="0">
                <a:solidFill>
                  <a:srgbClr val="0D9B8A"/>
                </a:solidFill>
              </a:rPr>
              <a:t>plotly.js 2.x</a:t>
            </a:r>
            <a:endParaRPr lang="en-US" sz="800" dirty="0"/>
          </a:p>
        </p:txBody>
      </p:sp>
      <p:sp>
        <p:nvSpPr>
          <p:cNvPr id="90" name="Text 83"/>
          <p:cNvSpPr/>
          <p:nvPr/>
        </p:nvSpPr>
        <p:spPr>
          <a:xfrm>
            <a:off x="6976872" y="3694176"/>
            <a:ext cx="1828800" cy="310896"/>
          </a:xfrm>
          <a:prstGeom prst="rect">
            <a:avLst/>
          </a:prstGeom>
          <a:noFill/>
          <a:ln/>
        </p:spPr>
        <p:txBody>
          <a:bodyPr wrap="square" lIns="25400" tIns="25400" rIns="25400" bIns="25400" rtlCol="0" anchor="ctr"/>
          <a:lstStyle/>
          <a:p>
            <a:pPr indent="0" marL="0">
              <a:buNone/>
            </a:pPr>
            <a:r>
              <a:rPr lang="en-US" sz="800" dirty="0">
                <a:solidFill>
                  <a:srgbClr val="8899AA"/>
                </a:solidFill>
              </a:rPr>
              <a:t>Probabilistic fan charts — P10/P50/P90 bands with hover detail</a:t>
            </a:r>
            <a:endParaRPr lang="en-US" sz="800" dirty="0"/>
          </a:p>
        </p:txBody>
      </p:sp>
      <p:sp>
        <p:nvSpPr>
          <p:cNvPr id="91" name="Shape 84"/>
          <p:cNvSpPr/>
          <p:nvPr/>
        </p:nvSpPr>
        <p:spPr>
          <a:xfrm>
            <a:off x="4764024" y="4023360"/>
            <a:ext cx="4096512" cy="310896"/>
          </a:xfrm>
          <a:prstGeom prst="rect">
            <a:avLst/>
          </a:prstGeom>
          <a:solidFill>
            <a:srgbClr val="FAFBFF"/>
          </a:solidFill>
          <a:ln w="5080">
            <a:solidFill>
              <a:srgbClr val="C8D6E5"/>
            </a:solidFill>
            <a:prstDash val="solid"/>
          </a:ln>
        </p:spPr>
      </p:sp>
      <p:sp>
        <p:nvSpPr>
          <p:cNvPr id="92" name="Text 85"/>
          <p:cNvSpPr/>
          <p:nvPr/>
        </p:nvSpPr>
        <p:spPr>
          <a:xfrm>
            <a:off x="4809744" y="4023360"/>
            <a:ext cx="1207008" cy="310896"/>
          </a:xfrm>
          <a:prstGeom prst="rect">
            <a:avLst/>
          </a:prstGeom>
          <a:noFill/>
          <a:ln/>
        </p:spPr>
        <p:txBody>
          <a:bodyPr wrap="square" lIns="25400" tIns="25400" rIns="25400" bIns="25400" rtlCol="0" anchor="ctr"/>
          <a:lstStyle/>
          <a:p>
            <a:pPr indent="0" marL="0">
              <a:buNone/>
            </a:pPr>
            <a:r>
              <a:rPr lang="en-US" sz="850" b="1" dirty="0">
                <a:solidFill>
                  <a:srgbClr val="1A2B42"/>
                </a:solidFill>
              </a:rPr>
              <a:t>Cytoscape.js</a:t>
            </a:r>
            <a:endParaRPr lang="en-US" sz="850" dirty="0"/>
          </a:p>
        </p:txBody>
      </p:sp>
      <p:sp>
        <p:nvSpPr>
          <p:cNvPr id="93" name="Text 86"/>
          <p:cNvSpPr/>
          <p:nvPr/>
        </p:nvSpPr>
        <p:spPr>
          <a:xfrm>
            <a:off x="6035040" y="4023360"/>
            <a:ext cx="914400" cy="310896"/>
          </a:xfrm>
          <a:prstGeom prst="rect">
            <a:avLst/>
          </a:prstGeom>
          <a:noFill/>
          <a:ln/>
        </p:spPr>
        <p:txBody>
          <a:bodyPr wrap="square" lIns="25400" tIns="25400" rIns="25400" bIns="25400" rtlCol="0" anchor="ctr"/>
          <a:lstStyle/>
          <a:p>
            <a:pPr indent="0" marL="0">
              <a:buNone/>
            </a:pPr>
            <a:r>
              <a:rPr lang="en-US" sz="800" dirty="0">
                <a:solidFill>
                  <a:srgbClr val="0D9B8A"/>
                </a:solidFill>
              </a:rPr>
              <a:t>cytoscape 3.x</a:t>
            </a:r>
            <a:endParaRPr lang="en-US" sz="800" dirty="0"/>
          </a:p>
        </p:txBody>
      </p:sp>
      <p:sp>
        <p:nvSpPr>
          <p:cNvPr id="94" name="Text 87"/>
          <p:cNvSpPr/>
          <p:nvPr/>
        </p:nvSpPr>
        <p:spPr>
          <a:xfrm>
            <a:off x="6976872" y="4023360"/>
            <a:ext cx="1828800" cy="310896"/>
          </a:xfrm>
          <a:prstGeom prst="rect">
            <a:avLst/>
          </a:prstGeom>
          <a:noFill/>
          <a:ln/>
        </p:spPr>
        <p:txBody>
          <a:bodyPr wrap="square" lIns="25400" tIns="25400" rIns="25400" bIns="25400" rtlCol="0" anchor="ctr"/>
          <a:lstStyle/>
          <a:p>
            <a:pPr indent="0" marL="0">
              <a:buNone/>
            </a:pPr>
            <a:r>
              <a:rPr lang="en-US" sz="800" dirty="0">
                <a:solidFill>
                  <a:srgbClr val="8899AA"/>
                </a:solidFill>
              </a:rPr>
              <a:t>Interactive supplier risk graph with disruption toggle UI</a:t>
            </a:r>
            <a:endParaRPr lang="en-US" sz="800" dirty="0"/>
          </a:p>
        </p:txBody>
      </p:sp>
      <p:sp>
        <p:nvSpPr>
          <p:cNvPr id="95" name="Shape 88"/>
          <p:cNvSpPr/>
          <p:nvPr/>
        </p:nvSpPr>
        <p:spPr>
          <a:xfrm>
            <a:off x="4764024" y="4352544"/>
            <a:ext cx="4096512" cy="310896"/>
          </a:xfrm>
          <a:prstGeom prst="rect">
            <a:avLst/>
          </a:prstGeom>
          <a:solidFill>
            <a:srgbClr val="FFFFFF"/>
          </a:solidFill>
          <a:ln w="5080">
            <a:solidFill>
              <a:srgbClr val="C8D6E5"/>
            </a:solidFill>
            <a:prstDash val="solid"/>
          </a:ln>
        </p:spPr>
      </p:sp>
      <p:sp>
        <p:nvSpPr>
          <p:cNvPr id="96" name="Text 89"/>
          <p:cNvSpPr/>
          <p:nvPr/>
        </p:nvSpPr>
        <p:spPr>
          <a:xfrm>
            <a:off x="4809744" y="4352544"/>
            <a:ext cx="1207008" cy="310896"/>
          </a:xfrm>
          <a:prstGeom prst="rect">
            <a:avLst/>
          </a:prstGeom>
          <a:noFill/>
          <a:ln/>
        </p:spPr>
        <p:txBody>
          <a:bodyPr wrap="square" lIns="25400" tIns="25400" rIns="25400" bIns="25400" rtlCol="0" anchor="ctr"/>
          <a:lstStyle/>
          <a:p>
            <a:pPr indent="0" marL="0">
              <a:buNone/>
            </a:pPr>
            <a:r>
              <a:rPr lang="en-US" sz="850" b="1" dirty="0">
                <a:solidFill>
                  <a:srgbClr val="1A2B42"/>
                </a:solidFill>
              </a:rPr>
              <a:t>AG Grid</a:t>
            </a:r>
            <a:endParaRPr lang="en-US" sz="850" dirty="0"/>
          </a:p>
        </p:txBody>
      </p:sp>
      <p:sp>
        <p:nvSpPr>
          <p:cNvPr id="97" name="Text 90"/>
          <p:cNvSpPr/>
          <p:nvPr/>
        </p:nvSpPr>
        <p:spPr>
          <a:xfrm>
            <a:off x="6035040" y="4352544"/>
            <a:ext cx="914400" cy="310896"/>
          </a:xfrm>
          <a:prstGeom prst="rect">
            <a:avLst/>
          </a:prstGeom>
          <a:noFill/>
          <a:ln/>
        </p:spPr>
        <p:txBody>
          <a:bodyPr wrap="square" lIns="25400" tIns="25400" rIns="25400" bIns="25400" rtlCol="0" anchor="ctr"/>
          <a:lstStyle/>
          <a:p>
            <a:pPr indent="0" marL="0">
              <a:buNone/>
            </a:pPr>
            <a:r>
              <a:rPr lang="en-US" sz="800" dirty="0">
                <a:solidFill>
                  <a:srgbClr val="0D9B8A"/>
                </a:solidFill>
              </a:rPr>
              <a:t>ag-grid-react</a:t>
            </a:r>
            <a:endParaRPr lang="en-US" sz="800" dirty="0"/>
          </a:p>
        </p:txBody>
      </p:sp>
      <p:sp>
        <p:nvSpPr>
          <p:cNvPr id="98" name="Text 91"/>
          <p:cNvSpPr/>
          <p:nvPr/>
        </p:nvSpPr>
        <p:spPr>
          <a:xfrm>
            <a:off x="6976872" y="4352544"/>
            <a:ext cx="1828800" cy="310896"/>
          </a:xfrm>
          <a:prstGeom prst="rect">
            <a:avLst/>
          </a:prstGeom>
          <a:noFill/>
          <a:ln/>
        </p:spPr>
        <p:txBody>
          <a:bodyPr wrap="square" lIns="25400" tIns="25400" rIns="25400" bIns="25400" rtlCol="0" anchor="ctr"/>
          <a:lstStyle/>
          <a:p>
            <a:pPr indent="0" marL="0">
              <a:buNone/>
            </a:pPr>
            <a:r>
              <a:rPr lang="en-US" sz="800" dirty="0">
                <a:solidFill>
                  <a:srgbClr val="8899AA"/>
                </a:solidFill>
              </a:rPr>
              <a:t>Drug inventory table with real-time traffic light risk indicators</a:t>
            </a:r>
            <a:endParaRPr lang="en-US" sz="800" dirty="0"/>
          </a:p>
        </p:txBody>
      </p:sp>
      <p:sp>
        <p:nvSpPr>
          <p:cNvPr id="99" name="Shape 92"/>
          <p:cNvSpPr/>
          <p:nvPr/>
        </p:nvSpPr>
        <p:spPr>
          <a:xfrm>
            <a:off x="4764024" y="4681728"/>
            <a:ext cx="4096512" cy="310896"/>
          </a:xfrm>
          <a:prstGeom prst="rect">
            <a:avLst/>
          </a:prstGeom>
          <a:solidFill>
            <a:srgbClr val="FAFBFF"/>
          </a:solidFill>
          <a:ln w="5080">
            <a:solidFill>
              <a:srgbClr val="C8D6E5"/>
            </a:solidFill>
            <a:prstDash val="solid"/>
          </a:ln>
        </p:spPr>
      </p:sp>
      <p:sp>
        <p:nvSpPr>
          <p:cNvPr id="100" name="Text 93"/>
          <p:cNvSpPr/>
          <p:nvPr/>
        </p:nvSpPr>
        <p:spPr>
          <a:xfrm>
            <a:off x="4809744" y="4681728"/>
            <a:ext cx="1207008" cy="310896"/>
          </a:xfrm>
          <a:prstGeom prst="rect">
            <a:avLst/>
          </a:prstGeom>
          <a:noFill/>
          <a:ln/>
        </p:spPr>
        <p:txBody>
          <a:bodyPr wrap="square" lIns="25400" tIns="25400" rIns="25400" bIns="25400" rtlCol="0" anchor="ctr"/>
          <a:lstStyle/>
          <a:p>
            <a:pPr indent="0" marL="0">
              <a:buNone/>
            </a:pPr>
            <a:r>
              <a:rPr lang="en-US" sz="850" b="1" dirty="0">
                <a:solidFill>
                  <a:srgbClr val="1A2B42"/>
                </a:solidFill>
              </a:rPr>
              <a:t>Docker + Nginx</a:t>
            </a:r>
            <a:endParaRPr lang="en-US" sz="850" dirty="0"/>
          </a:p>
        </p:txBody>
      </p:sp>
      <p:sp>
        <p:nvSpPr>
          <p:cNvPr id="101" name="Text 94"/>
          <p:cNvSpPr/>
          <p:nvPr/>
        </p:nvSpPr>
        <p:spPr>
          <a:xfrm>
            <a:off x="6035040" y="4681728"/>
            <a:ext cx="914400" cy="310896"/>
          </a:xfrm>
          <a:prstGeom prst="rect">
            <a:avLst/>
          </a:prstGeom>
          <a:noFill/>
          <a:ln/>
        </p:spPr>
        <p:txBody>
          <a:bodyPr wrap="square" lIns="25400" tIns="25400" rIns="25400" bIns="25400" rtlCol="0" anchor="ctr"/>
          <a:lstStyle/>
          <a:p>
            <a:pPr indent="0" marL="0">
              <a:buNone/>
            </a:pPr>
            <a:r>
              <a:rPr lang="en-US" sz="800" dirty="0">
                <a:solidFill>
                  <a:srgbClr val="0D9B8A"/>
                </a:solidFill>
              </a:rPr>
              <a:t>docker-compose</a:t>
            </a:r>
            <a:endParaRPr lang="en-US" sz="800" dirty="0"/>
          </a:p>
        </p:txBody>
      </p:sp>
      <p:sp>
        <p:nvSpPr>
          <p:cNvPr id="102" name="Text 95"/>
          <p:cNvSpPr/>
          <p:nvPr/>
        </p:nvSpPr>
        <p:spPr>
          <a:xfrm>
            <a:off x="6976872" y="4681728"/>
            <a:ext cx="1828800" cy="310896"/>
          </a:xfrm>
          <a:prstGeom prst="rect">
            <a:avLst/>
          </a:prstGeom>
          <a:noFill/>
          <a:ln/>
        </p:spPr>
        <p:txBody>
          <a:bodyPr wrap="square" lIns="25400" tIns="25400" rIns="25400" bIns="25400" rtlCol="0" anchor="ctr"/>
          <a:lstStyle/>
          <a:p>
            <a:pPr indent="0" marL="0">
              <a:buNone/>
            </a:pPr>
            <a:r>
              <a:rPr lang="en-US" sz="800" dirty="0">
                <a:solidFill>
                  <a:srgbClr val="8899AA"/>
                </a:solidFill>
              </a:rPr>
              <a:t>Fully portable — runs offline on any laptop for demo day</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2240"/>
          </a:solidFill>
          <a:ln w="12700">
            <a:solidFill>
              <a:srgbClr val="112240"/>
            </a:solidFill>
            <a:prstDash val="solid"/>
          </a:ln>
        </p:spPr>
      </p:sp>
      <p:sp>
        <p:nvSpPr>
          <p:cNvPr id="3" name="Shape 1"/>
          <p:cNvSpPr/>
          <p:nvPr/>
        </p:nvSpPr>
        <p:spPr>
          <a:xfrm>
            <a:off x="0" y="0"/>
            <a:ext cx="54864" cy="749808"/>
          </a:xfrm>
          <a:prstGeom prst="rect">
            <a:avLst/>
          </a:prstGeom>
          <a:solidFill>
            <a:srgbClr val="0D9B8A"/>
          </a:solidFill>
          <a:ln w="12700">
            <a:solidFill>
              <a:srgbClr val="0D9B8A"/>
            </a:solidFill>
            <a:prstDash val="solid"/>
          </a:ln>
        </p:spPr>
      </p:sp>
      <p:pic>
        <p:nvPicPr>
          <p:cNvPr id="4" name="Image 0" descr="preencoded.png">    </p:cNvPr>
          <p:cNvPicPr>
            <a:picLocks noChangeAspect="1"/>
          </p:cNvPicPr>
          <p:nvPr/>
        </p:nvPicPr>
        <p:blipFill>
          <a:blip r:embed="rId1"/>
          <a:stretch>
            <a:fillRect/>
          </a:stretch>
        </p:blipFill>
        <p:spPr>
          <a:xfrm>
            <a:off x="182880" y="164592"/>
            <a:ext cx="402336" cy="402336"/>
          </a:xfrm>
          <a:prstGeom prst="rect">
            <a:avLst/>
          </a:prstGeom>
        </p:spPr>
      </p:pic>
      <p:sp>
        <p:nvSpPr>
          <p:cNvPr id="5" name="Text 2"/>
          <p:cNvSpPr/>
          <p:nvPr/>
        </p:nvSpPr>
        <p:spPr>
          <a:xfrm>
            <a:off x="713232" y="54864"/>
            <a:ext cx="7315200" cy="320040"/>
          </a:xfrm>
          <a:prstGeom prst="rect">
            <a:avLst/>
          </a:prstGeom>
          <a:noFill/>
          <a:ln/>
        </p:spPr>
        <p:txBody>
          <a:bodyPr wrap="square" lIns="0" tIns="0" rIns="0" bIns="0" rtlCol="0" anchor="ctr"/>
          <a:lstStyle/>
          <a:p>
            <a:pPr indent="0" marL="0">
              <a:buNone/>
            </a:pPr>
            <a:r>
              <a:rPr lang="en-US" sz="1100" b="1" spc="400" kern="0" dirty="0">
                <a:solidFill>
                  <a:srgbClr val="0D9B8A"/>
                </a:solidFill>
              </a:rPr>
              <a:t>DATASETS &amp; DATA SOURCES</a:t>
            </a:r>
            <a:endParaRPr lang="en-US" sz="1100" dirty="0"/>
          </a:p>
        </p:txBody>
      </p:sp>
      <p:sp>
        <p:nvSpPr>
          <p:cNvPr id="6" name="Text 3"/>
          <p:cNvSpPr/>
          <p:nvPr/>
        </p:nvSpPr>
        <p:spPr>
          <a:xfrm>
            <a:off x="713232" y="402336"/>
            <a:ext cx="8229600" cy="274320"/>
          </a:xfrm>
          <a:prstGeom prst="rect">
            <a:avLst/>
          </a:prstGeom>
          <a:noFill/>
          <a:ln/>
        </p:spPr>
        <p:txBody>
          <a:bodyPr wrap="square" lIns="0" tIns="0" rIns="0" bIns="0" rtlCol="0" anchor="ctr"/>
          <a:lstStyle/>
          <a:p>
            <a:pPr indent="0" marL="0">
              <a:buNone/>
            </a:pPr>
            <a:r>
              <a:rPr lang="en-US" sz="1200" dirty="0">
                <a:solidFill>
                  <a:srgbClr val="C8D6E5"/>
                </a:solidFill>
              </a:rPr>
              <a:t>All free or university-accessible — no patient data required — pure procurement records only</a:t>
            </a:r>
            <a:endParaRPr lang="en-US" sz="1200" dirty="0"/>
          </a:p>
        </p:txBody>
      </p:sp>
      <p:sp>
        <p:nvSpPr>
          <p:cNvPr id="7" name="Shape 4"/>
          <p:cNvSpPr/>
          <p:nvPr/>
        </p:nvSpPr>
        <p:spPr>
          <a:xfrm>
            <a:off x="164592" y="841248"/>
            <a:ext cx="4297680" cy="1371600"/>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8" name="Shape 5"/>
          <p:cNvSpPr/>
          <p:nvPr/>
        </p:nvSpPr>
        <p:spPr>
          <a:xfrm>
            <a:off x="164592" y="841248"/>
            <a:ext cx="64008" cy="1371600"/>
          </a:xfrm>
          <a:prstGeom prst="rect">
            <a:avLst/>
          </a:prstGeom>
          <a:solidFill>
            <a:srgbClr val="7B52AB"/>
          </a:solidFill>
          <a:ln w="12700">
            <a:solidFill>
              <a:srgbClr val="7B52AB"/>
            </a:solidFill>
            <a:prstDash val="solid"/>
          </a:ln>
        </p:spPr>
      </p:sp>
      <p:sp>
        <p:nvSpPr>
          <p:cNvPr id="9" name="Text 6"/>
          <p:cNvSpPr/>
          <p:nvPr/>
        </p:nvSpPr>
        <p:spPr>
          <a:xfrm>
            <a:off x="329184" y="914400"/>
            <a:ext cx="2743200" cy="256032"/>
          </a:xfrm>
          <a:prstGeom prst="rect">
            <a:avLst/>
          </a:prstGeom>
          <a:noFill/>
          <a:ln/>
        </p:spPr>
        <p:txBody>
          <a:bodyPr wrap="square" lIns="0" tIns="0" rIns="0" bIns="0" rtlCol="0" anchor="ctr"/>
          <a:lstStyle/>
          <a:p>
            <a:pPr indent="0" marL="0">
              <a:buNone/>
            </a:pPr>
            <a:r>
              <a:rPr lang="en-US" sz="1050" b="1" dirty="0">
                <a:solidFill>
                  <a:srgbClr val="1A2B42"/>
                </a:solidFill>
              </a:rPr>
              <a:t>MIMIC-IV Pharmacy Orders</a:t>
            </a:r>
            <a:endParaRPr lang="en-US" sz="1050" dirty="0"/>
          </a:p>
        </p:txBody>
      </p:sp>
      <p:sp>
        <p:nvSpPr>
          <p:cNvPr id="10" name="Shape 7"/>
          <p:cNvSpPr/>
          <p:nvPr/>
        </p:nvSpPr>
        <p:spPr>
          <a:xfrm>
            <a:off x="3108960" y="932688"/>
            <a:ext cx="1261872" cy="219456"/>
          </a:xfrm>
          <a:prstGeom prst="roundRect">
            <a:avLst>
              <a:gd name="adj" fmla="val 16667"/>
            </a:avLst>
          </a:prstGeom>
          <a:solidFill>
            <a:srgbClr val="7B52AB"/>
          </a:solidFill>
          <a:ln w="12700">
            <a:solidFill>
              <a:srgbClr val="7B52AB"/>
            </a:solidFill>
            <a:prstDash val="solid"/>
          </a:ln>
        </p:spPr>
      </p:sp>
      <p:sp>
        <p:nvSpPr>
          <p:cNvPr id="11" name="Text 8"/>
          <p:cNvSpPr/>
          <p:nvPr/>
        </p:nvSpPr>
        <p:spPr>
          <a:xfrm>
            <a:off x="3108960" y="932688"/>
            <a:ext cx="1261872" cy="219456"/>
          </a:xfrm>
          <a:prstGeom prst="rect">
            <a:avLst/>
          </a:prstGeom>
          <a:noFill/>
          <a:ln/>
        </p:spPr>
        <p:txBody>
          <a:bodyPr wrap="square" lIns="0" tIns="0" rIns="0" bIns="0" rtlCol="0" anchor="ctr"/>
          <a:lstStyle/>
          <a:p>
            <a:pPr algn="ctr" indent="0" marL="0">
              <a:buNone/>
            </a:pPr>
            <a:r>
              <a:rPr lang="en-US" sz="750" b="1" dirty="0">
                <a:solidFill>
                  <a:srgbClr val="FFFFFF"/>
                </a:solidFill>
              </a:rPr>
              <a:t>Free — PhysioNet</a:t>
            </a:r>
            <a:endParaRPr lang="en-US" sz="750" dirty="0"/>
          </a:p>
        </p:txBody>
      </p:sp>
      <p:sp>
        <p:nvSpPr>
          <p:cNvPr id="12" name="Text 9"/>
          <p:cNvSpPr/>
          <p:nvPr/>
        </p:nvSpPr>
        <p:spPr>
          <a:xfrm>
            <a:off x="329184" y="1225296"/>
            <a:ext cx="4041648" cy="694944"/>
          </a:xfrm>
          <a:prstGeom prst="rect">
            <a:avLst/>
          </a:prstGeom>
          <a:noFill/>
          <a:ln/>
        </p:spPr>
        <p:txBody>
          <a:bodyPr wrap="square" lIns="0" tIns="0" rIns="0" bIns="0" rtlCol="0" anchor="ctr"/>
          <a:lstStyle/>
          <a:p>
            <a:pPr indent="0" marL="0">
              <a:buNone/>
            </a:pPr>
            <a:r>
              <a:rPr lang="en-US" sz="880" dirty="0">
                <a:solidFill>
                  <a:srgbClr val="8899AA"/>
                </a:solidFill>
              </a:rPr>
              <a:t>Primary TFT training data. Contains medication orders, dispensing records, and drug administration events from Beth Israel hospital (2008–2019). 15M+ medication records. Apply for credentialing in Week 1 — takes 1–2 weeks to approve.</a:t>
            </a:r>
            <a:endParaRPr lang="en-US" sz="880" dirty="0"/>
          </a:p>
        </p:txBody>
      </p:sp>
      <p:sp>
        <p:nvSpPr>
          <p:cNvPr id="13" name="Text 10"/>
          <p:cNvSpPr/>
          <p:nvPr/>
        </p:nvSpPr>
        <p:spPr>
          <a:xfrm>
            <a:off x="329184" y="1975104"/>
            <a:ext cx="4041648" cy="182880"/>
          </a:xfrm>
          <a:prstGeom prst="rect">
            <a:avLst/>
          </a:prstGeom>
          <a:noFill/>
          <a:ln/>
        </p:spPr>
        <p:txBody>
          <a:bodyPr wrap="square" lIns="0" tIns="0" rIns="0" bIns="0" rtlCol="0" anchor="ctr"/>
          <a:lstStyle/>
          <a:p>
            <a:pPr indent="0" marL="0">
              <a:buNone/>
            </a:pPr>
            <a:r>
              <a:rPr lang="en-US" sz="800" i="1" dirty="0">
                <a:solidFill>
                  <a:srgbClr val="7B52AB"/>
                </a:solidFill>
              </a:rPr>
              <a:t>↗ physionet.org/content/mimiciv</a:t>
            </a:r>
            <a:endParaRPr lang="en-US" sz="800" dirty="0"/>
          </a:p>
        </p:txBody>
      </p:sp>
      <p:sp>
        <p:nvSpPr>
          <p:cNvPr id="14" name="Shape 11"/>
          <p:cNvSpPr/>
          <p:nvPr/>
        </p:nvSpPr>
        <p:spPr>
          <a:xfrm>
            <a:off x="4672584" y="841248"/>
            <a:ext cx="4297680" cy="1371600"/>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15" name="Shape 12"/>
          <p:cNvSpPr/>
          <p:nvPr/>
        </p:nvSpPr>
        <p:spPr>
          <a:xfrm>
            <a:off x="4672584" y="841248"/>
            <a:ext cx="64008" cy="1371600"/>
          </a:xfrm>
          <a:prstGeom prst="rect">
            <a:avLst/>
          </a:prstGeom>
          <a:solidFill>
            <a:srgbClr val="0D9B8A"/>
          </a:solidFill>
          <a:ln w="12700">
            <a:solidFill>
              <a:srgbClr val="0D9B8A"/>
            </a:solidFill>
            <a:prstDash val="solid"/>
          </a:ln>
        </p:spPr>
      </p:sp>
      <p:sp>
        <p:nvSpPr>
          <p:cNvPr id="16" name="Text 13"/>
          <p:cNvSpPr/>
          <p:nvPr/>
        </p:nvSpPr>
        <p:spPr>
          <a:xfrm>
            <a:off x="4837176" y="914400"/>
            <a:ext cx="2743200" cy="256032"/>
          </a:xfrm>
          <a:prstGeom prst="rect">
            <a:avLst/>
          </a:prstGeom>
          <a:noFill/>
          <a:ln/>
        </p:spPr>
        <p:txBody>
          <a:bodyPr wrap="square" lIns="0" tIns="0" rIns="0" bIns="0" rtlCol="0" anchor="ctr"/>
          <a:lstStyle/>
          <a:p>
            <a:pPr indent="0" marL="0">
              <a:buNone/>
            </a:pPr>
            <a:r>
              <a:rPr lang="en-US" sz="1050" b="1" dirty="0">
                <a:solidFill>
                  <a:srgbClr val="1A2B42"/>
                </a:solidFill>
              </a:rPr>
              <a:t>FDA Drug Shortage Database</a:t>
            </a:r>
            <a:endParaRPr lang="en-US" sz="1050" dirty="0"/>
          </a:p>
        </p:txBody>
      </p:sp>
      <p:sp>
        <p:nvSpPr>
          <p:cNvPr id="17" name="Shape 14"/>
          <p:cNvSpPr/>
          <p:nvPr/>
        </p:nvSpPr>
        <p:spPr>
          <a:xfrm>
            <a:off x="7616952" y="932688"/>
            <a:ext cx="1261872" cy="219456"/>
          </a:xfrm>
          <a:prstGeom prst="roundRect">
            <a:avLst>
              <a:gd name="adj" fmla="val 16667"/>
            </a:avLst>
          </a:prstGeom>
          <a:solidFill>
            <a:srgbClr val="0D9B8A"/>
          </a:solidFill>
          <a:ln w="12700">
            <a:solidFill>
              <a:srgbClr val="0D9B8A"/>
            </a:solidFill>
            <a:prstDash val="solid"/>
          </a:ln>
        </p:spPr>
      </p:sp>
      <p:sp>
        <p:nvSpPr>
          <p:cNvPr id="18" name="Text 15"/>
          <p:cNvSpPr/>
          <p:nvPr/>
        </p:nvSpPr>
        <p:spPr>
          <a:xfrm>
            <a:off x="7616952" y="932688"/>
            <a:ext cx="1261872" cy="219456"/>
          </a:xfrm>
          <a:prstGeom prst="rect">
            <a:avLst/>
          </a:prstGeom>
          <a:noFill/>
          <a:ln/>
        </p:spPr>
        <p:txBody>
          <a:bodyPr wrap="square" lIns="0" tIns="0" rIns="0" bIns="0" rtlCol="0" anchor="ctr"/>
          <a:lstStyle/>
          <a:p>
            <a:pPr algn="ctr" indent="0" marL="0">
              <a:buNone/>
            </a:pPr>
            <a:r>
              <a:rPr lang="en-US" sz="750" b="1" dirty="0">
                <a:solidFill>
                  <a:srgbClr val="FFFFFF"/>
                </a:solidFill>
              </a:rPr>
              <a:t>Free — openFDA API</a:t>
            </a:r>
            <a:endParaRPr lang="en-US" sz="750" dirty="0"/>
          </a:p>
        </p:txBody>
      </p:sp>
      <p:sp>
        <p:nvSpPr>
          <p:cNvPr id="19" name="Text 16"/>
          <p:cNvSpPr/>
          <p:nvPr/>
        </p:nvSpPr>
        <p:spPr>
          <a:xfrm>
            <a:off x="4837176" y="1225296"/>
            <a:ext cx="4041648" cy="694944"/>
          </a:xfrm>
          <a:prstGeom prst="rect">
            <a:avLst/>
          </a:prstGeom>
          <a:noFill/>
          <a:ln/>
        </p:spPr>
        <p:txBody>
          <a:bodyPr wrap="square" lIns="0" tIns="0" rIns="0" bIns="0" rtlCol="0" anchor="ctr"/>
          <a:lstStyle/>
          <a:p>
            <a:pPr indent="0" marL="0">
              <a:buNone/>
            </a:pPr>
            <a:r>
              <a:rPr lang="en-US" sz="880" dirty="0">
                <a:solidFill>
                  <a:srgbClr val="8899AA"/>
                </a:solidFill>
              </a:rPr>
              <a:t>Current and historically resolved US drug shortages with drug name, reason code, and date range. Updated continuously. Used as external signal input to the TFT and for supplier risk node features in the graph.</a:t>
            </a:r>
            <a:endParaRPr lang="en-US" sz="880" dirty="0"/>
          </a:p>
        </p:txBody>
      </p:sp>
      <p:sp>
        <p:nvSpPr>
          <p:cNvPr id="20" name="Text 17"/>
          <p:cNvSpPr/>
          <p:nvPr/>
        </p:nvSpPr>
        <p:spPr>
          <a:xfrm>
            <a:off x="4837176" y="1975104"/>
            <a:ext cx="4041648" cy="182880"/>
          </a:xfrm>
          <a:prstGeom prst="rect">
            <a:avLst/>
          </a:prstGeom>
          <a:noFill/>
          <a:ln/>
        </p:spPr>
        <p:txBody>
          <a:bodyPr wrap="square" lIns="0" tIns="0" rIns="0" bIns="0" rtlCol="0" anchor="ctr"/>
          <a:lstStyle/>
          <a:p>
            <a:pPr indent="0" marL="0">
              <a:buNone/>
            </a:pPr>
            <a:r>
              <a:rPr lang="en-US" sz="800" i="1" dirty="0">
                <a:solidFill>
                  <a:srgbClr val="0D9B8A"/>
                </a:solidFill>
              </a:rPr>
              <a:t>↗ openFDA.fda.gov/drug/shortage</a:t>
            </a:r>
            <a:endParaRPr lang="en-US" sz="800" dirty="0"/>
          </a:p>
        </p:txBody>
      </p:sp>
      <p:sp>
        <p:nvSpPr>
          <p:cNvPr id="21" name="Shape 18"/>
          <p:cNvSpPr/>
          <p:nvPr/>
        </p:nvSpPr>
        <p:spPr>
          <a:xfrm>
            <a:off x="164592" y="2304288"/>
            <a:ext cx="4297680" cy="1371600"/>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22" name="Shape 19"/>
          <p:cNvSpPr/>
          <p:nvPr/>
        </p:nvSpPr>
        <p:spPr>
          <a:xfrm>
            <a:off x="164592" y="2304288"/>
            <a:ext cx="64008" cy="1371600"/>
          </a:xfrm>
          <a:prstGeom prst="rect">
            <a:avLst/>
          </a:prstGeom>
          <a:solidFill>
            <a:srgbClr val="27AE60"/>
          </a:solidFill>
          <a:ln w="12700">
            <a:solidFill>
              <a:srgbClr val="27AE60"/>
            </a:solidFill>
            <a:prstDash val="solid"/>
          </a:ln>
        </p:spPr>
      </p:sp>
      <p:sp>
        <p:nvSpPr>
          <p:cNvPr id="23" name="Text 20"/>
          <p:cNvSpPr/>
          <p:nvPr/>
        </p:nvSpPr>
        <p:spPr>
          <a:xfrm>
            <a:off x="329184" y="2377440"/>
            <a:ext cx="2743200" cy="256032"/>
          </a:xfrm>
          <a:prstGeom prst="rect">
            <a:avLst/>
          </a:prstGeom>
          <a:noFill/>
          <a:ln/>
        </p:spPr>
        <p:txBody>
          <a:bodyPr wrap="square" lIns="0" tIns="0" rIns="0" bIns="0" rtlCol="0" anchor="ctr"/>
          <a:lstStyle/>
          <a:p>
            <a:pPr indent="0" marL="0">
              <a:buNone/>
            </a:pPr>
            <a:r>
              <a:rPr lang="en-US" sz="1050" b="1" dirty="0">
                <a:solidFill>
                  <a:srgbClr val="1A2B42"/>
                </a:solidFill>
              </a:rPr>
              <a:t>Synthea Synthetic EHR</a:t>
            </a:r>
            <a:endParaRPr lang="en-US" sz="1050" dirty="0"/>
          </a:p>
        </p:txBody>
      </p:sp>
      <p:sp>
        <p:nvSpPr>
          <p:cNvPr id="24" name="Shape 21"/>
          <p:cNvSpPr/>
          <p:nvPr/>
        </p:nvSpPr>
        <p:spPr>
          <a:xfrm>
            <a:off x="3108960" y="2395728"/>
            <a:ext cx="1261872" cy="219456"/>
          </a:xfrm>
          <a:prstGeom prst="roundRect">
            <a:avLst>
              <a:gd name="adj" fmla="val 16667"/>
            </a:avLst>
          </a:prstGeom>
          <a:solidFill>
            <a:srgbClr val="27AE60"/>
          </a:solidFill>
          <a:ln w="12700">
            <a:solidFill>
              <a:srgbClr val="27AE60"/>
            </a:solidFill>
            <a:prstDash val="solid"/>
          </a:ln>
        </p:spPr>
      </p:sp>
      <p:sp>
        <p:nvSpPr>
          <p:cNvPr id="25" name="Text 22"/>
          <p:cNvSpPr/>
          <p:nvPr/>
        </p:nvSpPr>
        <p:spPr>
          <a:xfrm>
            <a:off x="3108960" y="2395728"/>
            <a:ext cx="1261872" cy="219456"/>
          </a:xfrm>
          <a:prstGeom prst="rect">
            <a:avLst/>
          </a:prstGeom>
          <a:noFill/>
          <a:ln/>
        </p:spPr>
        <p:txBody>
          <a:bodyPr wrap="square" lIns="0" tIns="0" rIns="0" bIns="0" rtlCol="0" anchor="ctr"/>
          <a:lstStyle/>
          <a:p>
            <a:pPr algn="ctr" indent="0" marL="0">
              <a:buNone/>
            </a:pPr>
            <a:r>
              <a:rPr lang="en-US" sz="750" b="1" dirty="0">
                <a:solidFill>
                  <a:srgbClr val="FFFFFF"/>
                </a:solidFill>
              </a:rPr>
              <a:t>Free — GitHub</a:t>
            </a:r>
            <a:endParaRPr lang="en-US" sz="750" dirty="0"/>
          </a:p>
        </p:txBody>
      </p:sp>
      <p:sp>
        <p:nvSpPr>
          <p:cNvPr id="26" name="Text 23"/>
          <p:cNvSpPr/>
          <p:nvPr/>
        </p:nvSpPr>
        <p:spPr>
          <a:xfrm>
            <a:off x="329184" y="2688336"/>
            <a:ext cx="4041648" cy="694944"/>
          </a:xfrm>
          <a:prstGeom prst="rect">
            <a:avLst/>
          </a:prstGeom>
          <a:noFill/>
          <a:ln/>
        </p:spPr>
        <p:txBody>
          <a:bodyPr wrap="square" lIns="0" tIns="0" rIns="0" bIns="0" rtlCol="0" anchor="ctr"/>
          <a:lstStyle/>
          <a:p>
            <a:pPr indent="0" marL="0">
              <a:buNone/>
            </a:pPr>
            <a:r>
              <a:rPr lang="en-US" sz="880" dirty="0">
                <a:solidFill>
                  <a:srgbClr val="8899AA"/>
                </a:solidFill>
              </a:rPr>
              <a:t>Clinically realistic synthetic patient records generated from population health models. 1M+ synthetic patients. Full substitute for MIMIC-IV during initial prototyping and if credentialing is delayed. Includes medication orders.</a:t>
            </a:r>
            <a:endParaRPr lang="en-US" sz="880" dirty="0"/>
          </a:p>
        </p:txBody>
      </p:sp>
      <p:sp>
        <p:nvSpPr>
          <p:cNvPr id="27" name="Text 24"/>
          <p:cNvSpPr/>
          <p:nvPr/>
        </p:nvSpPr>
        <p:spPr>
          <a:xfrm>
            <a:off x="329184" y="3438144"/>
            <a:ext cx="4041648" cy="182880"/>
          </a:xfrm>
          <a:prstGeom prst="rect">
            <a:avLst/>
          </a:prstGeom>
          <a:noFill/>
          <a:ln/>
        </p:spPr>
        <p:txBody>
          <a:bodyPr wrap="square" lIns="0" tIns="0" rIns="0" bIns="0" rtlCol="0" anchor="ctr"/>
          <a:lstStyle/>
          <a:p>
            <a:pPr indent="0" marL="0">
              <a:buNone/>
            </a:pPr>
            <a:r>
              <a:rPr lang="en-US" sz="800" i="1" dirty="0">
                <a:solidFill>
                  <a:srgbClr val="27AE60"/>
                </a:solidFill>
              </a:rPr>
              <a:t>↗ github.com/synthetichealth/synthea</a:t>
            </a:r>
            <a:endParaRPr lang="en-US" sz="800" dirty="0"/>
          </a:p>
        </p:txBody>
      </p:sp>
      <p:sp>
        <p:nvSpPr>
          <p:cNvPr id="28" name="Shape 25"/>
          <p:cNvSpPr/>
          <p:nvPr/>
        </p:nvSpPr>
        <p:spPr>
          <a:xfrm>
            <a:off x="4672584" y="2304288"/>
            <a:ext cx="4297680" cy="1371600"/>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29" name="Shape 26"/>
          <p:cNvSpPr/>
          <p:nvPr/>
        </p:nvSpPr>
        <p:spPr>
          <a:xfrm>
            <a:off x="4672584" y="2304288"/>
            <a:ext cx="64008" cy="1371600"/>
          </a:xfrm>
          <a:prstGeom prst="rect">
            <a:avLst/>
          </a:prstGeom>
          <a:solidFill>
            <a:srgbClr val="F0A500"/>
          </a:solidFill>
          <a:ln w="12700">
            <a:solidFill>
              <a:srgbClr val="F0A500"/>
            </a:solidFill>
            <a:prstDash val="solid"/>
          </a:ln>
        </p:spPr>
      </p:sp>
      <p:sp>
        <p:nvSpPr>
          <p:cNvPr id="30" name="Text 27"/>
          <p:cNvSpPr/>
          <p:nvPr/>
        </p:nvSpPr>
        <p:spPr>
          <a:xfrm>
            <a:off x="4837176" y="2377440"/>
            <a:ext cx="2743200" cy="256032"/>
          </a:xfrm>
          <a:prstGeom prst="rect">
            <a:avLst/>
          </a:prstGeom>
          <a:noFill/>
          <a:ln/>
        </p:spPr>
        <p:txBody>
          <a:bodyPr wrap="square" lIns="0" tIns="0" rIns="0" bIns="0" rtlCol="0" anchor="ctr"/>
          <a:lstStyle/>
          <a:p>
            <a:pPr indent="0" marL="0">
              <a:buNone/>
            </a:pPr>
            <a:r>
              <a:rPr lang="en-US" sz="1050" b="1" dirty="0">
                <a:solidFill>
                  <a:srgbClr val="1A2B42"/>
                </a:solidFill>
              </a:rPr>
              <a:t>India CDSCO Drug Alerts</a:t>
            </a:r>
            <a:endParaRPr lang="en-US" sz="1050" dirty="0"/>
          </a:p>
        </p:txBody>
      </p:sp>
      <p:sp>
        <p:nvSpPr>
          <p:cNvPr id="31" name="Shape 28"/>
          <p:cNvSpPr/>
          <p:nvPr/>
        </p:nvSpPr>
        <p:spPr>
          <a:xfrm>
            <a:off x="7616952" y="2395728"/>
            <a:ext cx="1261872" cy="219456"/>
          </a:xfrm>
          <a:prstGeom prst="roundRect">
            <a:avLst>
              <a:gd name="adj" fmla="val 16667"/>
            </a:avLst>
          </a:prstGeom>
          <a:solidFill>
            <a:srgbClr val="F0A500"/>
          </a:solidFill>
          <a:ln w="12700">
            <a:solidFill>
              <a:srgbClr val="F0A500"/>
            </a:solidFill>
            <a:prstDash val="solid"/>
          </a:ln>
        </p:spPr>
      </p:sp>
      <p:sp>
        <p:nvSpPr>
          <p:cNvPr id="32" name="Text 29"/>
          <p:cNvSpPr/>
          <p:nvPr/>
        </p:nvSpPr>
        <p:spPr>
          <a:xfrm>
            <a:off x="7616952" y="2395728"/>
            <a:ext cx="1261872" cy="219456"/>
          </a:xfrm>
          <a:prstGeom prst="rect">
            <a:avLst/>
          </a:prstGeom>
          <a:noFill/>
          <a:ln/>
        </p:spPr>
        <p:txBody>
          <a:bodyPr wrap="square" lIns="0" tIns="0" rIns="0" bIns="0" rtlCol="0" anchor="ctr"/>
          <a:lstStyle/>
          <a:p>
            <a:pPr algn="ctr" indent="0" marL="0">
              <a:buNone/>
            </a:pPr>
            <a:r>
              <a:rPr lang="en-US" sz="750" b="1" dirty="0">
                <a:solidFill>
                  <a:srgbClr val="FFFFFF"/>
                </a:solidFill>
              </a:rPr>
              <a:t>Free — cdsco.gov.in</a:t>
            </a:r>
            <a:endParaRPr lang="en-US" sz="750" dirty="0"/>
          </a:p>
        </p:txBody>
      </p:sp>
      <p:sp>
        <p:nvSpPr>
          <p:cNvPr id="33" name="Text 30"/>
          <p:cNvSpPr/>
          <p:nvPr/>
        </p:nvSpPr>
        <p:spPr>
          <a:xfrm>
            <a:off x="4837176" y="2688336"/>
            <a:ext cx="4041648" cy="694944"/>
          </a:xfrm>
          <a:prstGeom prst="rect">
            <a:avLst/>
          </a:prstGeom>
          <a:noFill/>
          <a:ln/>
        </p:spPr>
        <p:txBody>
          <a:bodyPr wrap="square" lIns="0" tIns="0" rIns="0" bIns="0" rtlCol="0" anchor="ctr"/>
          <a:lstStyle/>
          <a:p>
            <a:pPr indent="0" marL="0">
              <a:buNone/>
            </a:pPr>
            <a:r>
              <a:rPr lang="en-US" sz="880" dirty="0">
                <a:solidFill>
                  <a:srgbClr val="8899AA"/>
                </a:solidFill>
              </a:rPr>
              <a:t>Indian market drug shortage notifications and quality alerts from the Central Drugs Standard Control Organisation. Used for India-specific validation — demonstrates local relevance directly to evaluators.</a:t>
            </a:r>
            <a:endParaRPr lang="en-US" sz="880" dirty="0"/>
          </a:p>
        </p:txBody>
      </p:sp>
      <p:sp>
        <p:nvSpPr>
          <p:cNvPr id="34" name="Text 31"/>
          <p:cNvSpPr/>
          <p:nvPr/>
        </p:nvSpPr>
        <p:spPr>
          <a:xfrm>
            <a:off x="4837176" y="3438144"/>
            <a:ext cx="4041648" cy="182880"/>
          </a:xfrm>
          <a:prstGeom prst="rect">
            <a:avLst/>
          </a:prstGeom>
          <a:noFill/>
          <a:ln/>
        </p:spPr>
        <p:txBody>
          <a:bodyPr wrap="square" lIns="0" tIns="0" rIns="0" bIns="0" rtlCol="0" anchor="ctr"/>
          <a:lstStyle/>
          <a:p>
            <a:pPr indent="0" marL="0">
              <a:buNone/>
            </a:pPr>
            <a:r>
              <a:rPr lang="en-US" sz="800" i="1" dirty="0">
                <a:solidFill>
                  <a:srgbClr val="F0A500"/>
                </a:solidFill>
              </a:rPr>
              <a:t>↗ cdsco.gov.in/opencms/opencms/en</a:t>
            </a:r>
            <a:endParaRPr lang="en-US" sz="800" dirty="0"/>
          </a:p>
        </p:txBody>
      </p:sp>
      <p:sp>
        <p:nvSpPr>
          <p:cNvPr id="35" name="Shape 32"/>
          <p:cNvSpPr/>
          <p:nvPr/>
        </p:nvSpPr>
        <p:spPr>
          <a:xfrm>
            <a:off x="164592" y="3767328"/>
            <a:ext cx="4297680" cy="1371600"/>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36" name="Shape 33"/>
          <p:cNvSpPr/>
          <p:nvPr/>
        </p:nvSpPr>
        <p:spPr>
          <a:xfrm>
            <a:off x="164592" y="3767328"/>
            <a:ext cx="64008" cy="1371600"/>
          </a:xfrm>
          <a:prstGeom prst="rect">
            <a:avLst/>
          </a:prstGeom>
          <a:solidFill>
            <a:srgbClr val="2E86DE"/>
          </a:solidFill>
          <a:ln w="12700">
            <a:solidFill>
              <a:srgbClr val="2E86DE"/>
            </a:solidFill>
            <a:prstDash val="solid"/>
          </a:ln>
        </p:spPr>
      </p:sp>
      <p:sp>
        <p:nvSpPr>
          <p:cNvPr id="37" name="Text 34"/>
          <p:cNvSpPr/>
          <p:nvPr/>
        </p:nvSpPr>
        <p:spPr>
          <a:xfrm>
            <a:off x="329184" y="3840480"/>
            <a:ext cx="2743200" cy="256032"/>
          </a:xfrm>
          <a:prstGeom prst="rect">
            <a:avLst/>
          </a:prstGeom>
          <a:noFill/>
          <a:ln/>
        </p:spPr>
        <p:txBody>
          <a:bodyPr wrap="square" lIns="0" tIns="0" rIns="0" bIns="0" rtlCol="0" anchor="ctr"/>
          <a:lstStyle/>
          <a:p>
            <a:pPr indent="0" marL="0">
              <a:buNone/>
            </a:pPr>
            <a:r>
              <a:rPr lang="en-US" sz="1050" b="1" dirty="0">
                <a:solidFill>
                  <a:srgbClr val="1A2B42"/>
                </a:solidFill>
              </a:rPr>
              <a:t>PMBJP Drug Sales Data</a:t>
            </a:r>
            <a:endParaRPr lang="en-US" sz="1050" dirty="0"/>
          </a:p>
        </p:txBody>
      </p:sp>
      <p:sp>
        <p:nvSpPr>
          <p:cNvPr id="38" name="Shape 35"/>
          <p:cNvSpPr/>
          <p:nvPr/>
        </p:nvSpPr>
        <p:spPr>
          <a:xfrm>
            <a:off x="3108960" y="3858768"/>
            <a:ext cx="1261872" cy="219456"/>
          </a:xfrm>
          <a:prstGeom prst="roundRect">
            <a:avLst>
              <a:gd name="adj" fmla="val 16667"/>
            </a:avLst>
          </a:prstGeom>
          <a:solidFill>
            <a:srgbClr val="2E86DE"/>
          </a:solidFill>
          <a:ln w="12700">
            <a:solidFill>
              <a:srgbClr val="2E86DE"/>
            </a:solidFill>
            <a:prstDash val="solid"/>
          </a:ln>
        </p:spPr>
      </p:sp>
      <p:sp>
        <p:nvSpPr>
          <p:cNvPr id="39" name="Text 36"/>
          <p:cNvSpPr/>
          <p:nvPr/>
        </p:nvSpPr>
        <p:spPr>
          <a:xfrm>
            <a:off x="3108960" y="3858768"/>
            <a:ext cx="1261872" cy="219456"/>
          </a:xfrm>
          <a:prstGeom prst="rect">
            <a:avLst/>
          </a:prstGeom>
          <a:noFill/>
          <a:ln/>
        </p:spPr>
        <p:txBody>
          <a:bodyPr wrap="square" lIns="0" tIns="0" rIns="0" bIns="0" rtlCol="0" anchor="ctr"/>
          <a:lstStyle/>
          <a:p>
            <a:pPr algn="ctr" indent="0" marL="0">
              <a:buNone/>
            </a:pPr>
            <a:r>
              <a:rPr lang="en-US" sz="750" b="1" dirty="0">
                <a:solidFill>
                  <a:srgbClr val="FFFFFF"/>
                </a:solidFill>
              </a:rPr>
              <a:t>Free — data.gov.in</a:t>
            </a:r>
            <a:endParaRPr lang="en-US" sz="750" dirty="0"/>
          </a:p>
        </p:txBody>
      </p:sp>
      <p:sp>
        <p:nvSpPr>
          <p:cNvPr id="40" name="Text 37"/>
          <p:cNvSpPr/>
          <p:nvPr/>
        </p:nvSpPr>
        <p:spPr>
          <a:xfrm>
            <a:off x="329184" y="4151376"/>
            <a:ext cx="4041648" cy="694944"/>
          </a:xfrm>
          <a:prstGeom prst="rect">
            <a:avLst/>
          </a:prstGeom>
          <a:noFill/>
          <a:ln/>
        </p:spPr>
        <p:txBody>
          <a:bodyPr wrap="square" lIns="0" tIns="0" rIns="0" bIns="0" rtlCol="0" anchor="ctr"/>
          <a:lstStyle/>
          <a:p>
            <a:pPr indent="0" marL="0">
              <a:buNone/>
            </a:pPr>
            <a:r>
              <a:rPr lang="en-US" sz="880" dirty="0">
                <a:solidFill>
                  <a:srgbClr val="8899AA"/>
                </a:solidFill>
              </a:rPr>
              <a:t>Pradhan Mantri Bhartiya Janaushadhi Pariyojana government generic drug procurement records. India-specific training signal for government hospital drug demand patterns. CSV format — directly ingested by the pipeline.</a:t>
            </a:r>
            <a:endParaRPr lang="en-US" sz="880" dirty="0"/>
          </a:p>
        </p:txBody>
      </p:sp>
      <p:sp>
        <p:nvSpPr>
          <p:cNvPr id="41" name="Text 38"/>
          <p:cNvSpPr/>
          <p:nvPr/>
        </p:nvSpPr>
        <p:spPr>
          <a:xfrm>
            <a:off x="329184" y="4901184"/>
            <a:ext cx="4041648" cy="182880"/>
          </a:xfrm>
          <a:prstGeom prst="rect">
            <a:avLst/>
          </a:prstGeom>
          <a:noFill/>
          <a:ln/>
        </p:spPr>
        <p:txBody>
          <a:bodyPr wrap="square" lIns="0" tIns="0" rIns="0" bIns="0" rtlCol="0" anchor="ctr"/>
          <a:lstStyle/>
          <a:p>
            <a:pPr indent="0" marL="0">
              <a:buNone/>
            </a:pPr>
            <a:r>
              <a:rPr lang="en-US" sz="800" i="1" dirty="0">
                <a:solidFill>
                  <a:srgbClr val="2E86DE"/>
                </a:solidFill>
              </a:rPr>
              <a:t>↗ data.gov.in (PMBJP portal)</a:t>
            </a:r>
            <a:endParaRPr lang="en-US" sz="800" dirty="0"/>
          </a:p>
        </p:txBody>
      </p:sp>
      <p:sp>
        <p:nvSpPr>
          <p:cNvPr id="42" name="Shape 39"/>
          <p:cNvSpPr/>
          <p:nvPr/>
        </p:nvSpPr>
        <p:spPr>
          <a:xfrm>
            <a:off x="4672584" y="3767328"/>
            <a:ext cx="4297680" cy="1371600"/>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43" name="Shape 40"/>
          <p:cNvSpPr/>
          <p:nvPr/>
        </p:nvSpPr>
        <p:spPr>
          <a:xfrm>
            <a:off x="4672584" y="3767328"/>
            <a:ext cx="64008" cy="1371600"/>
          </a:xfrm>
          <a:prstGeom prst="rect">
            <a:avLst/>
          </a:prstGeom>
          <a:solidFill>
            <a:srgbClr val="D94040"/>
          </a:solidFill>
          <a:ln w="12700">
            <a:solidFill>
              <a:srgbClr val="D94040"/>
            </a:solidFill>
            <a:prstDash val="solid"/>
          </a:ln>
        </p:spPr>
      </p:sp>
      <p:sp>
        <p:nvSpPr>
          <p:cNvPr id="44" name="Text 41"/>
          <p:cNvSpPr/>
          <p:nvPr/>
        </p:nvSpPr>
        <p:spPr>
          <a:xfrm>
            <a:off x="4837176" y="3840480"/>
            <a:ext cx="2743200" cy="256032"/>
          </a:xfrm>
          <a:prstGeom prst="rect">
            <a:avLst/>
          </a:prstGeom>
          <a:noFill/>
          <a:ln/>
        </p:spPr>
        <p:txBody>
          <a:bodyPr wrap="square" lIns="0" tIns="0" rIns="0" bIns="0" rtlCol="0" anchor="ctr"/>
          <a:lstStyle/>
          <a:p>
            <a:pPr indent="0" marL="0">
              <a:buNone/>
            </a:pPr>
            <a:r>
              <a:rPr lang="en-US" sz="1050" b="1" dirty="0">
                <a:solidFill>
                  <a:srgbClr val="1A2B42"/>
                </a:solidFill>
              </a:rPr>
              <a:t>UCLA-LoPucki Bankruptcy DB</a:t>
            </a:r>
            <a:endParaRPr lang="en-US" sz="1050" dirty="0"/>
          </a:p>
        </p:txBody>
      </p:sp>
      <p:sp>
        <p:nvSpPr>
          <p:cNvPr id="45" name="Shape 42"/>
          <p:cNvSpPr/>
          <p:nvPr/>
        </p:nvSpPr>
        <p:spPr>
          <a:xfrm>
            <a:off x="7616952" y="3858768"/>
            <a:ext cx="1261872" cy="219456"/>
          </a:xfrm>
          <a:prstGeom prst="roundRect">
            <a:avLst>
              <a:gd name="adj" fmla="val 16667"/>
            </a:avLst>
          </a:prstGeom>
          <a:solidFill>
            <a:srgbClr val="D94040"/>
          </a:solidFill>
          <a:ln w="12700">
            <a:solidFill>
              <a:srgbClr val="D94040"/>
            </a:solidFill>
            <a:prstDash val="solid"/>
          </a:ln>
        </p:spPr>
      </p:sp>
      <p:sp>
        <p:nvSpPr>
          <p:cNvPr id="46" name="Text 43"/>
          <p:cNvSpPr/>
          <p:nvPr/>
        </p:nvSpPr>
        <p:spPr>
          <a:xfrm>
            <a:off x="7616952" y="3858768"/>
            <a:ext cx="1261872" cy="219456"/>
          </a:xfrm>
          <a:prstGeom prst="rect">
            <a:avLst/>
          </a:prstGeom>
          <a:noFill/>
          <a:ln/>
        </p:spPr>
        <p:txBody>
          <a:bodyPr wrap="square" lIns="0" tIns="0" rIns="0" bIns="0" rtlCol="0" anchor="ctr"/>
          <a:lstStyle/>
          <a:p>
            <a:pPr algn="ctr" indent="0" marL="0">
              <a:buNone/>
            </a:pPr>
            <a:r>
              <a:rPr lang="en-US" sz="750" b="1" dirty="0">
                <a:solidFill>
                  <a:srgbClr val="FFFFFF"/>
                </a:solidFill>
              </a:rPr>
              <a:t>Free — academic</a:t>
            </a:r>
            <a:endParaRPr lang="en-US" sz="750" dirty="0"/>
          </a:p>
        </p:txBody>
      </p:sp>
      <p:sp>
        <p:nvSpPr>
          <p:cNvPr id="47" name="Text 44"/>
          <p:cNvSpPr/>
          <p:nvPr/>
        </p:nvSpPr>
        <p:spPr>
          <a:xfrm>
            <a:off x="4837176" y="4151376"/>
            <a:ext cx="4041648" cy="694944"/>
          </a:xfrm>
          <a:prstGeom prst="rect">
            <a:avLst/>
          </a:prstGeom>
          <a:noFill/>
          <a:ln/>
        </p:spPr>
        <p:txBody>
          <a:bodyPr wrap="square" lIns="0" tIns="0" rIns="0" bIns="0" rtlCol="0" anchor="ctr"/>
          <a:lstStyle/>
          <a:p>
            <a:pPr indent="0" marL="0">
              <a:buNone/>
            </a:pPr>
            <a:r>
              <a:rPr lang="en-US" sz="880" dirty="0">
                <a:solidFill>
                  <a:srgbClr val="8899AA"/>
                </a:solidFill>
              </a:rPr>
              <a:t>Large company bankruptcy and financial distress records. Used for manufacturer financial health scoring in the supplier risk graph — a supplier approaching financial distress is flagged as high-risk before an official shortage is declared.</a:t>
            </a:r>
            <a:endParaRPr lang="en-US" sz="880" dirty="0"/>
          </a:p>
        </p:txBody>
      </p:sp>
      <p:sp>
        <p:nvSpPr>
          <p:cNvPr id="48" name="Text 45"/>
          <p:cNvSpPr/>
          <p:nvPr/>
        </p:nvSpPr>
        <p:spPr>
          <a:xfrm>
            <a:off x="4837176" y="4901184"/>
            <a:ext cx="4041648" cy="182880"/>
          </a:xfrm>
          <a:prstGeom prst="rect">
            <a:avLst/>
          </a:prstGeom>
          <a:noFill/>
          <a:ln/>
        </p:spPr>
        <p:txBody>
          <a:bodyPr wrap="square" lIns="0" tIns="0" rIns="0" bIns="0" rtlCol="0" anchor="ctr"/>
          <a:lstStyle/>
          <a:p>
            <a:pPr indent="0" marL="0">
              <a:buNone/>
            </a:pPr>
            <a:r>
              <a:rPr lang="en-US" sz="800" i="1" dirty="0">
                <a:solidFill>
                  <a:srgbClr val="D94040"/>
                </a:solidFill>
              </a:rPr>
              <a:t>↗ lopucki.law.ucla.edu</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12240"/>
          </a:solidFill>
          <a:ln w="12700">
            <a:solidFill>
              <a:srgbClr val="112240"/>
            </a:solidFill>
            <a:prstDash val="solid"/>
          </a:ln>
        </p:spPr>
      </p:sp>
      <p:sp>
        <p:nvSpPr>
          <p:cNvPr id="3" name="Shape 1"/>
          <p:cNvSpPr/>
          <p:nvPr/>
        </p:nvSpPr>
        <p:spPr>
          <a:xfrm>
            <a:off x="0" y="0"/>
            <a:ext cx="54864" cy="749808"/>
          </a:xfrm>
          <a:prstGeom prst="rect">
            <a:avLst/>
          </a:prstGeom>
          <a:solidFill>
            <a:srgbClr val="F0A500"/>
          </a:solidFill>
          <a:ln w="12700">
            <a:solidFill>
              <a:srgbClr val="F0A500"/>
            </a:solidFill>
            <a:prstDash val="solid"/>
          </a:ln>
        </p:spPr>
      </p:sp>
      <p:pic>
        <p:nvPicPr>
          <p:cNvPr id="4" name="Image 0" descr="preencoded.png">    </p:cNvPr>
          <p:cNvPicPr>
            <a:picLocks noChangeAspect="1"/>
          </p:cNvPicPr>
          <p:nvPr/>
        </p:nvPicPr>
        <p:blipFill>
          <a:blip r:embed="rId1"/>
          <a:stretch>
            <a:fillRect/>
          </a:stretch>
        </p:blipFill>
        <p:spPr>
          <a:xfrm>
            <a:off x="182880" y="164592"/>
            <a:ext cx="402336" cy="402336"/>
          </a:xfrm>
          <a:prstGeom prst="rect">
            <a:avLst/>
          </a:prstGeom>
        </p:spPr>
      </p:pic>
      <p:sp>
        <p:nvSpPr>
          <p:cNvPr id="5" name="Text 2"/>
          <p:cNvSpPr/>
          <p:nvPr/>
        </p:nvSpPr>
        <p:spPr>
          <a:xfrm>
            <a:off x="713232" y="54864"/>
            <a:ext cx="7315200" cy="320040"/>
          </a:xfrm>
          <a:prstGeom prst="rect">
            <a:avLst/>
          </a:prstGeom>
          <a:noFill/>
          <a:ln/>
        </p:spPr>
        <p:txBody>
          <a:bodyPr wrap="square" lIns="0" tIns="0" rIns="0" bIns="0" rtlCol="0" anchor="ctr"/>
          <a:lstStyle/>
          <a:p>
            <a:pPr indent="0" marL="0">
              <a:buNone/>
            </a:pPr>
            <a:r>
              <a:rPr lang="en-US" sz="1100" b="1" spc="300" kern="0" dirty="0">
                <a:solidFill>
                  <a:srgbClr val="F0A500"/>
                </a:solidFill>
              </a:rPr>
              <a:t>VIVA PREPARATION — KEY Q&amp;A</a:t>
            </a:r>
            <a:endParaRPr lang="en-US" sz="1100" dirty="0"/>
          </a:p>
        </p:txBody>
      </p:sp>
      <p:sp>
        <p:nvSpPr>
          <p:cNvPr id="6" name="Text 3"/>
          <p:cNvSpPr/>
          <p:nvPr/>
        </p:nvSpPr>
        <p:spPr>
          <a:xfrm>
            <a:off x="713232" y="402336"/>
            <a:ext cx="8229600" cy="274320"/>
          </a:xfrm>
          <a:prstGeom prst="rect">
            <a:avLst/>
          </a:prstGeom>
          <a:noFill/>
          <a:ln/>
        </p:spPr>
        <p:txBody>
          <a:bodyPr wrap="square" lIns="0" tIns="0" rIns="0" bIns="0" rtlCol="0" anchor="ctr"/>
          <a:lstStyle/>
          <a:p>
            <a:pPr indent="0" marL="0">
              <a:buNone/>
            </a:pPr>
            <a:r>
              <a:rPr lang="en-US" sz="1200" dirty="0">
                <a:solidFill>
                  <a:srgbClr val="C8D6E5"/>
                </a:solidFill>
              </a:rPr>
              <a:t>The 5 hardest questions your panel will ask — with complete, fluent answers ready</a:t>
            </a:r>
            <a:endParaRPr lang="en-US" sz="1200" dirty="0"/>
          </a:p>
        </p:txBody>
      </p:sp>
      <p:sp>
        <p:nvSpPr>
          <p:cNvPr id="7" name="Shape 4"/>
          <p:cNvSpPr/>
          <p:nvPr/>
        </p:nvSpPr>
        <p:spPr>
          <a:xfrm>
            <a:off x="164592" y="841248"/>
            <a:ext cx="8823960" cy="786384"/>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8" name="Shape 5"/>
          <p:cNvSpPr/>
          <p:nvPr/>
        </p:nvSpPr>
        <p:spPr>
          <a:xfrm>
            <a:off x="164592" y="841248"/>
            <a:ext cx="64008" cy="786384"/>
          </a:xfrm>
          <a:prstGeom prst="rect">
            <a:avLst/>
          </a:prstGeom>
          <a:solidFill>
            <a:srgbClr val="0D9B8A"/>
          </a:solidFill>
          <a:ln w="12700">
            <a:solidFill>
              <a:srgbClr val="0D9B8A"/>
            </a:solidFill>
            <a:prstDash val="solid"/>
          </a:ln>
        </p:spPr>
      </p:sp>
      <p:sp>
        <p:nvSpPr>
          <p:cNvPr id="9" name="Shape 6"/>
          <p:cNvSpPr/>
          <p:nvPr/>
        </p:nvSpPr>
        <p:spPr>
          <a:xfrm>
            <a:off x="301752" y="923544"/>
            <a:ext cx="256032" cy="219456"/>
          </a:xfrm>
          <a:prstGeom prst="roundRect">
            <a:avLst>
              <a:gd name="adj" fmla="val 16667"/>
            </a:avLst>
          </a:prstGeom>
          <a:solidFill>
            <a:srgbClr val="0D9B8A"/>
          </a:solidFill>
          <a:ln w="12700">
            <a:solidFill>
              <a:srgbClr val="0D9B8A"/>
            </a:solidFill>
            <a:prstDash val="solid"/>
          </a:ln>
        </p:spPr>
      </p:sp>
      <p:sp>
        <p:nvSpPr>
          <p:cNvPr id="10" name="Text 7"/>
          <p:cNvSpPr/>
          <p:nvPr/>
        </p:nvSpPr>
        <p:spPr>
          <a:xfrm>
            <a:off x="301752" y="923544"/>
            <a:ext cx="256032"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1" name="Text 8"/>
          <p:cNvSpPr/>
          <p:nvPr/>
        </p:nvSpPr>
        <p:spPr>
          <a:xfrm>
            <a:off x="621792" y="914400"/>
            <a:ext cx="8284464" cy="256032"/>
          </a:xfrm>
          <a:prstGeom prst="rect">
            <a:avLst/>
          </a:prstGeom>
          <a:noFill/>
          <a:ln/>
        </p:spPr>
        <p:txBody>
          <a:bodyPr wrap="square" lIns="0" tIns="0" rIns="0" bIns="0" rtlCol="0" anchor="ctr"/>
          <a:lstStyle/>
          <a:p>
            <a:pPr indent="0" marL="0">
              <a:buNone/>
            </a:pPr>
            <a:r>
              <a:rPr lang="en-US" sz="1050" b="1" dirty="0">
                <a:solidFill>
                  <a:srgbClr val="1A2B42"/>
                </a:solidFill>
              </a:rPr>
              <a:t>Existing work already uses ML for drug shortages. What's genuinely new here?</a:t>
            </a:r>
            <a:endParaRPr lang="en-US" sz="1050" dirty="0"/>
          </a:p>
        </p:txBody>
      </p:sp>
      <p:sp>
        <p:nvSpPr>
          <p:cNvPr id="12" name="Shape 9"/>
          <p:cNvSpPr/>
          <p:nvPr/>
        </p:nvSpPr>
        <p:spPr>
          <a:xfrm>
            <a:off x="301752" y="1280160"/>
            <a:ext cx="256032" cy="219456"/>
          </a:xfrm>
          <a:prstGeom prst="roundRect">
            <a:avLst>
              <a:gd name="adj" fmla="val 16667"/>
            </a:avLst>
          </a:prstGeom>
          <a:solidFill>
            <a:srgbClr val="E8F5E9"/>
          </a:solidFill>
          <a:ln w="6350">
            <a:solidFill>
              <a:srgbClr val="27AE60"/>
            </a:solidFill>
            <a:prstDash val="solid"/>
          </a:ln>
        </p:spPr>
      </p:sp>
      <p:sp>
        <p:nvSpPr>
          <p:cNvPr id="13" name="Text 10"/>
          <p:cNvSpPr/>
          <p:nvPr/>
        </p:nvSpPr>
        <p:spPr>
          <a:xfrm>
            <a:off x="301752" y="1280160"/>
            <a:ext cx="256032" cy="219456"/>
          </a:xfrm>
          <a:prstGeom prst="rect">
            <a:avLst/>
          </a:prstGeom>
          <a:noFill/>
          <a:ln/>
        </p:spPr>
        <p:txBody>
          <a:bodyPr wrap="square" lIns="0" tIns="0" rIns="0" bIns="0" rtlCol="0" anchor="ctr"/>
          <a:lstStyle/>
          <a:p>
            <a:pPr algn="ctr" indent="0" marL="0">
              <a:buNone/>
            </a:pPr>
            <a:r>
              <a:rPr lang="en-US" sz="1000" b="1" dirty="0">
                <a:solidFill>
                  <a:srgbClr val="1A6B3C"/>
                </a:solidFill>
              </a:rPr>
              <a:t>A</a:t>
            </a:r>
            <a:endParaRPr lang="en-US" sz="1000" dirty="0"/>
          </a:p>
        </p:txBody>
      </p:sp>
      <p:sp>
        <p:nvSpPr>
          <p:cNvPr id="14" name="Text 11"/>
          <p:cNvSpPr/>
          <p:nvPr/>
        </p:nvSpPr>
        <p:spPr>
          <a:xfrm>
            <a:off x="621792" y="1271016"/>
            <a:ext cx="8284464" cy="301752"/>
          </a:xfrm>
          <a:prstGeom prst="rect">
            <a:avLst/>
          </a:prstGeom>
          <a:noFill/>
          <a:ln/>
        </p:spPr>
        <p:txBody>
          <a:bodyPr wrap="square" lIns="0" tIns="0" rIns="0" bIns="0" rtlCol="0" anchor="ctr"/>
          <a:lstStyle/>
          <a:p>
            <a:pPr indent="0" marL="0">
              <a:buNone/>
            </a:pPr>
            <a:r>
              <a:rPr lang="en-US" sz="950" dirty="0">
                <a:solidFill>
                  <a:srgbClr val="8899AA"/>
                </a:solidFill>
              </a:rPr>
              <a:t>The best published system (Springer 2023) achieves 69% accuracy using LightGBM on demand-side data only, with a point estimate output. We add three things they explicitly say would improve performance: supplier-side signals, a multi-echelon graph model, and probabilistic output. Every single one of our contributions addresses a stated limitation of the current SOTA.</a:t>
            </a:r>
            <a:endParaRPr lang="en-US" sz="950" dirty="0"/>
          </a:p>
        </p:txBody>
      </p:sp>
      <p:sp>
        <p:nvSpPr>
          <p:cNvPr id="15" name="Shape 12"/>
          <p:cNvSpPr/>
          <p:nvPr/>
        </p:nvSpPr>
        <p:spPr>
          <a:xfrm>
            <a:off x="164592" y="1691640"/>
            <a:ext cx="8823960" cy="786384"/>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16" name="Shape 13"/>
          <p:cNvSpPr/>
          <p:nvPr/>
        </p:nvSpPr>
        <p:spPr>
          <a:xfrm>
            <a:off x="164592" y="1691640"/>
            <a:ext cx="64008" cy="786384"/>
          </a:xfrm>
          <a:prstGeom prst="rect">
            <a:avLst/>
          </a:prstGeom>
          <a:solidFill>
            <a:srgbClr val="7B52AB"/>
          </a:solidFill>
          <a:ln w="12700">
            <a:solidFill>
              <a:srgbClr val="7B52AB"/>
            </a:solidFill>
            <a:prstDash val="solid"/>
          </a:ln>
        </p:spPr>
      </p:sp>
      <p:sp>
        <p:nvSpPr>
          <p:cNvPr id="17" name="Shape 14"/>
          <p:cNvSpPr/>
          <p:nvPr/>
        </p:nvSpPr>
        <p:spPr>
          <a:xfrm>
            <a:off x="301752" y="1773936"/>
            <a:ext cx="256032" cy="219456"/>
          </a:xfrm>
          <a:prstGeom prst="roundRect">
            <a:avLst>
              <a:gd name="adj" fmla="val 16667"/>
            </a:avLst>
          </a:prstGeom>
          <a:solidFill>
            <a:srgbClr val="7B52AB"/>
          </a:solidFill>
          <a:ln w="12700">
            <a:solidFill>
              <a:srgbClr val="7B52AB"/>
            </a:solidFill>
            <a:prstDash val="solid"/>
          </a:ln>
        </p:spPr>
      </p:sp>
      <p:sp>
        <p:nvSpPr>
          <p:cNvPr id="18" name="Text 15"/>
          <p:cNvSpPr/>
          <p:nvPr/>
        </p:nvSpPr>
        <p:spPr>
          <a:xfrm>
            <a:off x="301752" y="1773936"/>
            <a:ext cx="256032"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19" name="Text 16"/>
          <p:cNvSpPr/>
          <p:nvPr/>
        </p:nvSpPr>
        <p:spPr>
          <a:xfrm>
            <a:off x="621792" y="1764792"/>
            <a:ext cx="8284464" cy="256032"/>
          </a:xfrm>
          <a:prstGeom prst="rect">
            <a:avLst/>
          </a:prstGeom>
          <a:noFill/>
          <a:ln/>
        </p:spPr>
        <p:txBody>
          <a:bodyPr wrap="square" lIns="0" tIns="0" rIns="0" bIns="0" rtlCol="0" anchor="ctr"/>
          <a:lstStyle/>
          <a:p>
            <a:pPr indent="0" marL="0">
              <a:buNone/>
            </a:pPr>
            <a:r>
              <a:rPr lang="en-US" sz="1050" b="1" dirty="0">
                <a:solidFill>
                  <a:srgbClr val="1A2B42"/>
                </a:solidFill>
              </a:rPr>
              <a:t>Why TFT instead of simpler models like LSTM or ARIMA?</a:t>
            </a:r>
            <a:endParaRPr lang="en-US" sz="1050" dirty="0"/>
          </a:p>
        </p:txBody>
      </p:sp>
      <p:sp>
        <p:nvSpPr>
          <p:cNvPr id="20" name="Shape 17"/>
          <p:cNvSpPr/>
          <p:nvPr/>
        </p:nvSpPr>
        <p:spPr>
          <a:xfrm>
            <a:off x="301752" y="2130552"/>
            <a:ext cx="256032" cy="219456"/>
          </a:xfrm>
          <a:prstGeom prst="roundRect">
            <a:avLst>
              <a:gd name="adj" fmla="val 16667"/>
            </a:avLst>
          </a:prstGeom>
          <a:solidFill>
            <a:srgbClr val="E8F5E9"/>
          </a:solidFill>
          <a:ln w="6350">
            <a:solidFill>
              <a:srgbClr val="27AE60"/>
            </a:solidFill>
            <a:prstDash val="solid"/>
          </a:ln>
        </p:spPr>
      </p:sp>
      <p:sp>
        <p:nvSpPr>
          <p:cNvPr id="21" name="Text 18"/>
          <p:cNvSpPr/>
          <p:nvPr/>
        </p:nvSpPr>
        <p:spPr>
          <a:xfrm>
            <a:off x="301752" y="2130552"/>
            <a:ext cx="256032" cy="219456"/>
          </a:xfrm>
          <a:prstGeom prst="rect">
            <a:avLst/>
          </a:prstGeom>
          <a:noFill/>
          <a:ln/>
        </p:spPr>
        <p:txBody>
          <a:bodyPr wrap="square" lIns="0" tIns="0" rIns="0" bIns="0" rtlCol="0" anchor="ctr"/>
          <a:lstStyle/>
          <a:p>
            <a:pPr algn="ctr" indent="0" marL="0">
              <a:buNone/>
            </a:pPr>
            <a:r>
              <a:rPr lang="en-US" sz="1000" b="1" dirty="0">
                <a:solidFill>
                  <a:srgbClr val="1A6B3C"/>
                </a:solidFill>
              </a:rPr>
              <a:t>A</a:t>
            </a:r>
            <a:endParaRPr lang="en-US" sz="1000" dirty="0"/>
          </a:p>
        </p:txBody>
      </p:sp>
      <p:sp>
        <p:nvSpPr>
          <p:cNvPr id="22" name="Text 19"/>
          <p:cNvSpPr/>
          <p:nvPr/>
        </p:nvSpPr>
        <p:spPr>
          <a:xfrm>
            <a:off x="621792" y="2121408"/>
            <a:ext cx="8284464" cy="301752"/>
          </a:xfrm>
          <a:prstGeom prst="rect">
            <a:avLst/>
          </a:prstGeom>
          <a:noFill/>
          <a:ln/>
        </p:spPr>
        <p:txBody>
          <a:bodyPr wrap="square" lIns="0" tIns="0" rIns="0" bIns="0" rtlCol="0" anchor="ctr"/>
          <a:lstStyle/>
          <a:p>
            <a:pPr indent="0" marL="0">
              <a:buNone/>
            </a:pPr>
            <a:r>
              <a:rPr lang="en-US" sz="950" dirty="0">
                <a:solidFill>
                  <a:srgbClr val="8899AA"/>
                </a:solidFill>
              </a:rPr>
              <a:t>TFT has three advantages for this problem: (1) variable selection networks learn which features matter per drug — a critical drug driven by seasonal demand needs different attention than a slow-moving drug. (2) It handles multi-horizon forecasting (7, 14, 30, 45 days) in a single model. (3) It naturally produces interpretable importance scores — each forecast comes with an explanation. Our ablation study quantifies the TFT improvement over LSTM/ARIMA directly.</a:t>
            </a:r>
            <a:endParaRPr lang="en-US" sz="950" dirty="0"/>
          </a:p>
        </p:txBody>
      </p:sp>
      <p:sp>
        <p:nvSpPr>
          <p:cNvPr id="23" name="Shape 20"/>
          <p:cNvSpPr/>
          <p:nvPr/>
        </p:nvSpPr>
        <p:spPr>
          <a:xfrm>
            <a:off x="164592" y="2542032"/>
            <a:ext cx="8823960" cy="786384"/>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24" name="Shape 21"/>
          <p:cNvSpPr/>
          <p:nvPr/>
        </p:nvSpPr>
        <p:spPr>
          <a:xfrm>
            <a:off x="164592" y="2542032"/>
            <a:ext cx="64008" cy="786384"/>
          </a:xfrm>
          <a:prstGeom prst="rect">
            <a:avLst/>
          </a:prstGeom>
          <a:solidFill>
            <a:srgbClr val="2E86DE"/>
          </a:solidFill>
          <a:ln w="12700">
            <a:solidFill>
              <a:srgbClr val="2E86DE"/>
            </a:solidFill>
            <a:prstDash val="solid"/>
          </a:ln>
        </p:spPr>
      </p:sp>
      <p:sp>
        <p:nvSpPr>
          <p:cNvPr id="25" name="Shape 22"/>
          <p:cNvSpPr/>
          <p:nvPr/>
        </p:nvSpPr>
        <p:spPr>
          <a:xfrm>
            <a:off x="301752" y="2624328"/>
            <a:ext cx="256032" cy="219456"/>
          </a:xfrm>
          <a:prstGeom prst="roundRect">
            <a:avLst>
              <a:gd name="adj" fmla="val 16667"/>
            </a:avLst>
          </a:prstGeom>
          <a:solidFill>
            <a:srgbClr val="2E86DE"/>
          </a:solidFill>
          <a:ln w="12700">
            <a:solidFill>
              <a:srgbClr val="2E86DE"/>
            </a:solidFill>
            <a:prstDash val="solid"/>
          </a:ln>
        </p:spPr>
      </p:sp>
      <p:sp>
        <p:nvSpPr>
          <p:cNvPr id="26" name="Text 23"/>
          <p:cNvSpPr/>
          <p:nvPr/>
        </p:nvSpPr>
        <p:spPr>
          <a:xfrm>
            <a:off x="301752" y="2624328"/>
            <a:ext cx="256032"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27" name="Text 24"/>
          <p:cNvSpPr/>
          <p:nvPr/>
        </p:nvSpPr>
        <p:spPr>
          <a:xfrm>
            <a:off x="621792" y="2615184"/>
            <a:ext cx="8284464" cy="256032"/>
          </a:xfrm>
          <a:prstGeom prst="rect">
            <a:avLst/>
          </a:prstGeom>
          <a:noFill/>
          <a:ln/>
        </p:spPr>
        <p:txBody>
          <a:bodyPr wrap="square" lIns="0" tIns="0" rIns="0" bIns="0" rtlCol="0" anchor="ctr"/>
          <a:lstStyle/>
          <a:p>
            <a:pPr indent="0" marL="0">
              <a:buNone/>
            </a:pPr>
            <a:r>
              <a:rPr lang="en-US" sz="1050" b="1" dirty="0">
                <a:solidFill>
                  <a:srgbClr val="1A2B42"/>
                </a:solidFill>
              </a:rPr>
              <a:t>How does the supplier graph actually improve prediction accuracy?</a:t>
            </a:r>
            <a:endParaRPr lang="en-US" sz="1050" dirty="0"/>
          </a:p>
        </p:txBody>
      </p:sp>
      <p:sp>
        <p:nvSpPr>
          <p:cNvPr id="28" name="Shape 25"/>
          <p:cNvSpPr/>
          <p:nvPr/>
        </p:nvSpPr>
        <p:spPr>
          <a:xfrm>
            <a:off x="301752" y="2980944"/>
            <a:ext cx="256032" cy="219456"/>
          </a:xfrm>
          <a:prstGeom prst="roundRect">
            <a:avLst>
              <a:gd name="adj" fmla="val 16667"/>
            </a:avLst>
          </a:prstGeom>
          <a:solidFill>
            <a:srgbClr val="E8F5E9"/>
          </a:solidFill>
          <a:ln w="6350">
            <a:solidFill>
              <a:srgbClr val="27AE60"/>
            </a:solidFill>
            <a:prstDash val="solid"/>
          </a:ln>
        </p:spPr>
      </p:sp>
      <p:sp>
        <p:nvSpPr>
          <p:cNvPr id="29" name="Text 26"/>
          <p:cNvSpPr/>
          <p:nvPr/>
        </p:nvSpPr>
        <p:spPr>
          <a:xfrm>
            <a:off x="301752" y="2980944"/>
            <a:ext cx="256032" cy="219456"/>
          </a:xfrm>
          <a:prstGeom prst="rect">
            <a:avLst/>
          </a:prstGeom>
          <a:noFill/>
          <a:ln/>
        </p:spPr>
        <p:txBody>
          <a:bodyPr wrap="square" lIns="0" tIns="0" rIns="0" bIns="0" rtlCol="0" anchor="ctr"/>
          <a:lstStyle/>
          <a:p>
            <a:pPr algn="ctr" indent="0" marL="0">
              <a:buNone/>
            </a:pPr>
            <a:r>
              <a:rPr lang="en-US" sz="1000" b="1" dirty="0">
                <a:solidFill>
                  <a:srgbClr val="1A6B3C"/>
                </a:solidFill>
              </a:rPr>
              <a:t>A</a:t>
            </a:r>
            <a:endParaRPr lang="en-US" sz="1000" dirty="0"/>
          </a:p>
        </p:txBody>
      </p:sp>
      <p:sp>
        <p:nvSpPr>
          <p:cNvPr id="30" name="Text 27"/>
          <p:cNvSpPr/>
          <p:nvPr/>
        </p:nvSpPr>
        <p:spPr>
          <a:xfrm>
            <a:off x="621792" y="2971800"/>
            <a:ext cx="8284464" cy="301752"/>
          </a:xfrm>
          <a:prstGeom prst="rect">
            <a:avLst/>
          </a:prstGeom>
          <a:noFill/>
          <a:ln/>
        </p:spPr>
        <p:txBody>
          <a:bodyPr wrap="square" lIns="0" tIns="0" rIns="0" bIns="0" rtlCol="0" anchor="ctr"/>
          <a:lstStyle/>
          <a:p>
            <a:pPr indent="0" marL="0">
              <a:buNone/>
            </a:pPr>
            <a:r>
              <a:rPr lang="en-US" sz="950" dirty="0">
                <a:solidFill>
                  <a:srgbClr val="8899AA"/>
                </a:solidFill>
              </a:rPr>
              <a:t>Demand-side models can only detect a shortage after consumption patterns change — by then it is already too late. Supplier signals are leading indicators: a manufacturer filing for financial distress, a key ingredient supplier flagged by FDA, a distributor with deteriorating delivery reliability. Our graph captures these signals weeks before they affect dispensing patterns. The ablation (Config B vs C) isolates and quantifies this contribution exactly.</a:t>
            </a:r>
            <a:endParaRPr lang="en-US" sz="950" dirty="0"/>
          </a:p>
        </p:txBody>
      </p:sp>
      <p:sp>
        <p:nvSpPr>
          <p:cNvPr id="31" name="Shape 28"/>
          <p:cNvSpPr/>
          <p:nvPr/>
        </p:nvSpPr>
        <p:spPr>
          <a:xfrm>
            <a:off x="164592" y="3392424"/>
            <a:ext cx="8823960" cy="786384"/>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32" name="Shape 29"/>
          <p:cNvSpPr/>
          <p:nvPr/>
        </p:nvSpPr>
        <p:spPr>
          <a:xfrm>
            <a:off x="164592" y="3392424"/>
            <a:ext cx="64008" cy="786384"/>
          </a:xfrm>
          <a:prstGeom prst="rect">
            <a:avLst/>
          </a:prstGeom>
          <a:solidFill>
            <a:srgbClr val="F0A500"/>
          </a:solidFill>
          <a:ln w="12700">
            <a:solidFill>
              <a:srgbClr val="F0A500"/>
            </a:solidFill>
            <a:prstDash val="solid"/>
          </a:ln>
        </p:spPr>
      </p:sp>
      <p:sp>
        <p:nvSpPr>
          <p:cNvPr id="33" name="Shape 30"/>
          <p:cNvSpPr/>
          <p:nvPr/>
        </p:nvSpPr>
        <p:spPr>
          <a:xfrm>
            <a:off x="301752" y="3474720"/>
            <a:ext cx="256032" cy="219456"/>
          </a:xfrm>
          <a:prstGeom prst="roundRect">
            <a:avLst>
              <a:gd name="adj" fmla="val 16667"/>
            </a:avLst>
          </a:prstGeom>
          <a:solidFill>
            <a:srgbClr val="F0A500"/>
          </a:solidFill>
          <a:ln w="12700">
            <a:solidFill>
              <a:srgbClr val="F0A500"/>
            </a:solidFill>
            <a:prstDash val="solid"/>
          </a:ln>
        </p:spPr>
      </p:sp>
      <p:sp>
        <p:nvSpPr>
          <p:cNvPr id="34" name="Text 31"/>
          <p:cNvSpPr/>
          <p:nvPr/>
        </p:nvSpPr>
        <p:spPr>
          <a:xfrm>
            <a:off x="301752" y="3474720"/>
            <a:ext cx="256032"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35" name="Text 32"/>
          <p:cNvSpPr/>
          <p:nvPr/>
        </p:nvSpPr>
        <p:spPr>
          <a:xfrm>
            <a:off x="621792" y="3465576"/>
            <a:ext cx="8284464" cy="256032"/>
          </a:xfrm>
          <a:prstGeom prst="rect">
            <a:avLst/>
          </a:prstGeom>
          <a:noFill/>
          <a:ln/>
        </p:spPr>
        <p:txBody>
          <a:bodyPr wrap="square" lIns="0" tIns="0" rIns="0" bIns="0" rtlCol="0" anchor="ctr"/>
          <a:lstStyle/>
          <a:p>
            <a:pPr indent="0" marL="0">
              <a:buNone/>
            </a:pPr>
            <a:r>
              <a:rPr lang="en-US" sz="1050" b="1" dirty="0">
                <a:solidFill>
                  <a:srgbClr val="1A2B42"/>
                </a:solidFill>
              </a:rPr>
              <a:t>Is 45-day prediction horizon realistic or just a claim?</a:t>
            </a:r>
            <a:endParaRPr lang="en-US" sz="1050" dirty="0"/>
          </a:p>
        </p:txBody>
      </p:sp>
      <p:sp>
        <p:nvSpPr>
          <p:cNvPr id="36" name="Shape 33"/>
          <p:cNvSpPr/>
          <p:nvPr/>
        </p:nvSpPr>
        <p:spPr>
          <a:xfrm>
            <a:off x="301752" y="3831336"/>
            <a:ext cx="256032" cy="219456"/>
          </a:xfrm>
          <a:prstGeom prst="roundRect">
            <a:avLst>
              <a:gd name="adj" fmla="val 16667"/>
            </a:avLst>
          </a:prstGeom>
          <a:solidFill>
            <a:srgbClr val="E8F5E9"/>
          </a:solidFill>
          <a:ln w="6350">
            <a:solidFill>
              <a:srgbClr val="27AE60"/>
            </a:solidFill>
            <a:prstDash val="solid"/>
          </a:ln>
        </p:spPr>
      </p:sp>
      <p:sp>
        <p:nvSpPr>
          <p:cNvPr id="37" name="Text 34"/>
          <p:cNvSpPr/>
          <p:nvPr/>
        </p:nvSpPr>
        <p:spPr>
          <a:xfrm>
            <a:off x="301752" y="3831336"/>
            <a:ext cx="256032" cy="219456"/>
          </a:xfrm>
          <a:prstGeom prst="rect">
            <a:avLst/>
          </a:prstGeom>
          <a:noFill/>
          <a:ln/>
        </p:spPr>
        <p:txBody>
          <a:bodyPr wrap="square" lIns="0" tIns="0" rIns="0" bIns="0" rtlCol="0" anchor="ctr"/>
          <a:lstStyle/>
          <a:p>
            <a:pPr algn="ctr" indent="0" marL="0">
              <a:buNone/>
            </a:pPr>
            <a:r>
              <a:rPr lang="en-US" sz="1000" b="1" dirty="0">
                <a:solidFill>
                  <a:srgbClr val="1A6B3C"/>
                </a:solidFill>
              </a:rPr>
              <a:t>A</a:t>
            </a:r>
            <a:endParaRPr lang="en-US" sz="1000" dirty="0"/>
          </a:p>
        </p:txBody>
      </p:sp>
      <p:sp>
        <p:nvSpPr>
          <p:cNvPr id="38" name="Text 35"/>
          <p:cNvSpPr/>
          <p:nvPr/>
        </p:nvSpPr>
        <p:spPr>
          <a:xfrm>
            <a:off x="621792" y="3822192"/>
            <a:ext cx="8284464" cy="301752"/>
          </a:xfrm>
          <a:prstGeom prst="rect">
            <a:avLst/>
          </a:prstGeom>
          <a:noFill/>
          <a:ln/>
        </p:spPr>
        <p:txBody>
          <a:bodyPr wrap="square" lIns="0" tIns="0" rIns="0" bIns="0" rtlCol="0" anchor="ctr"/>
          <a:lstStyle/>
          <a:p>
            <a:pPr indent="0" marL="0">
              <a:buNone/>
            </a:pPr>
            <a:r>
              <a:rPr lang="en-US" sz="950" dirty="0">
                <a:solidFill>
                  <a:srgbClr val="8899AA"/>
                </a:solidFill>
              </a:rPr>
              <a:t>It is realistic because supplier lead times average 30-60 days for essential drugs — so a 45-day forecast is the minimum clinically useful horizon. TFT's multi-head attention can learn longer dependencies than LSTM or classical models. We validate it explicitly: our ablation and evaluation both measure accuracy at 7, 14, 30, and 45-day horizons separately, so the 45-day claim is backed by a specific row in the results table, not just an assertion.</a:t>
            </a:r>
            <a:endParaRPr lang="en-US" sz="950" dirty="0"/>
          </a:p>
        </p:txBody>
      </p:sp>
      <p:sp>
        <p:nvSpPr>
          <p:cNvPr id="39" name="Shape 36"/>
          <p:cNvSpPr/>
          <p:nvPr/>
        </p:nvSpPr>
        <p:spPr>
          <a:xfrm>
            <a:off x="164592" y="4242816"/>
            <a:ext cx="8823960" cy="786384"/>
          </a:xfrm>
          <a:prstGeom prst="rect">
            <a:avLst/>
          </a:prstGeom>
          <a:solidFill>
            <a:srgbClr val="FFFFFF"/>
          </a:solidFill>
          <a:ln w="12700">
            <a:solidFill>
              <a:srgbClr val="C8D6E5"/>
            </a:solidFill>
            <a:prstDash val="solid"/>
          </a:ln>
          <a:effectLst>
            <a:outerShdw sx="100000" sy="100000" kx="0" ky="0" algn="bl" rotWithShape="0" blurRad="127000" dist="38100" dir="8100000">
              <a:srgbClr val="000000">
                <a:alpha val="10000"/>
              </a:srgbClr>
            </a:outerShdw>
          </a:effectLst>
        </p:spPr>
      </p:sp>
      <p:sp>
        <p:nvSpPr>
          <p:cNvPr id="40" name="Shape 37"/>
          <p:cNvSpPr/>
          <p:nvPr/>
        </p:nvSpPr>
        <p:spPr>
          <a:xfrm>
            <a:off x="164592" y="4242816"/>
            <a:ext cx="64008" cy="786384"/>
          </a:xfrm>
          <a:prstGeom prst="rect">
            <a:avLst/>
          </a:prstGeom>
          <a:solidFill>
            <a:srgbClr val="27AE60"/>
          </a:solidFill>
          <a:ln w="12700">
            <a:solidFill>
              <a:srgbClr val="27AE60"/>
            </a:solidFill>
            <a:prstDash val="solid"/>
          </a:ln>
        </p:spPr>
      </p:sp>
      <p:sp>
        <p:nvSpPr>
          <p:cNvPr id="41" name="Shape 38"/>
          <p:cNvSpPr/>
          <p:nvPr/>
        </p:nvSpPr>
        <p:spPr>
          <a:xfrm>
            <a:off x="301752" y="4325112"/>
            <a:ext cx="256032" cy="219456"/>
          </a:xfrm>
          <a:prstGeom prst="roundRect">
            <a:avLst>
              <a:gd name="adj" fmla="val 16667"/>
            </a:avLst>
          </a:prstGeom>
          <a:solidFill>
            <a:srgbClr val="27AE60"/>
          </a:solidFill>
          <a:ln w="12700">
            <a:solidFill>
              <a:srgbClr val="27AE60"/>
            </a:solidFill>
            <a:prstDash val="solid"/>
          </a:ln>
        </p:spPr>
      </p:sp>
      <p:sp>
        <p:nvSpPr>
          <p:cNvPr id="42" name="Text 39"/>
          <p:cNvSpPr/>
          <p:nvPr/>
        </p:nvSpPr>
        <p:spPr>
          <a:xfrm>
            <a:off x="301752" y="4325112"/>
            <a:ext cx="256032" cy="219456"/>
          </a:xfrm>
          <a:prstGeom prst="rect">
            <a:avLst/>
          </a:prstGeom>
          <a:noFill/>
          <a:ln/>
        </p:spPr>
        <p:txBody>
          <a:bodyPr wrap="square" lIns="0" tIns="0" rIns="0" bIns="0" rtlCol="0" anchor="ctr"/>
          <a:lstStyle/>
          <a:p>
            <a:pPr algn="ctr" indent="0" marL="0">
              <a:buNone/>
            </a:pPr>
            <a:r>
              <a:rPr lang="en-US" sz="1000" b="1" dirty="0">
                <a:solidFill>
                  <a:srgbClr val="FFFFFF"/>
                </a:solidFill>
              </a:rPr>
              <a:t>Q</a:t>
            </a:r>
            <a:endParaRPr lang="en-US" sz="1000" dirty="0"/>
          </a:p>
        </p:txBody>
      </p:sp>
      <p:sp>
        <p:nvSpPr>
          <p:cNvPr id="43" name="Text 40"/>
          <p:cNvSpPr/>
          <p:nvPr/>
        </p:nvSpPr>
        <p:spPr>
          <a:xfrm>
            <a:off x="621792" y="4315968"/>
            <a:ext cx="8284464" cy="256032"/>
          </a:xfrm>
          <a:prstGeom prst="rect">
            <a:avLst/>
          </a:prstGeom>
          <a:noFill/>
          <a:ln/>
        </p:spPr>
        <p:txBody>
          <a:bodyPr wrap="square" lIns="0" tIns="0" rIns="0" bIns="0" rtlCol="0" anchor="ctr"/>
          <a:lstStyle/>
          <a:p>
            <a:pPr indent="0" marL="0">
              <a:buNone/>
            </a:pPr>
            <a:r>
              <a:rPr lang="en-US" sz="1050" b="1" dirty="0">
                <a:solidFill>
                  <a:srgbClr val="1A2B42"/>
                </a:solidFill>
              </a:rPr>
              <a:t>How would this actually deploy in an Indian government hospital?</a:t>
            </a:r>
            <a:endParaRPr lang="en-US" sz="1050" dirty="0"/>
          </a:p>
        </p:txBody>
      </p:sp>
      <p:sp>
        <p:nvSpPr>
          <p:cNvPr id="44" name="Shape 41"/>
          <p:cNvSpPr/>
          <p:nvPr/>
        </p:nvSpPr>
        <p:spPr>
          <a:xfrm>
            <a:off x="301752" y="4681728"/>
            <a:ext cx="256032" cy="219456"/>
          </a:xfrm>
          <a:prstGeom prst="roundRect">
            <a:avLst>
              <a:gd name="adj" fmla="val 16667"/>
            </a:avLst>
          </a:prstGeom>
          <a:solidFill>
            <a:srgbClr val="E8F5E9"/>
          </a:solidFill>
          <a:ln w="6350">
            <a:solidFill>
              <a:srgbClr val="27AE60"/>
            </a:solidFill>
            <a:prstDash val="solid"/>
          </a:ln>
        </p:spPr>
      </p:sp>
      <p:sp>
        <p:nvSpPr>
          <p:cNvPr id="45" name="Text 42"/>
          <p:cNvSpPr/>
          <p:nvPr/>
        </p:nvSpPr>
        <p:spPr>
          <a:xfrm>
            <a:off x="301752" y="4681728"/>
            <a:ext cx="256032" cy="219456"/>
          </a:xfrm>
          <a:prstGeom prst="rect">
            <a:avLst/>
          </a:prstGeom>
          <a:noFill/>
          <a:ln/>
        </p:spPr>
        <p:txBody>
          <a:bodyPr wrap="square" lIns="0" tIns="0" rIns="0" bIns="0" rtlCol="0" anchor="ctr"/>
          <a:lstStyle/>
          <a:p>
            <a:pPr algn="ctr" indent="0" marL="0">
              <a:buNone/>
            </a:pPr>
            <a:r>
              <a:rPr lang="en-US" sz="1000" b="1" dirty="0">
                <a:solidFill>
                  <a:srgbClr val="1A6B3C"/>
                </a:solidFill>
              </a:rPr>
              <a:t>A</a:t>
            </a:r>
            <a:endParaRPr lang="en-US" sz="1000" dirty="0"/>
          </a:p>
        </p:txBody>
      </p:sp>
      <p:sp>
        <p:nvSpPr>
          <p:cNvPr id="46" name="Text 43"/>
          <p:cNvSpPr/>
          <p:nvPr/>
        </p:nvSpPr>
        <p:spPr>
          <a:xfrm>
            <a:off x="621792" y="4672584"/>
            <a:ext cx="8284464" cy="301752"/>
          </a:xfrm>
          <a:prstGeom prst="rect">
            <a:avLst/>
          </a:prstGeom>
          <a:noFill/>
          <a:ln/>
        </p:spPr>
        <p:txBody>
          <a:bodyPr wrap="square" lIns="0" tIns="0" rIns="0" bIns="0" rtlCol="0" anchor="ctr"/>
          <a:lstStyle/>
          <a:p>
            <a:pPr indent="0" marL="0">
              <a:buNone/>
            </a:pPr>
            <a:r>
              <a:rPr lang="en-US" sz="950" dirty="0">
                <a:solidFill>
                  <a:srgbClr val="8899AA"/>
                </a:solidFill>
              </a:rPr>
              <a:t>The system runs in a Docker container on any server with 8GB RAM — a configuration cheaper than a basic desktop. The pharmacist uploads a procurement CSV that government hospitals already maintain in Excel or basic accounting software. There is no app to install, no patient data required, and no internet dependency during demo — it runs fully offline. The output is a prioritised reorder list in the same CSV format procurement officers already use.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9B8A"/>
          </a:solidFill>
          <a:ln w="12700">
            <a:solidFill>
              <a:srgbClr val="0D9B8A"/>
            </a:solidFill>
            <a:prstDash val="solid"/>
          </a:ln>
        </p:spPr>
      </p:sp>
      <p:sp>
        <p:nvSpPr>
          <p:cNvPr id="3" name="Shape 1"/>
          <p:cNvSpPr/>
          <p:nvPr/>
        </p:nvSpPr>
        <p:spPr>
          <a:xfrm>
            <a:off x="6583680" y="-822960"/>
            <a:ext cx="3474720" cy="3474720"/>
          </a:xfrm>
          <a:prstGeom prst="ellipse">
            <a:avLst/>
          </a:prstGeom>
          <a:solidFill>
            <a:srgbClr val="0D9B8A">
              <a:alpha val="10000"/>
            </a:srgbClr>
          </a:solidFill>
          <a:ln w="12700">
            <a:solidFill>
              <a:srgbClr val="0D9B8A"/>
            </a:solidFill>
            <a:prstDash val="solid"/>
          </a:ln>
        </p:spPr>
      </p:sp>
      <p:sp>
        <p:nvSpPr>
          <p:cNvPr id="4" name="Shape 2"/>
          <p:cNvSpPr/>
          <p:nvPr/>
        </p:nvSpPr>
        <p:spPr>
          <a:xfrm>
            <a:off x="7315200" y="3474720"/>
            <a:ext cx="2286000" cy="2286000"/>
          </a:xfrm>
          <a:prstGeom prst="ellipse">
            <a:avLst/>
          </a:prstGeom>
          <a:solidFill>
            <a:srgbClr val="7B52AB">
              <a:alpha val="12000"/>
            </a:srgbClr>
          </a:solidFill>
          <a:ln w="12700">
            <a:solidFill>
              <a:srgbClr val="7B52AB"/>
            </a:solidFill>
            <a:prstDash val="solid"/>
          </a:ln>
        </p:spPr>
      </p:sp>
      <p:sp>
        <p:nvSpPr>
          <p:cNvPr id="5" name="Text 3"/>
          <p:cNvSpPr/>
          <p:nvPr/>
        </p:nvSpPr>
        <p:spPr>
          <a:xfrm>
            <a:off x="228600" y="274320"/>
            <a:ext cx="6400800" cy="384048"/>
          </a:xfrm>
          <a:prstGeom prst="rect">
            <a:avLst/>
          </a:prstGeom>
          <a:noFill/>
          <a:ln/>
        </p:spPr>
        <p:txBody>
          <a:bodyPr wrap="square" lIns="0" tIns="0" rIns="0" bIns="0" rtlCol="0" anchor="ctr"/>
          <a:lstStyle/>
          <a:p>
            <a:pPr indent="0" marL="0">
              <a:buNone/>
            </a:pPr>
            <a:r>
              <a:rPr lang="en-US" sz="1300" b="1" spc="200" kern="0" dirty="0">
                <a:solidFill>
                  <a:srgbClr val="0D9B8A"/>
                </a:solidFill>
              </a:rPr>
              <a:t>Why this project is defensible</a:t>
            </a:r>
            <a:endParaRPr lang="en-US" sz="1300" dirty="0"/>
          </a:p>
        </p:txBody>
      </p:sp>
      <p:sp>
        <p:nvSpPr>
          <p:cNvPr id="6" name="Text 4"/>
          <p:cNvSpPr/>
          <p:nvPr/>
        </p:nvSpPr>
        <p:spPr>
          <a:xfrm>
            <a:off x="228600" y="685800"/>
            <a:ext cx="6400800" cy="475488"/>
          </a:xfrm>
          <a:prstGeom prst="rect">
            <a:avLst/>
          </a:prstGeom>
          <a:noFill/>
          <a:ln/>
        </p:spPr>
        <p:txBody>
          <a:bodyPr wrap="square" lIns="0" tIns="0" rIns="0" bIns="0" rtlCol="0" anchor="ctr"/>
          <a:lstStyle/>
          <a:p>
            <a:pPr indent="0" marL="0">
              <a:buNone/>
            </a:pPr>
            <a:r>
              <a:rPr lang="en-US" sz="2200" b="1" dirty="0">
                <a:solidFill>
                  <a:srgbClr val="FFFFFF"/>
                </a:solidFill>
              </a:rPr>
              <a:t>The complete case in one slide</a:t>
            </a:r>
            <a:endParaRPr lang="en-US" sz="2200" dirty="0"/>
          </a:p>
        </p:txBody>
      </p:sp>
      <p:pic>
        <p:nvPicPr>
          <p:cNvPr id="7" name="Image 0" descr="preencoded.png">    </p:cNvPr>
          <p:cNvPicPr>
            <a:picLocks noChangeAspect="1"/>
          </p:cNvPicPr>
          <p:nvPr/>
        </p:nvPicPr>
        <p:blipFill>
          <a:blip r:embed="rId1"/>
          <a:stretch>
            <a:fillRect/>
          </a:stretch>
        </p:blipFill>
        <p:spPr>
          <a:xfrm>
            <a:off x="256032" y="1389888"/>
            <a:ext cx="274320" cy="274320"/>
          </a:xfrm>
          <a:prstGeom prst="rect">
            <a:avLst/>
          </a:prstGeom>
        </p:spPr>
      </p:pic>
      <p:sp>
        <p:nvSpPr>
          <p:cNvPr id="8" name="Text 5"/>
          <p:cNvSpPr/>
          <p:nvPr/>
        </p:nvSpPr>
        <p:spPr>
          <a:xfrm>
            <a:off x="621792" y="1344168"/>
            <a:ext cx="8138160" cy="384048"/>
          </a:xfrm>
          <a:prstGeom prst="rect">
            <a:avLst/>
          </a:prstGeom>
          <a:noFill/>
          <a:ln/>
        </p:spPr>
        <p:txBody>
          <a:bodyPr wrap="square" lIns="0" tIns="0" rIns="0" bIns="0" rtlCol="0" anchor="ctr"/>
          <a:lstStyle/>
          <a:p>
            <a:pPr indent="0" marL="0">
              <a:buNone/>
            </a:pPr>
            <a:r>
              <a:rPr lang="en-US" sz="1150" dirty="0">
                <a:solidFill>
                  <a:srgbClr val="C8D6E5"/>
                </a:solidFill>
              </a:rPr>
              <a:t>You can name the exact paper you are improving (Springer 2023, 69% accuracy) and cite the exact sentence where the authors say 'supplier inventory data would increase performance' — your contribution is directly called for.</a:t>
            </a:r>
            <a:endParaRPr lang="en-US" sz="1150" dirty="0"/>
          </a:p>
        </p:txBody>
      </p:sp>
      <p:pic>
        <p:nvPicPr>
          <p:cNvPr id="9" name="Image 1" descr="preencoded.png">    </p:cNvPr>
          <p:cNvPicPr>
            <a:picLocks noChangeAspect="1"/>
          </p:cNvPicPr>
          <p:nvPr/>
        </p:nvPicPr>
        <p:blipFill>
          <a:blip r:embed="rId2"/>
          <a:stretch>
            <a:fillRect/>
          </a:stretch>
        </p:blipFill>
        <p:spPr>
          <a:xfrm>
            <a:off x="256032" y="2048256"/>
            <a:ext cx="274320" cy="274320"/>
          </a:xfrm>
          <a:prstGeom prst="rect">
            <a:avLst/>
          </a:prstGeom>
        </p:spPr>
      </p:pic>
      <p:sp>
        <p:nvSpPr>
          <p:cNvPr id="10" name="Text 6"/>
          <p:cNvSpPr/>
          <p:nvPr/>
        </p:nvSpPr>
        <p:spPr>
          <a:xfrm>
            <a:off x="621792" y="2002536"/>
            <a:ext cx="8138160" cy="384048"/>
          </a:xfrm>
          <a:prstGeom prst="rect">
            <a:avLst/>
          </a:prstGeom>
          <a:noFill/>
          <a:ln/>
        </p:spPr>
        <p:txBody>
          <a:bodyPr wrap="square" lIns="0" tIns="0" rIns="0" bIns="0" rtlCol="0" anchor="ctr"/>
          <a:lstStyle/>
          <a:p>
            <a:pPr indent="0" marL="0">
              <a:buNone/>
            </a:pPr>
            <a:r>
              <a:rPr lang="en-US" sz="1150" dirty="0">
                <a:solidFill>
                  <a:srgbClr val="C8D6E5"/>
                </a:solidFill>
              </a:rPr>
              <a:t>3 novelty claims that are each verifiably absent from published literature: TFT on multi-source data, multi-echelon supplier graph, and calibrated probabilistic output. An examiner cannot Google a working open-source equivalent.</a:t>
            </a:r>
            <a:endParaRPr lang="en-US" sz="1150" dirty="0"/>
          </a:p>
        </p:txBody>
      </p:sp>
      <p:pic>
        <p:nvPicPr>
          <p:cNvPr id="11" name="Image 2" descr="preencoded.png">    </p:cNvPr>
          <p:cNvPicPr>
            <a:picLocks noChangeAspect="1"/>
          </p:cNvPicPr>
          <p:nvPr/>
        </p:nvPicPr>
        <p:blipFill>
          <a:blip r:embed="rId3"/>
          <a:stretch>
            <a:fillRect/>
          </a:stretch>
        </p:blipFill>
        <p:spPr>
          <a:xfrm>
            <a:off x="256032" y="2706624"/>
            <a:ext cx="274320" cy="274320"/>
          </a:xfrm>
          <a:prstGeom prst="rect">
            <a:avLst/>
          </a:prstGeom>
        </p:spPr>
      </p:pic>
      <p:sp>
        <p:nvSpPr>
          <p:cNvPr id="12" name="Text 7"/>
          <p:cNvSpPr/>
          <p:nvPr/>
        </p:nvSpPr>
        <p:spPr>
          <a:xfrm>
            <a:off x="621792" y="2660904"/>
            <a:ext cx="8138160" cy="384048"/>
          </a:xfrm>
          <a:prstGeom prst="rect">
            <a:avLst/>
          </a:prstGeom>
          <a:noFill/>
          <a:ln/>
        </p:spPr>
        <p:txBody>
          <a:bodyPr wrap="square" lIns="0" tIns="0" rIns="0" bIns="0" rtlCol="0" anchor="ctr"/>
          <a:lstStyle/>
          <a:p>
            <a:pPr indent="0" marL="0">
              <a:buNone/>
            </a:pPr>
            <a:r>
              <a:rPr lang="en-US" sz="1150" dirty="0">
                <a:solidFill>
                  <a:srgbClr val="C8D6E5"/>
                </a:solidFill>
              </a:rPr>
              <a:t>Ablation study (Configs A→D) gives you a results table that proves each module's contribution numerically — this is the scientific rigour that separates a project from a demo.</a:t>
            </a:r>
            <a:endParaRPr lang="en-US" sz="1150" dirty="0"/>
          </a:p>
        </p:txBody>
      </p:sp>
      <p:pic>
        <p:nvPicPr>
          <p:cNvPr id="13" name="Image 3" descr="preencoded.png">    </p:cNvPr>
          <p:cNvPicPr>
            <a:picLocks noChangeAspect="1"/>
          </p:cNvPicPr>
          <p:nvPr/>
        </p:nvPicPr>
        <p:blipFill>
          <a:blip r:embed="rId4"/>
          <a:stretch>
            <a:fillRect/>
          </a:stretch>
        </p:blipFill>
        <p:spPr>
          <a:xfrm>
            <a:off x="256032" y="3364992"/>
            <a:ext cx="274320" cy="274320"/>
          </a:xfrm>
          <a:prstGeom prst="rect">
            <a:avLst/>
          </a:prstGeom>
        </p:spPr>
      </p:pic>
      <p:sp>
        <p:nvSpPr>
          <p:cNvPr id="14" name="Text 8"/>
          <p:cNvSpPr/>
          <p:nvPr/>
        </p:nvSpPr>
        <p:spPr>
          <a:xfrm>
            <a:off x="621792" y="3319272"/>
            <a:ext cx="8138160" cy="384048"/>
          </a:xfrm>
          <a:prstGeom prst="rect">
            <a:avLst/>
          </a:prstGeom>
          <a:noFill/>
          <a:ln/>
        </p:spPr>
        <p:txBody>
          <a:bodyPr wrap="square" lIns="0" tIns="0" rIns="0" bIns="0" rtlCol="0" anchor="ctr"/>
          <a:lstStyle/>
          <a:p>
            <a:pPr indent="0" marL="0">
              <a:buNone/>
            </a:pPr>
            <a:r>
              <a:rPr lang="en-US" sz="1150" dirty="0">
                <a:solidFill>
                  <a:srgbClr val="C8D6E5"/>
                </a:solidFill>
              </a:rPr>
              <a:t>The 5-step live demo proves functionality in under 4 minutes — the disruption simulation cascade is something no slide can fake, and evaluators can interact with it themselves.</a:t>
            </a:r>
            <a:endParaRPr lang="en-US" sz="1150" dirty="0"/>
          </a:p>
        </p:txBody>
      </p:sp>
      <p:pic>
        <p:nvPicPr>
          <p:cNvPr id="15" name="Image 4" descr="preencoded.png">    </p:cNvPr>
          <p:cNvPicPr>
            <a:picLocks noChangeAspect="1"/>
          </p:cNvPicPr>
          <p:nvPr/>
        </p:nvPicPr>
        <p:blipFill>
          <a:blip r:embed="rId5"/>
          <a:stretch>
            <a:fillRect/>
          </a:stretch>
        </p:blipFill>
        <p:spPr>
          <a:xfrm>
            <a:off x="256032" y="4023360"/>
            <a:ext cx="274320" cy="274320"/>
          </a:xfrm>
          <a:prstGeom prst="rect">
            <a:avLst/>
          </a:prstGeom>
        </p:spPr>
      </p:pic>
      <p:sp>
        <p:nvSpPr>
          <p:cNvPr id="16" name="Text 9"/>
          <p:cNvSpPr/>
          <p:nvPr/>
        </p:nvSpPr>
        <p:spPr>
          <a:xfrm>
            <a:off x="621792" y="3977640"/>
            <a:ext cx="8138160" cy="384048"/>
          </a:xfrm>
          <a:prstGeom prst="rect">
            <a:avLst/>
          </a:prstGeom>
          <a:noFill/>
          <a:ln/>
        </p:spPr>
        <p:txBody>
          <a:bodyPr wrap="square" lIns="0" tIns="0" rIns="0" bIns="0" rtlCol="0" anchor="ctr"/>
          <a:lstStyle/>
          <a:p>
            <a:pPr indent="0" marL="0">
              <a:buNone/>
            </a:pPr>
            <a:r>
              <a:rPr lang="en-US" sz="1150" dirty="0">
                <a:solidFill>
                  <a:srgbClr val="C8D6E5"/>
                </a:solidFill>
              </a:rPr>
              <a:t>India-relevant (CDSCO data, PMBJP procurement records), deployable on ₹15,000 server hardware, pharmacist needs only Excel export capability — a real solution, not a research toy.</a:t>
            </a:r>
            <a:endParaRPr lang="en-US" sz="1150" dirty="0"/>
          </a:p>
        </p:txBody>
      </p:sp>
      <p:sp>
        <p:nvSpPr>
          <p:cNvPr id="17" name="Shape 10"/>
          <p:cNvSpPr/>
          <p:nvPr/>
        </p:nvSpPr>
        <p:spPr>
          <a:xfrm>
            <a:off x="137160" y="4626864"/>
            <a:ext cx="8869680" cy="347472"/>
          </a:xfrm>
          <a:prstGeom prst="rect">
            <a:avLst/>
          </a:prstGeom>
          <a:solidFill>
            <a:srgbClr val="0D9B8A"/>
          </a:solidFill>
          <a:ln w="12700">
            <a:solidFill>
              <a:srgbClr val="0D9B8A"/>
            </a:solidFill>
            <a:prstDash val="solid"/>
          </a:ln>
        </p:spPr>
      </p:sp>
      <p:sp>
        <p:nvSpPr>
          <p:cNvPr id="18" name="Text 11"/>
          <p:cNvSpPr/>
          <p:nvPr/>
        </p:nvSpPr>
        <p:spPr>
          <a:xfrm>
            <a:off x="137160" y="4626864"/>
            <a:ext cx="8869680" cy="347472"/>
          </a:xfrm>
          <a:prstGeom prst="rect">
            <a:avLst/>
          </a:prstGeom>
          <a:noFill/>
          <a:ln/>
        </p:spPr>
        <p:txBody>
          <a:bodyPr wrap="square" lIns="0" tIns="0" rIns="0" bIns="0" rtlCol="0" anchor="ctr"/>
          <a:lstStyle/>
          <a:p>
            <a:pPr algn="ctr" indent="0" marL="0">
              <a:buNone/>
            </a:pPr>
            <a:r>
              <a:rPr lang="en-US" sz="900" b="1" dirty="0">
                <a:solidFill>
                  <a:srgbClr val="0A1628"/>
                </a:solidFill>
              </a:rPr>
              <a:t>PharmaSight  —  Drug Shortage Prediction  —  AIML Final Year Project 2025–26  —  CSV-Input · No Hardware Required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PharmaSight — Drug Shortage Prediction System</dc:title>
  <dc:subject>PptxGenJS Presentation</dc:subject>
  <dc:creator>PptxGenJS</dc:creator>
  <cp:lastModifiedBy>PptxGenJS</cp:lastModifiedBy>
  <cp:revision>1</cp:revision>
  <dcterms:created xsi:type="dcterms:W3CDTF">2026-03-26T08:00:07Z</dcterms:created>
  <dcterms:modified xsi:type="dcterms:W3CDTF">2026-03-26T08:00:07Z</dcterms:modified>
</cp:coreProperties>
</file>