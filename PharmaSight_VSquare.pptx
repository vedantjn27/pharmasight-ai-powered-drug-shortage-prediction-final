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Streams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9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EE5-4146-B247-20B392D1AE77}"/>
              </c:ext>
            </c:extLst>
          </c:dPt>
          <c:dPt>
            <c:idx val="1"/>
            <c:bubble3D val="0"/>
            <c:spPr>
              <a:solidFill>
                <a:srgbClr val="1E90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EE5-4146-B247-20B392D1AE77}"/>
              </c:ext>
            </c:extLst>
          </c:dPt>
          <c:dPt>
            <c:idx val="2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EE5-4146-B247-20B392D1AE77}"/>
              </c:ext>
            </c:extLst>
          </c:dPt>
          <c:dPt>
            <c:idx val="3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EE5-4146-B247-20B392D1AE7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EE5-4146-B247-20B392D1AE7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EE5-4146-B247-20B392D1AE7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EE5-4146-B247-20B392D1AE7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1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FEE5-4146-B247-20B392D1AE7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SaaS – Hospitals (45%)</c:v>
                </c:pt>
                <c:pt idx="1">
                  <c:v>API Licensing – Pharma (30%)</c:v>
                </c:pt>
                <c:pt idx="2">
                  <c:v>Govt Contracts (15%)</c:v>
                </c:pt>
                <c:pt idx="3">
                  <c:v>White-label (10%)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FEE5-4146-B247-20B392D1AE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CBD5E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C9A7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C9A7"/>
                </a:solidFill>
                <a:latin typeface="Arial"/>
              </a:rPr>
              <a:t>Top Feature Importances (LightGBM Score)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0C9A7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C9A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53D-4852-BEB9-7117C4AE8B6C}"/>
              </c:ext>
            </c:extLst>
          </c:dPt>
          <c:dPt>
            <c:idx val="1"/>
            <c:invertIfNegative val="0"/>
            <c:bubble3D val="0"/>
            <c:spPr>
              <a:solidFill>
                <a:srgbClr val="1E90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53D-4852-BEB9-7117C4AE8B6C}"/>
              </c:ext>
            </c:extLst>
          </c:dPt>
          <c:dPt>
            <c:idx val="2"/>
            <c:invertIfNegative val="0"/>
            <c:bubble3D val="0"/>
            <c:spPr>
              <a:solidFill>
                <a:srgbClr val="1E90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53D-4852-BEB9-7117C4AE8B6C}"/>
              </c:ext>
            </c:extLst>
          </c:dPt>
          <c:dPt>
            <c:idx val="3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53D-4852-BEB9-7117C4AE8B6C}"/>
              </c:ext>
            </c:extLst>
          </c:dPt>
          <c:dPt>
            <c:idx val="4"/>
            <c:invertIfNegative val="0"/>
            <c:bubble3D val="0"/>
            <c:spPr>
              <a:solidFill>
                <a:srgbClr val="8B5CF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53D-4852-BEB9-7117C4AE8B6C}"/>
              </c:ext>
            </c:extLst>
          </c:dPt>
          <c:dPt>
            <c:idx val="5"/>
            <c:invertIfNegative val="0"/>
            <c:bubble3D val="0"/>
            <c:spPr>
              <a:solidFill>
                <a:srgbClr val="F9731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53D-4852-BEB9-7117C4AE8B6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demand_rolling_14d</c:v>
                </c:pt>
                <c:pt idx="1">
                  <c:v>month</c:v>
                </c:pt>
                <c:pt idx="2">
                  <c:v>demand_lag_7d</c:v>
                </c:pt>
                <c:pt idx="3">
                  <c:v>drug_enc</c:v>
                </c:pt>
                <c:pt idx="4">
                  <c:v>demand_lag_30d</c:v>
                </c:pt>
                <c:pt idx="5">
                  <c:v>daily_cost_volume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1984</c:v>
                </c:pt>
                <c:pt idx="1">
                  <c:v>1150</c:v>
                </c:pt>
                <c:pt idx="2">
                  <c:v>1133</c:v>
                </c:pt>
                <c:pt idx="3">
                  <c:v>850</c:v>
                </c:pt>
                <c:pt idx="4">
                  <c:v>934</c:v>
                </c:pt>
                <c:pt idx="5">
                  <c:v>659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53D-4852-BEB9-7117C4AE8B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3203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3532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-731520"/>
            <a:ext cx="2286000" cy="228600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840480"/>
            <a:ext cx="1645920" cy="1645920"/>
          </a:xfrm>
          <a:prstGeom prst="ellipse">
            <a:avLst/>
          </a:prstGeom>
          <a:solidFill>
            <a:srgbClr val="1E90FF">
              <a:alpha val="12000"/>
            </a:srgbClr>
          </a:solidFill>
          <a:ln w="12700">
            <a:solidFill>
              <a:srgbClr val="1E90FF">
                <a:alpha val="12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212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9601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PharmaSight</a:t>
            </a:r>
            <a:endParaRPr lang="en-US" sz="5400" dirty="0"/>
          </a:p>
        </p:txBody>
      </p:sp>
      <p:sp>
        <p:nvSpPr>
          <p:cNvPr id="9" name="Shape 7"/>
          <p:cNvSpPr/>
          <p:nvPr/>
        </p:nvSpPr>
        <p:spPr>
          <a:xfrm>
            <a:off x="411480" y="1783080"/>
            <a:ext cx="3474720" cy="457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01952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Drug Shortage Prediction</a:t>
            </a:r>
            <a:endParaRPr lang="en-US" sz="18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Supply Chain Intelligence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1148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Predict.  Prevent.  Protect.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1480" y="3337560"/>
            <a:ext cx="4389120" cy="1417320"/>
          </a:xfrm>
          <a:prstGeom prst="roundRect">
            <a:avLst>
              <a:gd name="adj" fmla="val 5161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4564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 VSQUARE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767328"/>
            <a:ext cx="3931920" cy="228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404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 Jain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1BG23AI121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1879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Vibha Kashyap</a:t>
            </a: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1BG23AI122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0" y="548640"/>
            <a:ext cx="2926080" cy="2926080"/>
          </a:xfrm>
          <a:prstGeom prst="ellipse">
            <a:avLst/>
          </a:prstGeom>
          <a:solidFill>
            <a:srgbClr val="00C9A7">
              <a:alpha val="10000"/>
            </a:srgbClr>
          </a:solidFill>
          <a:ln w="19050">
            <a:solidFill>
              <a:srgbClr val="00C9A7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1005840"/>
            <a:ext cx="2011680" cy="2011680"/>
          </a:xfrm>
          <a:prstGeom prst="ellipse">
            <a:avLst/>
          </a:prstGeom>
          <a:solidFill>
            <a:srgbClr val="1E90FF">
              <a:alpha val="15000"/>
            </a:srgbClr>
          </a:solidFill>
          <a:ln w="12700">
            <a:solidFill>
              <a:srgbClr val="1E90F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1463040"/>
            <a:ext cx="1097280" cy="109728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3566160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358444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43800" y="363931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Horizon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760720" y="4114800"/>
            <a:ext cx="3108960" cy="420624"/>
          </a:xfrm>
          <a:prstGeom prst="roundRect">
            <a:avLst>
              <a:gd name="adj" fmla="val 17391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89320" y="413308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3.21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543800" y="4187952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085"/>
          </a:solidFill>
          <a:ln w="12700">
            <a:solidFill>
              <a:srgbClr val="00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Pharmaceutical Supply Chains Are Breaking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80160"/>
            <a:ext cx="2788920" cy="3410712"/>
          </a:xfrm>
          <a:prstGeom prst="roundRect">
            <a:avLst>
              <a:gd name="adj" fmla="val 2623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75488" y="1444752"/>
            <a:ext cx="566928" cy="566928"/>
          </a:xfrm>
          <a:prstGeom prst="ellipse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444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5488" y="2103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Shortage Crisis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" y="2542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medications — antibiotics, oncology drugs — run out of stock without warning.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374904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3749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300+ shortages/year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788920" cy="3410712"/>
          </a:xfrm>
          <a:prstGeom prst="roundRect">
            <a:avLst>
              <a:gd name="adj" fmla="val 2623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47288" y="1444752"/>
            <a:ext cx="566928" cy="566928"/>
          </a:xfrm>
          <a:prstGeom prst="ellipse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1444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47288" y="2103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Supply Failures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47288" y="2542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raw material disruption ripples across the entire hospital network.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47288" y="374904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3749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failure = system-wide collapse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280160"/>
            <a:ext cx="2788920" cy="3410712"/>
          </a:xfrm>
          <a:prstGeom prst="roundRect">
            <a:avLst>
              <a:gd name="adj" fmla="val 2623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  <a:effectLst>
            <a:outerShdw blurRad="1016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19088" y="1444752"/>
            <a:ext cx="566928" cy="566928"/>
          </a:xfrm>
          <a:prstGeom prst="ellipse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19088" y="144475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19088" y="210312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Procurement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19088" y="2542032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 reorder only when shelves are empty — leading to inflated costs and patient risk.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19088" y="374904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19088" y="3749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cost inflation during shortages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412480" y="482803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11480" y="48280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PharmaSight  |  VSquare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085"/>
          </a:solidFill>
          <a:ln w="12700">
            <a:solidFill>
              <a:srgbClr val="00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Resilience for Pharma Supply Chains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5029200" cy="786384"/>
          </a:xfrm>
          <a:prstGeom prst="roundRect">
            <a:avLst>
              <a:gd name="adj" fmla="val 9302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44168"/>
            <a:ext cx="502920" cy="50292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441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298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Forecasting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5819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predicts drug demand with P10/P50/P90 uncertainty bands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130552"/>
            <a:ext cx="5029200" cy="786384"/>
          </a:xfrm>
          <a:prstGeom prst="roundRect">
            <a:avLst>
              <a:gd name="adj" fmla="val 9302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240280"/>
            <a:ext cx="502920" cy="502920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2194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Simulation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24780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Stress-test your supply chain against disruption scenarios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026664"/>
            <a:ext cx="5029200" cy="786384"/>
          </a:xfrm>
          <a:prstGeom prst="roundRect">
            <a:avLst>
              <a:gd name="adj" fmla="val 9302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36392"/>
            <a:ext cx="502920" cy="50292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1363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51560" y="309067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Risk Mapping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3741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 models supplier dependencies &amp; cascade risk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22776"/>
            <a:ext cx="5029200" cy="786384"/>
          </a:xfrm>
          <a:prstGeom prst="roundRect">
            <a:avLst>
              <a:gd name="adj" fmla="val 9302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032504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0325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" y="39867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Purchase Orders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42702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translates P90 forecasts into recommended POs automatically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1170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ALIGNMENT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577840" y="1536192"/>
            <a:ext cx="3337560" cy="1024128"/>
          </a:xfrm>
          <a:prstGeom prst="roundRect">
            <a:avLst>
              <a:gd name="adj" fmla="val 7143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87568" y="1673352"/>
            <a:ext cx="566928" cy="713232"/>
          </a:xfrm>
          <a:prstGeom prst="roundRect">
            <a:avLst>
              <a:gd name="adj" fmla="val 12903"/>
            </a:avLst>
          </a:prstGeom>
          <a:solidFill>
            <a:srgbClr val="4C9A2A"/>
          </a:solidFill>
          <a:ln w="12700">
            <a:solidFill>
              <a:srgbClr val="4C9A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87568" y="1673352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355080" y="16459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Health &amp; Well-Being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64224" y="1868893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critical medicines reach patients before shortage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577840" y="2697480"/>
            <a:ext cx="3337560" cy="1024128"/>
          </a:xfrm>
          <a:prstGeom prst="roundRect">
            <a:avLst>
              <a:gd name="adj" fmla="val 7143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87568" y="2834640"/>
            <a:ext cx="566928" cy="713232"/>
          </a:xfrm>
          <a:prstGeom prst="roundRect">
            <a:avLst>
              <a:gd name="adj" fmla="val 12903"/>
            </a:avLst>
          </a:prstGeom>
          <a:solidFill>
            <a:srgbClr val="E57200"/>
          </a:solidFill>
          <a:ln w="12700">
            <a:solidFill>
              <a:srgbClr val="E572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87568" y="2834640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355080" y="280720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Industry, Innovation &amp; Infra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364224" y="3026664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resilient AI-driven pharma infrastructure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577840" y="3858768"/>
            <a:ext cx="3337560" cy="1024128"/>
          </a:xfrm>
          <a:prstGeom prst="roundRect">
            <a:avLst>
              <a:gd name="adj" fmla="val 7143"/>
            </a:avLst>
          </a:prstGeom>
          <a:solidFill>
            <a:srgbClr val="0F2744"/>
          </a:solidFill>
          <a:ln w="12700">
            <a:solidFill>
              <a:srgbClr val="0F27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87568" y="3995928"/>
            <a:ext cx="566928" cy="713232"/>
          </a:xfrm>
          <a:prstGeom prst="roundRect">
            <a:avLst>
              <a:gd name="adj" fmla="val 12903"/>
            </a:avLst>
          </a:prstGeom>
          <a:solidFill>
            <a:srgbClr val="19486A"/>
          </a:solidFill>
          <a:ln w="12700">
            <a:solidFill>
              <a:srgbClr val="1948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87568" y="3995928"/>
            <a:ext cx="56692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355080" y="396849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for the Goals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355080" y="4187952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manufacturers, distributors and hospitals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412480" y="482803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11480" y="48280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PharmaSight  |  VSquare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085"/>
          </a:solidFill>
          <a:ln w="12700">
            <a:solidFill>
              <a:srgbClr val="00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54864" cy="10058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8912" y="12801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157276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OpenFDA · CDSCO · Synthea EHR · Procurement CSV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600200" y="2194560"/>
            <a:ext cx="0" cy="32004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27048" y="2487168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242316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423160"/>
            <a:ext cx="54864" cy="100584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51460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" y="280720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Forecasting · GraphSAGE · FastAPI · Pydantic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00200" y="3429000"/>
            <a:ext cx="0" cy="32004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27048" y="3721608"/>
            <a:ext cx="146304" cy="146304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657600"/>
            <a:ext cx="2651760" cy="1005840"/>
          </a:xfrm>
          <a:prstGeom prst="roundRect">
            <a:avLst>
              <a:gd name="adj" fmla="val 7273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657600"/>
            <a:ext cx="54864" cy="10058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374904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404164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· Recharts · Leaflet.js · Framer Motion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246120" y="11430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 STACK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0" y="1463040"/>
          <a:ext cx="5669280" cy="336499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15, React 19, TypeScript, Tailwind CSS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Framer Motion, Lucide Icons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Charts/Maps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Recharts, Leaflet.js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FastAPI, Uvicorn, Pydantic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/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PyTorch Lightning, PyTorch Forecasting, XGBoost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Pandas, NumPy, NetworkX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OpenFDA, CDSCO Alerts, Synthea EHR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" name="Text 20"/>
          <p:cNvSpPr/>
          <p:nvPr/>
        </p:nvSpPr>
        <p:spPr>
          <a:xfrm>
            <a:off x="8412480" y="482803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11480" y="48280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PharmaSight  |  VSquare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085"/>
          </a:solidFill>
          <a:ln w="12700">
            <a:solidFill>
              <a:srgbClr val="00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UNIQUENESS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Existing Solutions Fall Short — &amp; How We Fix It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93192" y="120700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2212848" y="1115568"/>
            <a:ext cx="2267712" cy="548640"/>
          </a:xfrm>
          <a:prstGeom prst="roundRect">
            <a:avLst>
              <a:gd name="adj" fmla="val 1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22576" y="1152144"/>
            <a:ext cx="2130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ERP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(SAP / Oracle)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700016" y="1115568"/>
            <a:ext cx="1993392" cy="54864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9744" y="1152144"/>
            <a:ext cx="1856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ML</a:t>
            </a:r>
            <a:endParaRPr lang="en-US" sz="1100" dirty="0">
              <a:solidFill>
                <a:schemeClr val="bg1"/>
              </a:solidFill>
            </a:endParaRP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(ARIMA / LSTM)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912864" y="1115568"/>
            <a:ext cx="1993392" cy="548640"/>
          </a:xfrm>
          <a:prstGeom prst="roundRect">
            <a:avLst>
              <a:gd name="adj" fmla="val 13333"/>
            </a:avLst>
          </a:prstGeom>
          <a:solidFill>
            <a:srgbClr val="00A085"/>
          </a:solidFill>
          <a:ln w="12700">
            <a:solidFill>
              <a:srgbClr val="00A08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76288" y="1078992"/>
            <a:ext cx="2066544" cy="621792"/>
          </a:xfrm>
          <a:prstGeom prst="roundRect">
            <a:avLst>
              <a:gd name="adj" fmla="val 13235"/>
            </a:avLst>
          </a:prstGeom>
          <a:solidFill>
            <a:srgbClr val="00C9A7">
              <a:alpha val="0"/>
            </a:srgbClr>
          </a:solidFill>
          <a:ln w="254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22592" y="1152144"/>
            <a:ext cx="185623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PharmaSight</a:t>
            </a:r>
            <a:endParaRPr lang="en-US" sz="11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(Our Solution)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6032" y="1792224"/>
            <a:ext cx="8869680" cy="512064"/>
          </a:xfrm>
          <a:prstGeom prst="rect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828800"/>
            <a:ext cx="1691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22576" y="1828800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87952" y="1975104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1828800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7–14 days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(point only)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197510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12864" y="1792224"/>
            <a:ext cx="2011680" cy="566928"/>
          </a:xfrm>
          <a:prstGeom prst="rect">
            <a:avLst/>
          </a:prstGeom>
          <a:solidFill>
            <a:srgbClr val="0C2235"/>
          </a:solidFill>
          <a:ln w="12700">
            <a:solidFill>
              <a:srgbClr val="0C22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22592" y="1828800"/>
            <a:ext cx="170078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P10/P50/P90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95360" y="1975104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" y="2359152"/>
            <a:ext cx="8869680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395728"/>
            <a:ext cx="1691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Mapping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322576" y="2395728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data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view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87952" y="254203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2395728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0" y="2542032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12864" y="2359152"/>
            <a:ext cx="2011680" cy="566928"/>
          </a:xfrm>
          <a:prstGeom prst="rect">
            <a:avLst/>
          </a:prstGeom>
          <a:solidFill>
            <a:srgbClr val="0A1E30"/>
          </a:solidFill>
          <a:ln w="12700">
            <a:solidFill>
              <a:srgbClr val="0A1E3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22592" y="2395728"/>
            <a:ext cx="170078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model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95360" y="2542032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" y="2926080"/>
            <a:ext cx="8869680" cy="512064"/>
          </a:xfrm>
          <a:prstGeom prst="rect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962656"/>
            <a:ext cx="1691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22576" y="2962656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187952" y="3108960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9744" y="2962656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0" y="310896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12864" y="2926080"/>
            <a:ext cx="2011680" cy="566928"/>
          </a:xfrm>
          <a:prstGeom prst="rect">
            <a:avLst/>
          </a:prstGeom>
          <a:solidFill>
            <a:srgbClr val="0C2235"/>
          </a:solidFill>
          <a:ln w="12700">
            <a:solidFill>
              <a:srgbClr val="0C223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22592" y="2962656"/>
            <a:ext cx="170078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engine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8595360" y="3108960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56032" y="3493008"/>
            <a:ext cx="8869680" cy="51206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529584"/>
            <a:ext cx="1691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(XAI)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322576" y="3529584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187952" y="367588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9744" y="3529584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00800" y="3675888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12864" y="3493008"/>
            <a:ext cx="2011680" cy="566928"/>
          </a:xfrm>
          <a:prstGeom prst="rect">
            <a:avLst/>
          </a:prstGeom>
          <a:solidFill>
            <a:srgbClr val="0A1E30"/>
          </a:solidFill>
          <a:ln w="12700">
            <a:solidFill>
              <a:srgbClr val="0A1E3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22592" y="3529584"/>
            <a:ext cx="170078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attention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595360" y="3675888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6032" y="4059936"/>
            <a:ext cx="8869680" cy="512064"/>
          </a:xfrm>
          <a:prstGeom prst="rect">
            <a:avLst/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096512"/>
            <a:ext cx="16916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Integration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322576" y="4096512"/>
            <a:ext cx="208483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only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187952" y="4242816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09744" y="4096512"/>
            <a:ext cx="18105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00800" y="4242816"/>
            <a:ext cx="201168" cy="20116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912864" y="4059936"/>
            <a:ext cx="2011680" cy="566928"/>
          </a:xfrm>
          <a:prstGeom prst="rect">
            <a:avLst/>
          </a:prstGeom>
          <a:solidFill>
            <a:srgbClr val="0C2235"/>
          </a:solidFill>
          <a:ln w="12700">
            <a:solidFill>
              <a:srgbClr val="0C223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22592" y="4096512"/>
            <a:ext cx="170078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CDSCO alerts</a:t>
            </a:r>
            <a:endParaRPr lang="en-US" sz="10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auto-correlated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595360" y="4242816"/>
            <a:ext cx="201168" cy="20116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76288" y="1115568"/>
            <a:ext cx="36576" cy="340156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09708" y="4699313"/>
            <a:ext cx="7380615" cy="206795"/>
          </a:xfrm>
          <a:prstGeom prst="roundRect">
            <a:avLst>
              <a:gd name="adj" fmla="val 22857"/>
            </a:avLst>
          </a:prstGeom>
          <a:solidFill>
            <a:srgbClr val="00A085"/>
          </a:solidFill>
          <a:ln w="12700">
            <a:solidFill>
              <a:srgbClr val="00A08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24950" y="464269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Our Advantage:  TFT + GraphSAGE + CDSCO integration = the only end-to-end probabilistic pharma intelligence platform in India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532055" y="492087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09025" y="4925099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PharmaSight  |  VSquare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085"/>
          </a:solidFill>
          <a:ln w="12700">
            <a:solidFill>
              <a:srgbClr val="00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 ·  VIABILITY  ·  SCALABILITY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Proven, Practical &amp; Built to Scale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2788920" cy="3611880"/>
          </a:xfrm>
          <a:prstGeom prst="roundRect">
            <a:avLst>
              <a:gd name="adj" fmla="val 2623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27889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98448"/>
            <a:ext cx="2514600" cy="347472"/>
          </a:xfrm>
          <a:prstGeom prst="roundRect">
            <a:avLst>
              <a:gd name="adj" fmla="val 2105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984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6537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69621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model trained &amp; deployed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32304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" y="224942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MAE = 3.21 | RMSE = 4.09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99232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89618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upload → AI inference → dashboard in &lt; 2s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466983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with existing hospital ERP formats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330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036373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data — no costly licensing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18688" y="1188720"/>
            <a:ext cx="2788920" cy="3611880"/>
          </a:xfrm>
          <a:prstGeom prst="roundRect">
            <a:avLst>
              <a:gd name="adj" fmla="val 2623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18688" y="1188720"/>
            <a:ext cx="2788920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55848" y="1298448"/>
            <a:ext cx="2514600" cy="347472"/>
          </a:xfrm>
          <a:prstGeom prst="roundRect">
            <a:avLst>
              <a:gd name="adj" fmla="val 21053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55848" y="12984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01568" y="1865376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0" y="174650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pharma market: ₹4.2 lakh crore (2024)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01568" y="2432304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04143" y="22585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shortage losses: ₹3,500 Cr/year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01568" y="2999232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0" y="291236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reactive procurement by ~35%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01568" y="3566160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0" y="337132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backend: production-ready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01568" y="4133088"/>
            <a:ext cx="164592" cy="16459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0" y="3937547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Tiered SaaS model from ₹15K/month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63056" y="1188720"/>
            <a:ext cx="2788920" cy="3611880"/>
          </a:xfrm>
          <a:prstGeom prst="roundRect">
            <a:avLst>
              <a:gd name="adj" fmla="val 2623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63056" y="1188720"/>
            <a:ext cx="2788920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00216" y="1298448"/>
            <a:ext cx="2514600" cy="347472"/>
          </a:xfrm>
          <a:prstGeom prst="roundRect">
            <a:avLst>
              <a:gd name="adj" fmla="val 21053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0216" y="1298448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45936" y="1865376"/>
            <a:ext cx="164592" cy="16459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01968" y="16733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Microservices: horizontal scaling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45936" y="2432304"/>
            <a:ext cx="164592" cy="16459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01968" y="232714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model: 10 nodes → 10,000+ nodes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345936" y="2999232"/>
            <a:ext cx="164592" cy="16459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01968" y="289126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Multi-drug, multi-hospital, multi-region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345936" y="3566160"/>
            <a:ext cx="164592" cy="16459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01968" y="3461356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Docker/Kubernetes cloud-native ready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345936" y="4133088"/>
            <a:ext cx="164592" cy="16459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01968" y="39917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GraphSAGE: inductive — new nodes, no retraining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74320" y="4709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99516" y="263101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4.48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412480" y="482803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11480" y="48280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PharmaSight  |  VSquare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085"/>
          </a:solidFill>
          <a:ln w="12700">
            <a:solidFill>
              <a:srgbClr val="00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IMPACTS &amp; BENEFITS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 Across the Healthcare Chain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1207008"/>
            <a:ext cx="2697480" cy="1664208"/>
          </a:xfrm>
          <a:prstGeom prst="roundRect">
            <a:avLst>
              <a:gd name="adj" fmla="val 4396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" y="1353312"/>
            <a:ext cx="475488" cy="475488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3533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8408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Hospitals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" y="1901952"/>
            <a:ext cx="2423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face an empty shelf. Auto PO recommendations ensure medicines are ordered before critical 7-day threshold.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54680" y="1207008"/>
            <a:ext cx="2697480" cy="1664208"/>
          </a:xfrm>
          <a:prstGeom prst="roundRect">
            <a:avLst>
              <a:gd name="adj" fmla="val 4396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9272" y="1353312"/>
            <a:ext cx="475488" cy="47548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9272" y="13533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♥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904488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Patients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19272" y="1901952"/>
            <a:ext cx="2423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Uninterrupted access to critical medicines — antibiotics, oncology drugs, diabetes medication. Lives saved.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1207008"/>
            <a:ext cx="2697480" cy="1664208"/>
          </a:xfrm>
          <a:prstGeom prst="roundRect">
            <a:avLst>
              <a:gd name="adj" fmla="val 4396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45352" y="1353312"/>
            <a:ext cx="475488" cy="47548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5352" y="13533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30568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Manufacturers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45352" y="1901952"/>
            <a:ext cx="2423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demand signals prevent overproduction &amp; wastage. Better inventory planning = 20–30% cost reduction.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28600" y="3017520"/>
            <a:ext cx="2697480" cy="1664208"/>
          </a:xfrm>
          <a:prstGeom prst="roundRect">
            <a:avLst>
              <a:gd name="adj" fmla="val 4396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192" y="3163824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" y="31638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78408" y="31821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Regulators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3192" y="3712464"/>
            <a:ext cx="2423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CDSCO alert correlation with shortage risk. Data-driven policy response, not reactive intervention.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54680" y="3017520"/>
            <a:ext cx="2697480" cy="1664208"/>
          </a:xfrm>
          <a:prstGeom prst="roundRect">
            <a:avLst>
              <a:gd name="adj" fmla="val 4396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19272" y="3163824"/>
            <a:ext cx="475488" cy="47548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9272" y="31638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04488" y="31821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Impact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19272" y="3712464"/>
            <a:ext cx="2423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panic-buying premium. Projected savings: ₹500–800 Cr/year at scale. Reduces emergency procurement.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0760" y="3017520"/>
            <a:ext cx="2697480" cy="1664208"/>
          </a:xfrm>
          <a:prstGeom prst="roundRect">
            <a:avLst>
              <a:gd name="adj" fmla="val 4396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45352" y="3163824"/>
            <a:ext cx="475488" cy="47548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45352" y="31638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30568" y="31821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Impact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245352" y="3712464"/>
            <a:ext cx="242316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advances SDG 3 (health), SDG 9 (infrastructure), SDG 17 (partnerships). Equitable medicine access.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412480" y="482803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" y="48280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PharmaSight  |  VSquare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085"/>
          </a:solidFill>
          <a:ln w="12700">
            <a:solidFill>
              <a:srgbClr val="00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HOW WE OVERCAME THEM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→ Solution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207008"/>
            <a:ext cx="3794760" cy="804672"/>
          </a:xfrm>
          <a:prstGeom prst="roundRect">
            <a:avLst>
              <a:gd name="adj" fmla="val 9091"/>
            </a:avLst>
          </a:prstGeom>
          <a:solidFill>
            <a:srgbClr val="1A0A0A"/>
          </a:solidFill>
          <a:ln w="12700">
            <a:solidFill>
              <a:srgbClr val="1A0A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207008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12527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Scarcity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2336" y="155448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Indian pharma procurement data is not publicly available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33088" y="1609344"/>
            <a:ext cx="50292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545336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73168" y="1207008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73168" y="1207008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2527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9472" y="1554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Synthesized data using Synthea EHR + OpenFDA + CDSCO alerts. Built a 10-feature master table combining all sources.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2157984"/>
            <a:ext cx="3794760" cy="804672"/>
          </a:xfrm>
          <a:prstGeom prst="roundRect">
            <a:avLst>
              <a:gd name="adj" fmla="val 9091"/>
            </a:avLst>
          </a:prstGeom>
          <a:solidFill>
            <a:srgbClr val="1A0A0A"/>
          </a:solidFill>
          <a:ln w="12700">
            <a:solidFill>
              <a:srgbClr val="1A0A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" y="2157984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220370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Complexity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2336" y="250545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models (ARIMA, LSTM) fail on multi-drug, multi-horizon tasks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33088" y="2560320"/>
            <a:ext cx="50292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496312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73168" y="2157984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73168" y="2157984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9472" y="220370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25054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PyTorch Forecasting with 90-day encoder &amp; 30-day prediction horizon. Quantile regression ensures uncertainty-aware output.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56032" y="3108960"/>
            <a:ext cx="3794760" cy="804672"/>
          </a:xfrm>
          <a:prstGeom prst="roundRect">
            <a:avLst>
              <a:gd name="adj" fmla="val 9091"/>
            </a:avLst>
          </a:prstGeom>
          <a:solidFill>
            <a:srgbClr val="1A0A0A"/>
          </a:solidFill>
          <a:ln w="12700">
            <a:solidFill>
              <a:srgbClr val="1A0A0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6032" y="3108960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3154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Inference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02336" y="34564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can be too slow for interactive dashboards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133088" y="3511296"/>
            <a:ext cx="50292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0" y="3447288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73168" y="3108960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73168" y="3108960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9472" y="31546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19472" y="345643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 pre-loaded into FastAPI memory at startup. Achieved &lt; 2 second end-to-end inference for any drug forecast.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" y="4059936"/>
            <a:ext cx="3794760" cy="804672"/>
          </a:xfrm>
          <a:prstGeom prst="roundRect">
            <a:avLst>
              <a:gd name="adj" fmla="val 9091"/>
            </a:avLst>
          </a:prstGeom>
          <a:solidFill>
            <a:srgbClr val="1A0A0A"/>
          </a:solidFill>
          <a:ln w="12700">
            <a:solidFill>
              <a:srgbClr val="1A0A0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6032" y="4059936"/>
            <a:ext cx="54864" cy="8046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410565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Cold Start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02336" y="440740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GraphSAGE needs a populated graph to generate node embeddings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33088" y="4462272"/>
            <a:ext cx="502920" cy="0"/>
          </a:xfrm>
          <a:prstGeom prst="line">
            <a:avLst/>
          </a:prstGeom>
          <a:noFill/>
          <a:ln w="25400">
            <a:solidFill>
              <a:srgbClr val="00C9A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0" y="4398264"/>
            <a:ext cx="137160" cy="137160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73168" y="4059936"/>
            <a:ext cx="4114800" cy="804672"/>
          </a:xfrm>
          <a:prstGeom prst="roundRect">
            <a:avLst>
              <a:gd name="adj" fmla="val 9091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73168" y="4059936"/>
            <a:ext cx="54864" cy="80467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19472" y="410565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19472" y="44074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Pre-generated embeddings from supplier master CSV. Inductive learning allows adding new nodes without full retraining.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12480" y="482803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11480" y="48280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PharmaSight  |  VSquare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085"/>
          </a:solidFill>
          <a:ln w="12700">
            <a:solidFill>
              <a:srgbClr val="00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 &amp; REVENUE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Multi-Billion Rupee Market Waiting for AI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188720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" y="1188720"/>
            <a:ext cx="1993392" cy="36576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₹4.2L Cr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664208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Pharma Market 2024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32304" y="1188720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2304" y="1188720"/>
            <a:ext cx="1993392" cy="36576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261872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$8.3B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42032" y="1664208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Shortage Market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08576" y="1188720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08576" y="1188720"/>
            <a:ext cx="1993392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1261872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12.4%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18304" y="1664208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Software CAGR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84848" y="1188720"/>
            <a:ext cx="1993392" cy="868680"/>
          </a:xfrm>
          <a:prstGeom prst="roundRect">
            <a:avLst>
              <a:gd name="adj" fmla="val 8421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84848" y="1188720"/>
            <a:ext cx="1993392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94576" y="1261872"/>
            <a:ext cx="1773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94576" y="1664208"/>
            <a:ext cx="17739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Hospitals in India</a:t>
            </a:r>
            <a:endParaRPr lang="en-US" sz="1000" dirty="0"/>
          </a:p>
        </p:txBody>
      </p:sp>
      <p:graphicFrame>
        <p:nvGraphicFramePr>
          <p:cNvPr id="21" name="Chart 0"/>
          <p:cNvGraphicFramePr/>
          <p:nvPr/>
        </p:nvGraphicFramePr>
        <p:xfrm>
          <a:off x="274320" y="2240280"/>
          <a:ext cx="384048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2" name="Text 19"/>
          <p:cNvSpPr/>
          <p:nvPr/>
        </p:nvSpPr>
        <p:spPr>
          <a:xfrm>
            <a:off x="274320" y="21945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389120" y="2194560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Pricing Tiers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389120" y="2542032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526280" y="2651760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92040" y="2578608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92040" y="281635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hospitals &lt; 100 beds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424928" y="2633472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24928" y="2633472"/>
            <a:ext cx="1353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₹15,000/mo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389120" y="3118104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26280" y="3227832"/>
            <a:ext cx="256032" cy="256032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92040" y="3154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4892040" y="3392424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hospitals + distributors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7424928" y="3209544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424928" y="3209544"/>
            <a:ext cx="1353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₹50,000/mo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389120" y="3694176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526280" y="3803904"/>
            <a:ext cx="256032" cy="25603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92040" y="373075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892040" y="396849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chains + pharma companies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424928" y="3785616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424928" y="3785616"/>
            <a:ext cx="1353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389120" y="4270248"/>
            <a:ext cx="4526280" cy="502920"/>
          </a:xfrm>
          <a:prstGeom prst="roundRect">
            <a:avLst>
              <a:gd name="adj" fmla="val 14545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526280" y="4379976"/>
            <a:ext cx="256032" cy="25603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4892040" y="4306824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4892040" y="4544568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CDSCO / National Health Mission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7424928" y="4361688"/>
            <a:ext cx="1353312" cy="310896"/>
          </a:xfrm>
          <a:prstGeom prst="roundRect">
            <a:avLst>
              <a:gd name="adj" fmla="val 235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7424928" y="4361688"/>
            <a:ext cx="1353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8412480" y="482803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411480" y="482803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PharmaSight  |  VSquare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A085"/>
          </a:solidFill>
          <a:ln w="12700">
            <a:solidFill>
              <a:srgbClr val="00A08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58521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PharmaSight in Action — Live Metrics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4023360" cy="1965960"/>
          </a:xfrm>
          <a:prstGeom prst="roundRect">
            <a:avLst>
              <a:gd name="adj" fmla="val 3721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554480"/>
          <a:ext cx="3886200" cy="15087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TFT (Ours)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(P50)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3.21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(P50)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4.09 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Horizon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P10/P50/P90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480560" y="1170432"/>
            <a:ext cx="4434840" cy="1965960"/>
          </a:xfrm>
          <a:prstGeom prst="roundRect">
            <a:avLst>
              <a:gd name="adj" fmla="val 3721"/>
            </a:avLst>
          </a:prstGeom>
          <a:solidFill>
            <a:srgbClr val="132035"/>
          </a:solidFill>
          <a:ln w="12700">
            <a:solidFill>
              <a:srgbClr val="13203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123444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Triage Dashboard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17720" y="1600200"/>
            <a:ext cx="4160520" cy="256032"/>
          </a:xfrm>
          <a:prstGeom prst="roundRect">
            <a:avLst>
              <a:gd name="adj" fmla="val 2857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Shape 8"/>
          <p:cNvSpPr/>
          <p:nvPr/>
        </p:nvSpPr>
        <p:spPr>
          <a:xfrm>
            <a:off x="4736592" y="164592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1618488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510528" y="1618488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 supply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406640" y="1627632"/>
            <a:ext cx="1188720" cy="201168"/>
          </a:xfrm>
          <a:prstGeom prst="roundRect">
            <a:avLst>
              <a:gd name="adj" fmla="val 36364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06640" y="162763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17720" y="1901952"/>
            <a:ext cx="4160520" cy="256032"/>
          </a:xfrm>
          <a:prstGeom prst="roundRect">
            <a:avLst>
              <a:gd name="adj" fmla="val 2857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36592" y="1947672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83480" y="1920240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Paracetamol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510528" y="19202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11d supply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406640" y="1929384"/>
            <a:ext cx="1188720" cy="201168"/>
          </a:xfrm>
          <a:prstGeom prst="roundRect">
            <a:avLst>
              <a:gd name="adj" fmla="val 3636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06640" y="192938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617720" y="2203704"/>
            <a:ext cx="4160520" cy="256032"/>
          </a:xfrm>
          <a:prstGeom prst="roundRect">
            <a:avLst>
              <a:gd name="adj" fmla="val 2857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736592" y="2249424"/>
            <a:ext cx="164592" cy="16459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83480" y="2221992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Ibuprofen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510528" y="2221992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12d supply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7406640" y="2231136"/>
            <a:ext cx="1188720" cy="201168"/>
          </a:xfrm>
          <a:prstGeom prst="roundRect">
            <a:avLst>
              <a:gd name="adj" fmla="val 3636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406640" y="22311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617720" y="2505456"/>
            <a:ext cx="4160520" cy="256032"/>
          </a:xfrm>
          <a:prstGeom prst="roundRect">
            <a:avLst>
              <a:gd name="adj" fmla="val 2857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736592" y="2551176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83480" y="2523744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Metformin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510528" y="2523744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18d supply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406640" y="2532888"/>
            <a:ext cx="1188720" cy="201168"/>
          </a:xfrm>
          <a:prstGeom prst="roundRect">
            <a:avLst>
              <a:gd name="adj" fmla="val 3636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406640" y="253288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617720" y="2807208"/>
            <a:ext cx="4160520" cy="256032"/>
          </a:xfrm>
          <a:prstGeom prst="roundRect">
            <a:avLst>
              <a:gd name="adj" fmla="val 28571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736592" y="285292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83480" y="2825496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Amoxicillin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6510528" y="2825496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22d supply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406640" y="2834640"/>
            <a:ext cx="1188720" cy="201168"/>
          </a:xfrm>
          <a:prstGeom prst="roundRect">
            <a:avLst>
              <a:gd name="adj" fmla="val 36364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406640" y="283464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graphicFrame>
        <p:nvGraphicFramePr>
          <p:cNvPr id="40" name="Chart 0"/>
          <p:cNvGraphicFramePr/>
          <p:nvPr/>
        </p:nvGraphicFramePr>
        <p:xfrm>
          <a:off x="256032" y="3246120"/>
          <a:ext cx="8641080" cy="16276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1" name="Text 37"/>
          <p:cNvSpPr/>
          <p:nvPr/>
        </p:nvSpPr>
        <p:spPr>
          <a:xfrm>
            <a:off x="8412480" y="4914197"/>
            <a:ext cx="6400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179363" y="4850189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PharmaSight  |  VSquare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1030</Words>
  <Application>Microsoft Office PowerPoint</Application>
  <PresentationFormat>On-screen Show (16:9)</PresentationFormat>
  <Paragraphs>271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PharmaSight – AI-Powered Drug Shortage Prediction</dc:title>
  <dc:subject>PptxGenJS Presentation</dc:subject>
  <dc:creator>Team VSquare</dc:creator>
  <cp:lastModifiedBy>Vibha Kashyap</cp:lastModifiedBy>
  <cp:revision>2</cp:revision>
  <dcterms:created xsi:type="dcterms:W3CDTF">2026-04-11T17:54:11Z</dcterms:created>
  <dcterms:modified xsi:type="dcterms:W3CDTF">2026-04-11T18:17:05Z</dcterms:modified>
</cp:coreProperties>
</file>